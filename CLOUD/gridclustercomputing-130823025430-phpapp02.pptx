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Default Extension="gif" ContentType="image/gif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</p:sldMasterIdLst>
  <p:notesMasterIdLst>
    <p:notesMasterId r:id="rId42"/>
  </p:notesMasterIdLst>
  <p:handoutMasterIdLst>
    <p:handoutMasterId r:id="rId43"/>
  </p:handoutMasterIdLst>
  <p:sldIdLst>
    <p:sldId id="647" r:id="rId2"/>
    <p:sldId id="631" r:id="rId3"/>
    <p:sldId id="774" r:id="rId4"/>
    <p:sldId id="781" r:id="rId5"/>
    <p:sldId id="782" r:id="rId6"/>
    <p:sldId id="783" r:id="rId7"/>
    <p:sldId id="785" r:id="rId8"/>
    <p:sldId id="787" r:id="rId9"/>
    <p:sldId id="788" r:id="rId10"/>
    <p:sldId id="789" r:id="rId11"/>
    <p:sldId id="822" r:id="rId12"/>
    <p:sldId id="790" r:id="rId13"/>
    <p:sldId id="791" r:id="rId14"/>
    <p:sldId id="795" r:id="rId15"/>
    <p:sldId id="793" r:id="rId16"/>
    <p:sldId id="792" r:id="rId17"/>
    <p:sldId id="798" r:id="rId18"/>
    <p:sldId id="797" r:id="rId19"/>
    <p:sldId id="796" r:id="rId20"/>
    <p:sldId id="799" r:id="rId21"/>
    <p:sldId id="800" r:id="rId22"/>
    <p:sldId id="801" r:id="rId23"/>
    <p:sldId id="802" r:id="rId24"/>
    <p:sldId id="803" r:id="rId25"/>
    <p:sldId id="809" r:id="rId26"/>
    <p:sldId id="806" r:id="rId27"/>
    <p:sldId id="804" r:id="rId28"/>
    <p:sldId id="808" r:id="rId29"/>
    <p:sldId id="810" r:id="rId30"/>
    <p:sldId id="811" r:id="rId31"/>
    <p:sldId id="813" r:id="rId32"/>
    <p:sldId id="812" r:id="rId33"/>
    <p:sldId id="815" r:id="rId34"/>
    <p:sldId id="814" r:id="rId35"/>
    <p:sldId id="816" r:id="rId36"/>
    <p:sldId id="821" r:id="rId37"/>
    <p:sldId id="820" r:id="rId38"/>
    <p:sldId id="819" r:id="rId39"/>
    <p:sldId id="817" r:id="rId40"/>
    <p:sldId id="818" r:id="rId41"/>
  </p:sldIdLst>
  <p:sldSz cx="9144000" cy="6858000" type="screen4x3"/>
  <p:notesSz cx="6797675" cy="9874250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0025"/>
    <a:srgbClr val="4C0019"/>
    <a:srgbClr val="8E2200"/>
    <a:srgbClr val="FFFF66"/>
    <a:srgbClr val="A50021"/>
    <a:srgbClr val="FFCCFF"/>
    <a:srgbClr val="FFFFFF"/>
    <a:srgbClr val="66FF33"/>
    <a:srgbClr val="000000"/>
    <a:srgbClr val="00E4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9" autoAdjust="0"/>
    <p:restoredTop sz="94703" autoAdjust="0"/>
  </p:normalViewPr>
  <p:slideViewPr>
    <p:cSldViewPr>
      <p:cViewPr varScale="1">
        <p:scale>
          <a:sx n="135" d="100"/>
          <a:sy n="135" d="100"/>
        </p:scale>
        <p:origin x="-84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16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2436" y="-120"/>
      </p:cViewPr>
      <p:guideLst>
        <p:guide orient="horz" pos="3110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9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9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036C655-4B28-4B3C-85EF-90BF176A5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="" xmlns:p14="http://schemas.microsoft.com/office/powerpoint/2010/main" val="1039108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9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2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689993"/>
            <a:ext cx="5438776" cy="44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92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2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9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A7381E3-B1C2-423A-A184-4AE6EEBD5C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="" xmlns:p14="http://schemas.microsoft.com/office/powerpoint/2010/main" val="10847802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1955E9-E533-43E8-84FE-8549FE169228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43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/>
              <a:t>$ figures as per summer (June) 00</a:t>
            </a:r>
          </a:p>
          <a:p>
            <a:r>
              <a:rPr lang="en-GB" altLang="ko-KR"/>
              <a:t>Myrinet GM-MPI 215 MBytes/s – 11us latency - It was with a Lanai9 at 132 MHz available now.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E2A8D-C969-4E1E-8A01-DEB80E3115BE}" type="slidenum">
              <a:rPr lang="en-GB"/>
              <a:pPr/>
              <a:t>13</a:t>
            </a:fld>
            <a:endParaRPr lang="en-GB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Customers want </a:t>
            </a:r>
          </a:p>
          <a:p>
            <a:r>
              <a:rPr lang="en-GB"/>
              <a:t>Cost effective Service on demand</a:t>
            </a:r>
          </a:p>
          <a:p>
            <a:r>
              <a:rPr lang="en-GB"/>
              <a:t>With Quality of Service according to well defined</a:t>
            </a:r>
          </a:p>
          <a:p>
            <a:r>
              <a:rPr lang="en-GB"/>
              <a:t>Service level agreements</a:t>
            </a:r>
          </a:p>
          <a:p>
            <a:r>
              <a:rPr lang="en-GB"/>
              <a:t>Not worried about details of generation</a:t>
            </a:r>
          </a:p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E2A8D-C969-4E1E-8A01-DEB80E3115BE}" type="slidenum">
              <a:rPr lang="en-GB"/>
              <a:pPr/>
              <a:t>14</a:t>
            </a:fld>
            <a:endParaRPr lang="en-GB"/>
          </a:p>
        </p:txBody>
      </p:sp>
      <p:sp>
        <p:nvSpPr>
          <p:cNvPr id="34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Customers want </a:t>
            </a:r>
          </a:p>
          <a:p>
            <a:r>
              <a:rPr lang="en-GB"/>
              <a:t>Cost effective Service on demand</a:t>
            </a:r>
          </a:p>
          <a:p>
            <a:r>
              <a:rPr lang="en-GB"/>
              <a:t>With Quality of Service according to well defined</a:t>
            </a:r>
          </a:p>
          <a:p>
            <a:r>
              <a:rPr lang="en-GB"/>
              <a:t>Service level agreements</a:t>
            </a:r>
          </a:p>
          <a:p>
            <a:r>
              <a:rPr lang="en-GB"/>
              <a:t>Not worried about details of generation</a:t>
            </a:r>
          </a:p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2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51938" cy="686593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3" name="직사각형 22"/>
          <p:cNvSpPr/>
          <p:nvPr userDrawn="1"/>
        </p:nvSpPr>
        <p:spPr bwMode="auto">
          <a:xfrm>
            <a:off x="0" y="6093296"/>
            <a:ext cx="3995936" cy="7647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8415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0" y="2000240"/>
            <a:ext cx="9144000" cy="1164524"/>
          </a:xfrm>
        </p:spPr>
        <p:txBody>
          <a:bodyPr/>
          <a:lstStyle>
            <a:lvl1pPr algn="ctr">
              <a:defRPr sz="40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38914" name="Picture 2" descr="D:\연구실\2010\WAD과제\회의자료\서울대 로고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6134068"/>
            <a:ext cx="648072" cy="669026"/>
          </a:xfrm>
          <a:prstGeom prst="rect">
            <a:avLst/>
          </a:prstGeom>
          <a:noFill/>
        </p:spPr>
      </p:pic>
      <p:pic>
        <p:nvPicPr>
          <p:cNvPr id="38916" name="Picture 4" descr="D:\연구실\2010\WAD과제\회의자료\ETRI 로고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616" y="6284867"/>
            <a:ext cx="970568" cy="396204"/>
          </a:xfrm>
          <a:prstGeom prst="rect">
            <a:avLst/>
          </a:prstGeom>
          <a:noFill/>
        </p:spPr>
      </p:pic>
      <p:pic>
        <p:nvPicPr>
          <p:cNvPr id="38917" name="Picture 5" descr="D:\연구실\2010\WAD과제\회의자료\인하대 로고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7460" y="6164123"/>
            <a:ext cx="650873" cy="620688"/>
          </a:xfrm>
          <a:prstGeom prst="rect">
            <a:avLst/>
          </a:prstGeom>
          <a:noFill/>
        </p:spPr>
      </p:pic>
      <p:pic>
        <p:nvPicPr>
          <p:cNvPr id="38918" name="Picture 6" descr="D:\연구실\2010\WAD과제\회의자료\중앙대 로고.jp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02370" y="6130929"/>
            <a:ext cx="759623" cy="692696"/>
          </a:xfrm>
          <a:prstGeom prst="rect">
            <a:avLst/>
          </a:prstGeom>
          <a:noFill/>
        </p:spPr>
      </p:pic>
      <p:pic>
        <p:nvPicPr>
          <p:cNvPr id="38920" name="Picture 8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48738" y="6093296"/>
            <a:ext cx="723900" cy="7143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pic>
        <p:nvPicPr>
          <p:cNvPr id="38921" name="Picture 9" descr="D:\연구실\2010\WAD과제\회의자료\항공대 로고.jp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414538" y="6126405"/>
            <a:ext cx="624731" cy="624731"/>
          </a:xfrm>
          <a:prstGeom prst="rect">
            <a:avLst/>
          </a:prstGeom>
          <a:noFill/>
        </p:spPr>
      </p:pic>
      <p:cxnSp>
        <p:nvCxnSpPr>
          <p:cNvPr id="18" name="직선 연결선 17"/>
          <p:cNvCxnSpPr/>
          <p:nvPr userDrawn="1"/>
        </p:nvCxnSpPr>
        <p:spPr bwMode="auto">
          <a:xfrm>
            <a:off x="611560" y="6021288"/>
            <a:ext cx="8280920" cy="0"/>
          </a:xfrm>
          <a:prstGeom prst="line">
            <a:avLst/>
          </a:prstGeom>
          <a:noFill/>
          <a:ln w="349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8922" name="Picture 10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5800" y="6077342"/>
            <a:ext cx="792088" cy="79208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2" name="TextBox 21"/>
          <p:cNvSpPr txBox="1"/>
          <p:nvPr userDrawn="1"/>
        </p:nvSpPr>
        <p:spPr>
          <a:xfrm>
            <a:off x="971600" y="6286702"/>
            <a:ext cx="27363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u="none" dirty="0" smtClean="0">
                <a:solidFill>
                  <a:schemeClr val="tx2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한국해양과학기술진흥원</a:t>
            </a:r>
            <a:endParaRPr lang="ko-KR" altLang="en-US" u="none" dirty="0">
              <a:solidFill>
                <a:schemeClr val="tx2">
                  <a:lumMod val="50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>
                <a:latin typeface="굴림" pitchFamily="50" charset="-127"/>
                <a:ea typeface="굴림" pitchFamily="50" charset="-127"/>
              </a:defRPr>
            </a:lvl1pPr>
            <a:lvl2pPr>
              <a:defRPr sz="2000">
                <a:latin typeface="굴림" pitchFamily="50" charset="-127"/>
                <a:ea typeface="굴림" pitchFamily="50" charset="-127"/>
              </a:defRPr>
            </a:lvl2pPr>
            <a:lvl3pPr>
              <a:defRPr sz="1800">
                <a:latin typeface="굴림" pitchFamily="50" charset="-127"/>
                <a:ea typeface="굴림" pitchFamily="50" charset="-127"/>
              </a:defRPr>
            </a:lvl3pPr>
            <a:lvl4pPr>
              <a:defRPr sz="1600">
                <a:latin typeface="굴림" pitchFamily="50" charset="-127"/>
                <a:ea typeface="굴림" pitchFamily="50" charset="-127"/>
              </a:defRPr>
            </a:lvl4pPr>
            <a:lvl5pPr>
              <a:defRPr sz="1400">
                <a:latin typeface="굴림" pitchFamily="50" charset="-127"/>
                <a:ea typeface="굴림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pic>
        <p:nvPicPr>
          <p:cNvPr id="13" name="Picture 2" descr="D:\연구실\2010\WAD과제\회의자료\서울대 로고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6367359"/>
            <a:ext cx="432048" cy="446017"/>
          </a:xfrm>
          <a:prstGeom prst="rect">
            <a:avLst/>
          </a:prstGeom>
          <a:noFill/>
        </p:spPr>
      </p:pic>
      <p:pic>
        <p:nvPicPr>
          <p:cNvPr id="14" name="Picture 4" descr="D:\연구실\2010\WAD과제\회의자료\ETRI 로고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6453337"/>
            <a:ext cx="778212" cy="317680"/>
          </a:xfrm>
          <a:prstGeom prst="rect">
            <a:avLst/>
          </a:prstGeom>
          <a:noFill/>
        </p:spPr>
      </p:pic>
      <p:pic>
        <p:nvPicPr>
          <p:cNvPr id="15" name="Picture 5" descr="D:\연구실\2010\WAD과제\회의자료\인하대 로고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10546" y="6400268"/>
            <a:ext cx="432048" cy="412011"/>
          </a:xfrm>
          <a:prstGeom prst="rect">
            <a:avLst/>
          </a:prstGeom>
          <a:noFill/>
        </p:spPr>
      </p:pic>
      <p:pic>
        <p:nvPicPr>
          <p:cNvPr id="16" name="Picture 6" descr="D:\연구실\2010\WAD과제\회의자료\중앙대 로고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62936" y="6382509"/>
            <a:ext cx="521432" cy="475491"/>
          </a:xfrm>
          <a:prstGeom prst="rect">
            <a:avLst/>
          </a:prstGeom>
          <a:noFill/>
        </p:spPr>
      </p:pic>
      <p:pic>
        <p:nvPicPr>
          <p:cNvPr id="17" name="Picture 8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3324" y="6355040"/>
            <a:ext cx="494610" cy="488102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pic>
        <p:nvPicPr>
          <p:cNvPr id="18" name="Picture 9" descr="D:\연구실\2010\WAD과제\회의자료\항공대 로고.jpg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388424" y="6376238"/>
            <a:ext cx="432048" cy="432048"/>
          </a:xfrm>
          <a:prstGeom prst="rect">
            <a:avLst/>
          </a:prstGeom>
          <a:noFill/>
        </p:spPr>
      </p:pic>
      <p:pic>
        <p:nvPicPr>
          <p:cNvPr id="19" name="Picture 10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2980" y="6352748"/>
            <a:ext cx="509776" cy="509776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0" name="TextBox 19"/>
          <p:cNvSpPr txBox="1"/>
          <p:nvPr userDrawn="1"/>
        </p:nvSpPr>
        <p:spPr>
          <a:xfrm>
            <a:off x="971600" y="6441906"/>
            <a:ext cx="2160240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1400" u="none" dirty="0" smtClean="0">
                <a:solidFill>
                  <a:schemeClr val="tx2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한국해양과학기술진흥원</a:t>
            </a:r>
            <a:endParaRPr lang="ko-KR" altLang="en-US" sz="1400" u="none" dirty="0">
              <a:solidFill>
                <a:schemeClr val="tx2">
                  <a:lumMod val="50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00113" y="1700213"/>
            <a:ext cx="7772400" cy="720725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27088" y="2565400"/>
            <a:ext cx="3771900" cy="143510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1388" y="2565400"/>
            <a:ext cx="3771900" cy="143510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27088" y="4152900"/>
            <a:ext cx="3771900" cy="143668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388" y="4152900"/>
            <a:ext cx="3771900" cy="1436688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477000"/>
            <a:ext cx="1905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58ACB4F-31F3-4CD6-8F18-9F578464597D}" type="datetime4">
              <a:rPr lang="en-US" altLang="ko-KR"/>
              <a:pPr/>
              <a:t>August 23, 2013</a:t>
            </a:fld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FDAFB8-1B17-43D3-86AD-CD3F93DB6C2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2298700" y="6477000"/>
            <a:ext cx="4570413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Introduction to Grid Computing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0"/>
            <a:ext cx="9144000" cy="686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b="0" u="none">
                <a:latin typeface="+mn-lt"/>
                <a:ea typeface="+mn-ea"/>
              </a:defRPr>
            </a:lvl1pPr>
          </a:lstStyle>
          <a:p>
            <a:pPr>
              <a:defRPr/>
            </a:pPr>
            <a:fld id="{639E5468-2278-4614-A712-97FB52DF428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7524328" y="332656"/>
            <a:ext cx="1152128" cy="360040"/>
          </a:xfrm>
          <a:prstGeom prst="rect">
            <a:avLst/>
          </a:prstGeom>
          <a:solidFill>
            <a:srgbClr val="700025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027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0" y="6237312"/>
            <a:ext cx="9144000" cy="620688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7390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967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cxnSp>
        <p:nvCxnSpPr>
          <p:cNvPr id="8" name="직선 연결선 7"/>
          <p:cNvCxnSpPr/>
          <p:nvPr userDrawn="1"/>
        </p:nvCxnSpPr>
        <p:spPr bwMode="auto">
          <a:xfrm>
            <a:off x="611560" y="6309320"/>
            <a:ext cx="8280920" cy="0"/>
          </a:xfrm>
          <a:prstGeom prst="line">
            <a:avLst/>
          </a:prstGeom>
          <a:noFill/>
          <a:ln w="349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5pPr>
      <a:lvl6pPr marL="4572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u"/>
        <a:defRPr kumimoji="1" sz="2800" b="1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rtl="0" eaLnBrk="0" fontAlgn="base" latinLnBrk="1" hangingPunct="0">
        <a:spcBef>
          <a:spcPct val="20000"/>
        </a:spcBef>
        <a:spcAft>
          <a:spcPct val="0"/>
        </a:spcAft>
        <a:buClrTx/>
        <a:buFont typeface="Wingdings" pitchFamily="2" charset="2"/>
        <a:buChar char="§"/>
        <a:defRPr kumimoji="1" sz="2400" b="1">
          <a:solidFill>
            <a:schemeClr val="tx1"/>
          </a:solidFill>
          <a:effectLst/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Tx/>
        <a:buFont typeface="Arial" pitchFamily="34" charset="0"/>
        <a:buChar char="•"/>
        <a:defRPr kumimoji="1" sz="2000" b="1">
          <a:solidFill>
            <a:schemeClr val="tx1"/>
          </a:solidFill>
          <a:effectLst/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Ø"/>
        <a:defRPr kumimoji="1">
          <a:solidFill>
            <a:schemeClr val="tx1"/>
          </a:solidFill>
          <a:effectLst/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www.luc.edu/faculty/jreymon/star.gif&amp;imgrefurl=http://www.luc.edu/faculty/jreymon/&amp;h=227&amp;w=223&amp;sz=3&amp;tbnid=lm0B5VkjTYsJ:&amp;tbnh=102&amp;tbnw=101&amp;prev=/images?q=star&amp;hl=en&amp;lr=&amp;ie=UTF-8&amp;oe=UTF-8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22.png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23.gi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522520"/>
            <a:ext cx="8749480" cy="40924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b="1" dirty="0" smtClean="0"/>
              <a:t>Cluster and Grid Computing</a:t>
            </a:r>
            <a:br>
              <a:rPr lang="en-US" altLang="ko-KR" sz="3600" b="1" dirty="0" smtClean="0"/>
            </a:br>
            <a:r>
              <a:rPr lang="en-US" altLang="ko-KR" sz="2400" u="sng" dirty="0" smtClean="0"/>
              <a:t/>
            </a:r>
            <a:br>
              <a:rPr lang="en-US" altLang="ko-KR" sz="2400" u="sng" dirty="0" smtClean="0"/>
            </a:br>
            <a:r>
              <a:rPr lang="en-US" altLang="ko-KR" sz="2400" dirty="0" smtClean="0"/>
              <a:t>2013.10.6</a:t>
            </a:r>
            <a:br>
              <a:rPr lang="en-US" altLang="ko-KR" sz="2400" dirty="0" smtClean="0"/>
            </a:br>
            <a:r>
              <a:rPr lang="en-US" altLang="ko-KR" sz="1400" u="sng" dirty="0" smtClean="0"/>
              <a:t/>
            </a:r>
            <a:br>
              <a:rPr lang="en-US" altLang="ko-KR" sz="1400" u="sng" dirty="0" smtClean="0"/>
            </a:br>
            <a:r>
              <a:rPr lang="en-US" altLang="ko-KR" sz="1400" u="sng" dirty="0" smtClean="0"/>
              <a:t>Sayed Chhattan Shah, PhD</a:t>
            </a:r>
            <a:br>
              <a:rPr lang="en-US" altLang="ko-KR" sz="1400" u="sng" dirty="0" smtClean="0"/>
            </a:br>
            <a:r>
              <a:rPr lang="en-US" altLang="ko-KR" sz="1400" dirty="0" smtClean="0"/>
              <a:t>Senior Researcher</a:t>
            </a:r>
            <a:r>
              <a:rPr lang="ko-KR" altLang="ko-KR" sz="1400" dirty="0" smtClean="0"/>
              <a:t/>
            </a:r>
            <a:br>
              <a:rPr lang="ko-KR" altLang="ko-KR" sz="1400" dirty="0" smtClean="0"/>
            </a:br>
            <a:r>
              <a:rPr lang="en-US" altLang="ko-KR" sz="1400" dirty="0" smtClean="0"/>
              <a:t>Electronics and Telecommunications Research Institute, Korea</a:t>
            </a:r>
            <a:r>
              <a:rPr lang="ko-KR" altLang="ko-KR" sz="1400" dirty="0" smtClean="0"/>
              <a:t/>
            </a:r>
            <a:br>
              <a:rPr lang="ko-KR" altLang="ko-KR" sz="1400" dirty="0" smtClean="0"/>
            </a:br>
            <a:r>
              <a:rPr lang="en-US" altLang="ko-KR" sz="1400" i="1" dirty="0" smtClean="0"/>
              <a:t/>
            </a:r>
            <a:br>
              <a:rPr lang="en-US" altLang="ko-KR" sz="1400" i="1" dirty="0" smtClean="0"/>
            </a:br>
            <a:endParaRPr lang="ko-KR" altLang="ko-KR" sz="1400" dirty="0" smtClean="0"/>
          </a:p>
        </p:txBody>
      </p:sp>
    </p:spTree>
    <p:extLst>
      <p:ext uri="{BB962C8B-B14F-4D97-AF65-F5344CB8AC3E}">
        <p14:creationId xmlns="" xmlns:p14="http://schemas.microsoft.com/office/powerpoint/2010/main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29891"/>
            <a:ext cx="8229600" cy="496775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 smtClean="0"/>
              <a:t>Cluster Computing</a:t>
            </a:r>
          </a:p>
          <a:p>
            <a:pPr marL="720725" lvl="1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600" b="0" dirty="0" smtClean="0"/>
              <a:t>Architecture</a:t>
            </a:r>
          </a:p>
          <a:p>
            <a:pPr marL="720725" lvl="1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600" b="0" dirty="0" smtClean="0"/>
              <a:t>Key Components</a:t>
            </a:r>
          </a:p>
          <a:p>
            <a:pPr>
              <a:lnSpc>
                <a:spcPct val="15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altLang="ko-KR" sz="2000" dirty="0" smtClean="0"/>
              <a:t>Grid Computing</a:t>
            </a:r>
          </a:p>
          <a:p>
            <a:pPr marL="720725" lvl="1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600" b="0" dirty="0" smtClean="0"/>
              <a:t>Architecture</a:t>
            </a:r>
          </a:p>
          <a:p>
            <a:pPr marL="720725" lvl="1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600" b="0" dirty="0" smtClean="0"/>
              <a:t>Key Components</a:t>
            </a:r>
          </a:p>
          <a:p>
            <a:pPr marL="720725" lvl="1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600" b="0" dirty="0" smtClean="0"/>
              <a:t>Resource Management</a:t>
            </a:r>
          </a:p>
          <a:p>
            <a:pPr marL="949325" lvl="2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0" dirty="0" smtClean="0"/>
              <a:t>Discovery</a:t>
            </a:r>
          </a:p>
          <a:p>
            <a:pPr marL="949325" lvl="2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0" dirty="0" smtClean="0"/>
              <a:t>QoS Support</a:t>
            </a:r>
          </a:p>
          <a:p>
            <a:pPr marL="949325" lvl="2" indent="-263525"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0" dirty="0" smtClean="0"/>
              <a:t>Scheduling</a:t>
            </a:r>
          </a:p>
          <a:p>
            <a:pPr marL="720725" lvl="1" indent="-263525">
              <a:lnSpc>
                <a:spcPct val="150000"/>
              </a:lnSpc>
              <a:spcBef>
                <a:spcPts val="0"/>
              </a:spcBef>
            </a:pPr>
            <a:endParaRPr lang="en-US" altLang="ko-KR" sz="1600" b="0" dirty="0" smtClean="0"/>
          </a:p>
        </p:txBody>
      </p:sp>
    </p:spTree>
    <p:extLst>
      <p:ext uri="{BB962C8B-B14F-4D97-AF65-F5344CB8AC3E}">
        <p14:creationId xmlns="" xmlns:p14="http://schemas.microsoft.com/office/powerpoint/2010/main" val="337708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00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2707517"/>
            <a:ext cx="8749480" cy="12498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b="1" dirty="0" smtClean="0">
                <a:solidFill>
                  <a:schemeClr val="bg1"/>
                </a:solidFill>
              </a:rPr>
              <a:t>Cluster Computing</a:t>
            </a:r>
            <a:r>
              <a:rPr lang="en-US" altLang="ko-KR" sz="1400" i="1" dirty="0" smtClean="0">
                <a:solidFill>
                  <a:schemeClr val="bg1"/>
                </a:solidFill>
              </a:rPr>
              <a:t/>
            </a:r>
            <a:br>
              <a:rPr lang="en-US" altLang="ko-KR" sz="1400" i="1" dirty="0" smtClean="0">
                <a:solidFill>
                  <a:schemeClr val="bg1"/>
                </a:solidFill>
              </a:rPr>
            </a:br>
            <a:endParaRPr lang="ko-KR" altLang="ko-KR" sz="1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Cluster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04238" y="766372"/>
            <a:ext cx="8229600" cy="4967758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A type of distributed system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A collection of workstations of PCs that are interconnected by a high-speed network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Work as an integrated collection of resources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Have a single system image spanning all its nodes</a:t>
            </a:r>
          </a:p>
        </p:txBody>
      </p:sp>
      <p:pic>
        <p:nvPicPr>
          <p:cNvPr id="17410" name="Picture 2" descr="http://upload.wikimedia.org/wikipedia/commons/c/c5/MEGWARE.CLI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7900" y="3659092"/>
            <a:ext cx="4536504" cy="23637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561536" y="1227398"/>
            <a:ext cx="8153400" cy="4689475"/>
            <a:chOff x="533400" y="1600200"/>
            <a:chExt cx="8153400" cy="4689475"/>
          </a:xfrm>
        </p:grpSpPr>
        <p:sp>
          <p:nvSpPr>
            <p:cNvPr id="1428483" name="Text Box 3"/>
            <p:cNvSpPr txBox="1">
              <a:spLocks noChangeArrowheads="1"/>
            </p:cNvSpPr>
            <p:nvPr/>
          </p:nvSpPr>
          <p:spPr bwMode="auto">
            <a:xfrm>
              <a:off x="1219200" y="2397125"/>
              <a:ext cx="251460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/>
                <a:t>Sequential Applications</a:t>
              </a:r>
            </a:p>
          </p:txBody>
        </p:sp>
        <p:sp>
          <p:nvSpPr>
            <p:cNvPr id="1428484" name="Text Box 4"/>
            <p:cNvSpPr txBox="1">
              <a:spLocks noChangeArrowheads="1"/>
            </p:cNvSpPr>
            <p:nvPr/>
          </p:nvSpPr>
          <p:spPr bwMode="auto">
            <a:xfrm>
              <a:off x="5181600" y="1711325"/>
              <a:ext cx="2514600" cy="346075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/>
                <a:t>Parallel Applications</a:t>
              </a:r>
            </a:p>
          </p:txBody>
        </p:sp>
        <p:sp>
          <p:nvSpPr>
            <p:cNvPr id="1428485" name="Text Box 5"/>
            <p:cNvSpPr txBox="1">
              <a:spLocks noChangeArrowheads="1"/>
            </p:cNvSpPr>
            <p:nvPr/>
          </p:nvSpPr>
          <p:spPr bwMode="auto">
            <a:xfrm>
              <a:off x="4038600" y="2397125"/>
              <a:ext cx="4343400" cy="346075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>
                  <a:solidFill>
                    <a:srgbClr val="800080"/>
                  </a:solidFill>
                </a:rPr>
                <a:t>Parallel Programming Environment</a:t>
              </a:r>
            </a:p>
          </p:txBody>
        </p:sp>
        <p:sp>
          <p:nvSpPr>
            <p:cNvPr id="1428486" name="Text Box 6"/>
            <p:cNvSpPr txBox="1">
              <a:spLocks noChangeArrowheads="1"/>
            </p:cNvSpPr>
            <p:nvPr/>
          </p:nvSpPr>
          <p:spPr bwMode="auto">
            <a:xfrm>
              <a:off x="685800" y="2944813"/>
              <a:ext cx="7848600" cy="712787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>
                  <a:alpha val="50000"/>
                </a:schemeClr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 b="1"/>
                <a:t>Cluster Middleware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GB" altLang="ko-KR" sz="1600" b="1"/>
                <a:t>(Single System Image and Availability Infrastructure)</a:t>
              </a:r>
              <a:endParaRPr lang="en-GB" altLang="ko-KR" sz="1600"/>
            </a:p>
          </p:txBody>
        </p:sp>
        <p:sp>
          <p:nvSpPr>
            <p:cNvPr id="1428487" name="Text Box 7"/>
            <p:cNvSpPr txBox="1">
              <a:spLocks noChangeArrowheads="1"/>
            </p:cNvSpPr>
            <p:nvPr/>
          </p:nvSpPr>
          <p:spPr bwMode="auto">
            <a:xfrm>
              <a:off x="533400" y="5943600"/>
              <a:ext cx="8153400" cy="3460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 b="1">
                  <a:solidFill>
                    <a:schemeClr val="hlink"/>
                  </a:solidFill>
                </a:rPr>
                <a:t>Cluster Interconnection Network/Switch</a:t>
              </a:r>
              <a:endParaRPr lang="en-GB" altLang="ko-KR" sz="1600">
                <a:solidFill>
                  <a:schemeClr val="folHlink"/>
                </a:solidFill>
              </a:endParaRPr>
            </a:p>
          </p:txBody>
        </p:sp>
        <p:grpSp>
          <p:nvGrpSpPr>
            <p:cNvPr id="2" name="Group 8"/>
            <p:cNvGrpSpPr>
              <a:grpSpLocks/>
            </p:cNvGrpSpPr>
            <p:nvPr/>
          </p:nvGrpSpPr>
          <p:grpSpPr bwMode="auto">
            <a:xfrm>
              <a:off x="685800" y="3825875"/>
              <a:ext cx="1905000" cy="2117725"/>
              <a:chOff x="528" y="2410"/>
              <a:chExt cx="1200" cy="1334"/>
            </a:xfrm>
          </p:grpSpPr>
          <p:grpSp>
            <p:nvGrpSpPr>
              <p:cNvPr id="3" name="Group 9"/>
              <p:cNvGrpSpPr>
                <a:grpSpLocks/>
              </p:cNvGrpSpPr>
              <p:nvPr/>
            </p:nvGrpSpPr>
            <p:grpSpPr bwMode="auto">
              <a:xfrm>
                <a:off x="528" y="2410"/>
                <a:ext cx="1200" cy="1142"/>
                <a:chOff x="576" y="2392"/>
                <a:chExt cx="1200" cy="1142"/>
              </a:xfrm>
            </p:grpSpPr>
            <p:sp>
              <p:nvSpPr>
                <p:cNvPr id="1428490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576" y="2392"/>
                  <a:ext cx="1200" cy="114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600" b="1"/>
                    <a:t>PC/Workstation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 b="1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</p:txBody>
            </p:sp>
            <p:sp>
              <p:nvSpPr>
                <p:cNvPr id="142849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624" y="3248"/>
                  <a:ext cx="110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/>
                    <a:t>Network Interface Hardware</a:t>
                  </a:r>
                </a:p>
              </p:txBody>
            </p:sp>
            <p:sp>
              <p:nvSpPr>
                <p:cNvPr id="142849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20" y="2816"/>
                  <a:ext cx="912" cy="3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Communications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Software</a:t>
                  </a:r>
                  <a:endParaRPr lang="en-GB" altLang="ko-KR" sz="1000">
                    <a:solidFill>
                      <a:schemeClr val="accent2"/>
                    </a:solidFill>
                  </a:endParaRPr>
                </a:p>
              </p:txBody>
            </p:sp>
          </p:grpSp>
          <p:sp>
            <p:nvSpPr>
              <p:cNvPr id="1428493" name="Line 13"/>
              <p:cNvSpPr>
                <a:spLocks noChangeShapeType="1"/>
              </p:cNvSpPr>
              <p:nvPr/>
            </p:nvSpPr>
            <p:spPr bwMode="auto">
              <a:xfrm>
                <a:off x="1152" y="3552"/>
                <a:ext cx="0" cy="192"/>
              </a:xfrm>
              <a:prstGeom prst="line">
                <a:avLst/>
              </a:prstGeom>
              <a:noFill/>
              <a:ln w="76200" cmpd="tri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2667000" y="3825875"/>
              <a:ext cx="1905000" cy="2117725"/>
              <a:chOff x="528" y="2410"/>
              <a:chExt cx="1200" cy="1334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528" y="2410"/>
                <a:ext cx="1200" cy="1142"/>
                <a:chOff x="576" y="2392"/>
                <a:chExt cx="1200" cy="1142"/>
              </a:xfrm>
            </p:grpSpPr>
            <p:sp>
              <p:nvSpPr>
                <p:cNvPr id="1428496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76" y="2392"/>
                  <a:ext cx="1200" cy="114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600" b="1"/>
                    <a:t>PC/Workstation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 b="1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</p:txBody>
            </p:sp>
            <p:sp>
              <p:nvSpPr>
                <p:cNvPr id="142849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624" y="3248"/>
                  <a:ext cx="110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/>
                    <a:t>Network Interface Hardware</a:t>
                  </a:r>
                </a:p>
              </p:txBody>
            </p:sp>
            <p:sp>
              <p:nvSpPr>
                <p:cNvPr id="1428498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720" y="2816"/>
                  <a:ext cx="912" cy="3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Communications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Software</a:t>
                  </a:r>
                  <a:endParaRPr lang="en-GB" altLang="ko-KR" sz="1000"/>
                </a:p>
              </p:txBody>
            </p:sp>
          </p:grpSp>
          <p:sp>
            <p:nvSpPr>
              <p:cNvPr id="1428499" name="Line 19"/>
              <p:cNvSpPr>
                <a:spLocks noChangeShapeType="1"/>
              </p:cNvSpPr>
              <p:nvPr/>
            </p:nvSpPr>
            <p:spPr bwMode="auto">
              <a:xfrm>
                <a:off x="1152" y="3552"/>
                <a:ext cx="0" cy="192"/>
              </a:xfrm>
              <a:prstGeom prst="line">
                <a:avLst/>
              </a:prstGeom>
              <a:noFill/>
              <a:ln w="76200" cmpd="tri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648200" y="3825875"/>
              <a:ext cx="1905000" cy="2117725"/>
              <a:chOff x="528" y="2410"/>
              <a:chExt cx="1200" cy="1334"/>
            </a:xfrm>
          </p:grpSpPr>
          <p:grpSp>
            <p:nvGrpSpPr>
              <p:cNvPr id="7" name="Group 21"/>
              <p:cNvGrpSpPr>
                <a:grpSpLocks/>
              </p:cNvGrpSpPr>
              <p:nvPr/>
            </p:nvGrpSpPr>
            <p:grpSpPr bwMode="auto">
              <a:xfrm>
                <a:off x="528" y="2410"/>
                <a:ext cx="1200" cy="1142"/>
                <a:chOff x="576" y="2392"/>
                <a:chExt cx="1200" cy="1142"/>
              </a:xfrm>
            </p:grpSpPr>
            <p:sp>
              <p:nvSpPr>
                <p:cNvPr id="142850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76" y="2392"/>
                  <a:ext cx="1200" cy="114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600" b="1"/>
                    <a:t>PC/Workstation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 b="1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</p:txBody>
            </p:sp>
            <p:sp>
              <p:nvSpPr>
                <p:cNvPr id="142850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624" y="3248"/>
                  <a:ext cx="110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/>
                    <a:t>Network Interface Hardware</a:t>
                  </a:r>
                </a:p>
              </p:txBody>
            </p:sp>
            <p:sp>
              <p:nvSpPr>
                <p:cNvPr id="1428504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720" y="2816"/>
                  <a:ext cx="912" cy="3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Communications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Software</a:t>
                  </a:r>
                  <a:endParaRPr lang="en-GB" altLang="ko-KR" sz="1000"/>
                </a:p>
              </p:txBody>
            </p:sp>
          </p:grpSp>
          <p:sp>
            <p:nvSpPr>
              <p:cNvPr id="1428505" name="Line 25"/>
              <p:cNvSpPr>
                <a:spLocks noChangeShapeType="1"/>
              </p:cNvSpPr>
              <p:nvPr/>
            </p:nvSpPr>
            <p:spPr bwMode="auto">
              <a:xfrm>
                <a:off x="1152" y="3552"/>
                <a:ext cx="0" cy="192"/>
              </a:xfrm>
              <a:prstGeom prst="line">
                <a:avLst/>
              </a:prstGeom>
              <a:noFill/>
              <a:ln w="76200" cmpd="tri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grpSp>
          <p:nvGrpSpPr>
            <p:cNvPr id="8" name="Group 26"/>
            <p:cNvGrpSpPr>
              <a:grpSpLocks/>
            </p:cNvGrpSpPr>
            <p:nvPr/>
          </p:nvGrpSpPr>
          <p:grpSpPr bwMode="auto">
            <a:xfrm>
              <a:off x="6629400" y="3825875"/>
              <a:ext cx="1905000" cy="2117725"/>
              <a:chOff x="528" y="2410"/>
              <a:chExt cx="1200" cy="1334"/>
            </a:xfrm>
          </p:grpSpPr>
          <p:grpSp>
            <p:nvGrpSpPr>
              <p:cNvPr id="9" name="Group 27"/>
              <p:cNvGrpSpPr>
                <a:grpSpLocks/>
              </p:cNvGrpSpPr>
              <p:nvPr/>
            </p:nvGrpSpPr>
            <p:grpSpPr bwMode="auto">
              <a:xfrm>
                <a:off x="528" y="2410"/>
                <a:ext cx="1200" cy="1142"/>
                <a:chOff x="576" y="2392"/>
                <a:chExt cx="1200" cy="1142"/>
              </a:xfrm>
            </p:grpSpPr>
            <p:sp>
              <p:nvSpPr>
                <p:cNvPr id="1428508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576" y="2392"/>
                  <a:ext cx="1200" cy="114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600" b="1"/>
                    <a:t>PC/Workstation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 b="1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  <a:p>
                  <a:pPr eaLnBrk="0" hangingPunct="0">
                    <a:spcBef>
                      <a:spcPct val="50000"/>
                    </a:spcBef>
                  </a:pPr>
                  <a:endParaRPr lang="en-GB" altLang="ko-KR" sz="1600"/>
                </a:p>
              </p:txBody>
            </p:sp>
            <p:sp>
              <p:nvSpPr>
                <p:cNvPr id="142850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624" y="3248"/>
                  <a:ext cx="1104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/>
                    <a:t>Network Interface Hardware</a:t>
                  </a:r>
                </a:p>
              </p:txBody>
            </p:sp>
            <p:sp>
              <p:nvSpPr>
                <p:cNvPr id="1428510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720" y="2816"/>
                  <a:ext cx="912" cy="30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Communications</a:t>
                  </a:r>
                </a:p>
                <a:p>
                  <a:pPr eaLnBrk="0" hangingPunct="0">
                    <a:spcBef>
                      <a:spcPct val="50000"/>
                    </a:spcBef>
                  </a:pPr>
                  <a:r>
                    <a:rPr lang="en-GB" altLang="ko-KR" sz="1000" b="1">
                      <a:solidFill>
                        <a:schemeClr val="accent2"/>
                      </a:solidFill>
                    </a:rPr>
                    <a:t>Software</a:t>
                  </a:r>
                  <a:endParaRPr lang="en-GB" altLang="ko-KR" sz="1000"/>
                </a:p>
              </p:txBody>
            </p:sp>
          </p:grpSp>
          <p:sp>
            <p:nvSpPr>
              <p:cNvPr id="1428511" name="Line 31"/>
              <p:cNvSpPr>
                <a:spLocks noChangeShapeType="1"/>
              </p:cNvSpPr>
              <p:nvPr/>
            </p:nvSpPr>
            <p:spPr bwMode="auto">
              <a:xfrm>
                <a:off x="1152" y="3552"/>
                <a:ext cx="0" cy="192"/>
              </a:xfrm>
              <a:prstGeom prst="line">
                <a:avLst/>
              </a:prstGeom>
              <a:noFill/>
              <a:ln w="76200" cmpd="tri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428512" name="Text Box 32"/>
            <p:cNvSpPr txBox="1">
              <a:spLocks noChangeArrowheads="1"/>
            </p:cNvSpPr>
            <p:nvPr/>
          </p:nvSpPr>
          <p:spPr bwMode="auto">
            <a:xfrm>
              <a:off x="1066800" y="2209800"/>
              <a:ext cx="251460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/>
                <a:t>Sequential Applications</a:t>
              </a:r>
            </a:p>
          </p:txBody>
        </p:sp>
        <p:sp>
          <p:nvSpPr>
            <p:cNvPr id="1428513" name="Text Box 33"/>
            <p:cNvSpPr txBox="1">
              <a:spLocks noChangeArrowheads="1"/>
            </p:cNvSpPr>
            <p:nvPr/>
          </p:nvSpPr>
          <p:spPr bwMode="auto">
            <a:xfrm>
              <a:off x="838200" y="1981200"/>
              <a:ext cx="2667000" cy="3460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 b="1" dirty="0">
                  <a:solidFill>
                    <a:schemeClr val="bg2"/>
                  </a:solidFill>
                </a:rPr>
                <a:t>Sequential Applications</a:t>
              </a:r>
            </a:p>
          </p:txBody>
        </p:sp>
        <p:sp>
          <p:nvSpPr>
            <p:cNvPr id="1428514" name="Text Box 34"/>
            <p:cNvSpPr txBox="1">
              <a:spLocks noChangeArrowheads="1"/>
            </p:cNvSpPr>
            <p:nvPr/>
          </p:nvSpPr>
          <p:spPr bwMode="auto">
            <a:xfrm>
              <a:off x="4876800" y="1600200"/>
              <a:ext cx="2514600" cy="346075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/>
                <a:t>Parallel Applications</a:t>
              </a:r>
            </a:p>
          </p:txBody>
        </p:sp>
        <p:sp>
          <p:nvSpPr>
            <p:cNvPr id="1428515" name="Text Box 35"/>
            <p:cNvSpPr txBox="1">
              <a:spLocks noChangeArrowheads="1"/>
            </p:cNvSpPr>
            <p:nvPr/>
          </p:nvSpPr>
          <p:spPr bwMode="auto">
            <a:xfrm>
              <a:off x="5334000" y="1828800"/>
              <a:ext cx="2514600" cy="346075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altLang="ko-KR" sz="1600" b="1"/>
                <a:t>Parallel Applications</a:t>
              </a:r>
            </a:p>
          </p:txBody>
        </p:sp>
      </p:grp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Cluster Computer Architecture</a:t>
            </a:r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altLang="zh-CN" dirty="0"/>
              <a:t>Prominent Components of </a:t>
            </a:r>
            <a:r>
              <a:rPr lang="en-US" altLang="zh-CN" dirty="0" smtClean="0"/>
              <a:t>Cluster Computers</a:t>
            </a:r>
            <a:endParaRPr lang="en-US" altLang="zh-CN" dirty="0"/>
          </a:p>
        </p:txBody>
      </p:sp>
      <p:sp>
        <p:nvSpPr>
          <p:cNvPr id="130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52592"/>
            <a:ext cx="8382000" cy="4953000"/>
          </a:xfrm>
          <a:noFill/>
          <a:ln/>
        </p:spPr>
        <p:txBody>
          <a:bodyPr lIns="90488" tIns="44450" rIns="90488" bIns="44450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Multiple High Performance Computers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/>
              <a:t>PCs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Workstations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zh-CN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 smtClean="0"/>
              <a:t>State of the art Operating Systems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Linux (MOSIX, Beowulf, and many more)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Microsoft NT (Illinois HPVM, Cornell Velocity)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SUN Solaris (Berkeley NOW, C-DAC PARAM)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IBM AIX (IBM SP2)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6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altLang="zh-CN" dirty="0"/>
              <a:t>Prominent Components of </a:t>
            </a:r>
            <a:r>
              <a:rPr lang="en-US" altLang="zh-CN" dirty="0" smtClean="0"/>
              <a:t>Cluster Computers</a:t>
            </a:r>
            <a:endParaRPr lang="en-US" altLang="zh-CN" dirty="0"/>
          </a:p>
        </p:txBody>
      </p:sp>
      <p:sp>
        <p:nvSpPr>
          <p:cNvPr id="130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136104"/>
            <a:ext cx="8610600" cy="50292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dirty="0"/>
              <a:t>High Performance </a:t>
            </a:r>
            <a:r>
              <a:rPr lang="en-US" altLang="zh-CN" dirty="0" smtClean="0"/>
              <a:t>Networks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 smtClean="0"/>
              <a:t>Ethernet </a:t>
            </a:r>
            <a:r>
              <a:rPr lang="en-US" altLang="zh-CN" b="0" dirty="0"/>
              <a:t>(10Mbps), 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Fast Ethernet (100Mbps), 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Gigabit Ethernet (1Gbps)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SCI  (Scalable Coherent Interface- MPI- 12</a:t>
            </a:r>
            <a:r>
              <a:rPr lang="en-US" altLang="zh-CN" b="0" dirty="0">
                <a:latin typeface="Comic Sans MS"/>
              </a:rPr>
              <a:t>µ</a:t>
            </a:r>
            <a:r>
              <a:rPr lang="en-US" altLang="zh-CN" b="0" dirty="0"/>
              <a:t>sec latency)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ATM (Asynchronous Transfer Mode)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Myrinet (1.2Gbps)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 smtClean="0"/>
              <a:t>Digital </a:t>
            </a:r>
            <a:r>
              <a:rPr lang="en-US" altLang="zh-CN" b="0" dirty="0"/>
              <a:t>Memory Channel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FDDI (fiber distributed data interface)</a:t>
            </a:r>
          </a:p>
          <a:p>
            <a:pPr lvl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b="0" dirty="0"/>
              <a:t>InfiniBand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5536" y="1052736"/>
            <a:ext cx="8077200" cy="388843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Fast Communication Protocols and Services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/>
              <a:t>Active Messages (Berkeley)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/>
              <a:t>Fast Messages (Illinois)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/>
              <a:t>U-net (Cornell)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/>
              <a:t>XTP (Virginia)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/>
              <a:t>Virtual Interface Architecture (VIA)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142875"/>
            <a:ext cx="8243888" cy="500063"/>
          </a:xfrm>
          <a:noFill/>
          <a:ln/>
        </p:spPr>
        <p:txBody>
          <a:bodyPr lIns="90488" tIns="44450" rIns="90488" bIns="44450"/>
          <a:lstStyle/>
          <a:p>
            <a:r>
              <a:rPr lang="en-US" altLang="zh-CN" dirty="0"/>
              <a:t>Prominent Components of </a:t>
            </a:r>
            <a:r>
              <a:rPr lang="en-US" altLang="zh-CN" dirty="0" smtClean="0"/>
              <a:t>Cluster Computers</a:t>
            </a: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507" name="Rectangle 3"/>
          <p:cNvSpPr>
            <a:spLocks noChangeArrowheads="1"/>
          </p:cNvSpPr>
          <p:nvPr/>
        </p:nvSpPr>
        <p:spPr bwMode="auto">
          <a:xfrm>
            <a:off x="3175" y="655955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altLang="ko-KR" sz="1000">
                <a:latin typeface="Times New Roman"/>
                <a:cs typeface="Times New Roman" pitchFamily="18" charset="0"/>
              </a:rPr>
              <a:t> </a:t>
            </a:r>
            <a:endParaRPr lang="en-GB" altLang="ko-KR" sz="1000">
              <a:latin typeface="Century Schoolbook" pitchFamily="18" charset="0"/>
              <a:cs typeface="Times New Roman" pitchFamily="18" charset="0"/>
            </a:endParaRPr>
          </a:p>
          <a:p>
            <a:pPr algn="l" eaLnBrk="0" hangingPunct="0"/>
            <a:endParaRPr lang="en-GB" altLang="ko-KR" sz="2400">
              <a:latin typeface="Times New Roman" pitchFamily="18" charset="0"/>
            </a:endParaRPr>
          </a:p>
        </p:txBody>
      </p:sp>
      <p:sp>
        <p:nvSpPr>
          <p:cNvPr id="1429508" name="Rectangle 4"/>
          <p:cNvSpPr>
            <a:spLocks noChangeArrowheads="1"/>
          </p:cNvSpPr>
          <p:nvPr/>
        </p:nvSpPr>
        <p:spPr bwMode="auto">
          <a:xfrm>
            <a:off x="3175" y="655955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GB" altLang="ko-KR" sz="1000">
                <a:latin typeface="Times New Roman"/>
                <a:cs typeface="Times New Roman" pitchFamily="18" charset="0"/>
              </a:rPr>
              <a:t> </a:t>
            </a:r>
            <a:endParaRPr lang="en-GB" altLang="ko-KR" sz="1000">
              <a:latin typeface="Century Schoolbook" pitchFamily="18" charset="0"/>
              <a:cs typeface="Times New Roman" pitchFamily="18" charset="0"/>
            </a:endParaRPr>
          </a:p>
          <a:p>
            <a:pPr algn="l" eaLnBrk="0" hangingPunct="0"/>
            <a:endParaRPr lang="en-GB" altLang="ko-KR" sz="2400">
              <a:latin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7504" y="1124744"/>
            <a:ext cx="8928992" cy="4873625"/>
            <a:chOff x="48" y="1008"/>
            <a:chExt cx="5664" cy="307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48" y="1008"/>
              <a:ext cx="5664" cy="3070"/>
              <a:chOff x="390" y="1008"/>
              <a:chExt cx="5049" cy="3070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390" y="1010"/>
                <a:ext cx="911" cy="327"/>
                <a:chOff x="0" y="0"/>
                <a:chExt cx="705" cy="460"/>
              </a:xfrm>
            </p:grpSpPr>
            <p:sp>
              <p:nvSpPr>
                <p:cNvPr id="1429512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19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 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13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05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1301" y="1010"/>
                <a:ext cx="669" cy="327"/>
                <a:chOff x="705" y="0"/>
                <a:chExt cx="518" cy="460"/>
              </a:xfrm>
            </p:grpSpPr>
            <p:sp>
              <p:nvSpPr>
                <p:cNvPr id="1429515" name="Rectangle 11"/>
                <p:cNvSpPr>
                  <a:spLocks noChangeArrowheads="1"/>
                </p:cNvSpPr>
                <p:nvPr/>
              </p:nvSpPr>
              <p:spPr bwMode="auto">
                <a:xfrm>
                  <a:off x="748" y="0"/>
                  <a:ext cx="432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300" b="0" u="none" dirty="0">
                      <a:solidFill>
                        <a:srgbClr val="010000"/>
                      </a:solidFill>
                    </a:rPr>
                    <a:t>Myrinet</a:t>
                  </a:r>
                  <a:endParaRPr lang="en-GB" altLang="ko-KR" sz="1300" b="0" u="none" dirty="0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 dirty="0"/>
                </a:p>
              </p:txBody>
            </p:sp>
            <p:sp>
              <p:nvSpPr>
                <p:cNvPr id="1429516" name="Rectangle 12"/>
                <p:cNvSpPr>
                  <a:spLocks noChangeArrowheads="1"/>
                </p:cNvSpPr>
                <p:nvPr/>
              </p:nvSpPr>
              <p:spPr bwMode="auto">
                <a:xfrm>
                  <a:off x="705" y="0"/>
                  <a:ext cx="51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1970" y="1010"/>
                <a:ext cx="670" cy="327"/>
                <a:chOff x="1223" y="0"/>
                <a:chExt cx="518" cy="460"/>
              </a:xfrm>
            </p:grpSpPr>
            <p:sp>
              <p:nvSpPr>
                <p:cNvPr id="1429518" name="Rectangle 14"/>
                <p:cNvSpPr>
                  <a:spLocks noChangeArrowheads="1"/>
                </p:cNvSpPr>
                <p:nvPr/>
              </p:nvSpPr>
              <p:spPr bwMode="auto">
                <a:xfrm>
                  <a:off x="1266" y="0"/>
                  <a:ext cx="432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b="0" u="none">
                      <a:solidFill>
                        <a:srgbClr val="010000"/>
                      </a:solidFill>
                    </a:rPr>
                    <a:t>QSnet</a:t>
                  </a:r>
                  <a:endParaRPr lang="en-GB" altLang="ko-KR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19" name="Rectangle 15"/>
                <p:cNvSpPr>
                  <a:spLocks noChangeArrowheads="1"/>
                </p:cNvSpPr>
                <p:nvPr/>
              </p:nvSpPr>
              <p:spPr bwMode="auto">
                <a:xfrm>
                  <a:off x="1223" y="0"/>
                  <a:ext cx="51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2640" y="1008"/>
                <a:ext cx="669" cy="327"/>
                <a:chOff x="2248" y="0"/>
                <a:chExt cx="518" cy="460"/>
              </a:xfrm>
            </p:grpSpPr>
            <p:sp>
              <p:nvSpPr>
                <p:cNvPr id="1429521" name="Rectangle 17"/>
                <p:cNvSpPr>
                  <a:spLocks noChangeArrowheads="1"/>
                </p:cNvSpPr>
                <p:nvPr/>
              </p:nvSpPr>
              <p:spPr bwMode="auto">
                <a:xfrm>
                  <a:off x="2291" y="0"/>
                  <a:ext cx="432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200" b="0" u="none"/>
                    <a:t>Giganet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22" name="Rectangle 18"/>
                <p:cNvSpPr>
                  <a:spLocks noChangeArrowheads="1"/>
                </p:cNvSpPr>
                <p:nvPr/>
              </p:nvSpPr>
              <p:spPr bwMode="auto">
                <a:xfrm>
                  <a:off x="2248" y="0"/>
                  <a:ext cx="518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u="none" dirty="0"/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3309" y="1008"/>
                <a:ext cx="777" cy="327"/>
                <a:chOff x="2766" y="0"/>
                <a:chExt cx="601" cy="460"/>
              </a:xfrm>
            </p:grpSpPr>
            <p:sp>
              <p:nvSpPr>
                <p:cNvPr id="1429524" name="Rectangle 20"/>
                <p:cNvSpPr>
                  <a:spLocks noChangeArrowheads="1"/>
                </p:cNvSpPr>
                <p:nvPr/>
              </p:nvSpPr>
              <p:spPr bwMode="auto">
                <a:xfrm>
                  <a:off x="2809" y="0"/>
                  <a:ext cx="515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100" b="0" u="none">
                      <a:solidFill>
                        <a:srgbClr val="010000"/>
                      </a:solidFill>
                    </a:rPr>
                    <a:t>ServerNet2</a:t>
                  </a:r>
                  <a:endParaRPr lang="en-GB" altLang="ko-KR" sz="11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25" name="Rectangle 21"/>
                <p:cNvSpPr>
                  <a:spLocks noChangeArrowheads="1"/>
                </p:cNvSpPr>
                <p:nvPr/>
              </p:nvSpPr>
              <p:spPr bwMode="auto">
                <a:xfrm>
                  <a:off x="2766" y="0"/>
                  <a:ext cx="601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4086" y="1008"/>
                <a:ext cx="591" cy="327"/>
                <a:chOff x="3367" y="0"/>
                <a:chExt cx="457" cy="460"/>
              </a:xfrm>
            </p:grpSpPr>
            <p:sp>
              <p:nvSpPr>
                <p:cNvPr id="1429527" name="Rectangle 23"/>
                <p:cNvSpPr>
                  <a:spLocks noChangeArrowheads="1"/>
                </p:cNvSpPr>
                <p:nvPr/>
              </p:nvSpPr>
              <p:spPr bwMode="auto">
                <a:xfrm>
                  <a:off x="3410" y="0"/>
                  <a:ext cx="371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b="0" u="none"/>
                    <a:t>SCI</a:t>
                  </a:r>
                  <a:endParaRPr lang="en-GB" altLang="ko-KR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28" name="Rectangle 24"/>
                <p:cNvSpPr>
                  <a:spLocks noChangeArrowheads="1"/>
                </p:cNvSpPr>
                <p:nvPr/>
              </p:nvSpPr>
              <p:spPr bwMode="auto">
                <a:xfrm>
                  <a:off x="3367" y="0"/>
                  <a:ext cx="457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4677" y="1008"/>
                <a:ext cx="762" cy="327"/>
                <a:chOff x="3824" y="0"/>
                <a:chExt cx="590" cy="460"/>
              </a:xfrm>
            </p:grpSpPr>
            <p:sp>
              <p:nvSpPr>
                <p:cNvPr id="1429530" name="Rectangle 26"/>
                <p:cNvSpPr>
                  <a:spLocks noChangeArrowheads="1"/>
                </p:cNvSpPr>
                <p:nvPr/>
              </p:nvSpPr>
              <p:spPr bwMode="auto">
                <a:xfrm>
                  <a:off x="3867" y="0"/>
                  <a:ext cx="504" cy="4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Gigabit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200" b="0" u="none">
                      <a:solidFill>
                        <a:srgbClr val="010000"/>
                      </a:solidFill>
                    </a:rPr>
                    <a:t>Ethernet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31" name="Rectangle 27"/>
                <p:cNvSpPr>
                  <a:spLocks noChangeArrowheads="1"/>
                </p:cNvSpPr>
                <p:nvPr/>
              </p:nvSpPr>
              <p:spPr bwMode="auto">
                <a:xfrm>
                  <a:off x="3824" y="0"/>
                  <a:ext cx="590" cy="4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390" y="1337"/>
                <a:ext cx="911" cy="313"/>
                <a:chOff x="0" y="460"/>
                <a:chExt cx="705" cy="442"/>
              </a:xfrm>
            </p:grpSpPr>
            <p:sp>
              <p:nvSpPr>
                <p:cNvPr id="1429533" name="Rectangle 29"/>
                <p:cNvSpPr>
                  <a:spLocks noChangeArrowheads="1"/>
                </p:cNvSpPr>
                <p:nvPr/>
              </p:nvSpPr>
              <p:spPr bwMode="auto">
                <a:xfrm>
                  <a:off x="43" y="460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Bandwidth 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200" b="0" u="none">
                      <a:solidFill>
                        <a:srgbClr val="010000"/>
                      </a:solidFill>
                    </a:rPr>
                    <a:t>(MBytes/s)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534" name="Rectangle 30"/>
                <p:cNvSpPr>
                  <a:spLocks noChangeArrowheads="1"/>
                </p:cNvSpPr>
                <p:nvPr/>
              </p:nvSpPr>
              <p:spPr bwMode="auto">
                <a:xfrm>
                  <a:off x="0" y="460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1301" y="1337"/>
                <a:ext cx="669" cy="313"/>
                <a:chOff x="705" y="460"/>
                <a:chExt cx="518" cy="442"/>
              </a:xfrm>
            </p:grpSpPr>
            <p:sp>
              <p:nvSpPr>
                <p:cNvPr id="1429536" name="Rectangle 32"/>
                <p:cNvSpPr>
                  <a:spLocks noChangeArrowheads="1"/>
                </p:cNvSpPr>
                <p:nvPr/>
              </p:nvSpPr>
              <p:spPr bwMode="auto">
                <a:xfrm>
                  <a:off x="748" y="460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800080"/>
                      </a:solidFill>
                    </a:rPr>
                    <a:t>140 – 33MHz</a:t>
                  </a:r>
                </a:p>
                <a:p>
                  <a:pPr algn="l"/>
                  <a:r>
                    <a:rPr lang="en-US" sz="1000" b="0" u="none">
                      <a:solidFill>
                        <a:srgbClr val="800080"/>
                      </a:solidFill>
                    </a:rPr>
                    <a:t>215 – 66 Mhz</a:t>
                  </a:r>
                  <a:endParaRPr lang="en-GB" altLang="ko-KR" sz="1000" b="0" u="none">
                    <a:solidFill>
                      <a:srgbClr val="800080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>
                    <a:solidFill>
                      <a:srgbClr val="800080"/>
                    </a:solidFill>
                  </a:endParaRPr>
                </a:p>
              </p:txBody>
            </p:sp>
            <p:sp>
              <p:nvSpPr>
                <p:cNvPr id="1429537" name="Rectangle 33"/>
                <p:cNvSpPr>
                  <a:spLocks noChangeArrowheads="1"/>
                </p:cNvSpPr>
                <p:nvPr/>
              </p:nvSpPr>
              <p:spPr bwMode="auto">
                <a:xfrm>
                  <a:off x="705" y="460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3" name="Group 34"/>
              <p:cNvGrpSpPr>
                <a:grpSpLocks/>
              </p:cNvGrpSpPr>
              <p:nvPr/>
            </p:nvGrpSpPr>
            <p:grpSpPr bwMode="auto">
              <a:xfrm>
                <a:off x="1970" y="1337"/>
                <a:ext cx="670" cy="313"/>
                <a:chOff x="1223" y="460"/>
                <a:chExt cx="518" cy="442"/>
              </a:xfrm>
            </p:grpSpPr>
            <p:sp>
              <p:nvSpPr>
                <p:cNvPr id="1429539" name="Rectangle 35"/>
                <p:cNvSpPr>
                  <a:spLocks noChangeArrowheads="1"/>
                </p:cNvSpPr>
                <p:nvPr/>
              </p:nvSpPr>
              <p:spPr bwMode="auto">
                <a:xfrm>
                  <a:off x="1266" y="460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b="0" u="none" dirty="0">
                      <a:solidFill>
                        <a:srgbClr val="800080"/>
                      </a:solidFill>
                    </a:rPr>
                    <a:t>208</a:t>
                  </a:r>
                  <a:r>
                    <a:rPr lang="en-US" sz="1000" b="0" u="none" dirty="0">
                      <a:solidFill>
                        <a:srgbClr val="010000"/>
                      </a:solidFill>
                    </a:rPr>
                    <a:t> </a:t>
                  </a:r>
                  <a:endParaRPr lang="en-GB" altLang="ko-KR" sz="1000" b="0" u="none" dirty="0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 dirty="0"/>
                </a:p>
              </p:txBody>
            </p:sp>
            <p:sp>
              <p:nvSpPr>
                <p:cNvPr id="1429540" name="Rectangle 36"/>
                <p:cNvSpPr>
                  <a:spLocks noChangeArrowheads="1"/>
                </p:cNvSpPr>
                <p:nvPr/>
              </p:nvSpPr>
              <p:spPr bwMode="auto">
                <a:xfrm>
                  <a:off x="1223" y="460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" name="Group 37"/>
              <p:cNvGrpSpPr>
                <a:grpSpLocks/>
              </p:cNvGrpSpPr>
              <p:nvPr/>
            </p:nvGrpSpPr>
            <p:grpSpPr bwMode="auto">
              <a:xfrm>
                <a:off x="2640" y="1335"/>
                <a:ext cx="669" cy="313"/>
                <a:chOff x="2248" y="460"/>
                <a:chExt cx="518" cy="442"/>
              </a:xfrm>
            </p:grpSpPr>
            <p:sp>
              <p:nvSpPr>
                <p:cNvPr id="1429542" name="Rectangle 38"/>
                <p:cNvSpPr>
                  <a:spLocks noChangeArrowheads="1"/>
                </p:cNvSpPr>
                <p:nvPr/>
              </p:nvSpPr>
              <p:spPr bwMode="auto">
                <a:xfrm>
                  <a:off x="2291" y="460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b="0" u="none">
                      <a:solidFill>
                        <a:srgbClr val="800080"/>
                      </a:solidFill>
                    </a:rPr>
                    <a:t>~105</a:t>
                  </a:r>
                  <a:endParaRPr lang="en-GB" altLang="ko-KR" b="0" u="none">
                    <a:solidFill>
                      <a:srgbClr val="800080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43" name="Rectangle 39"/>
                <p:cNvSpPr>
                  <a:spLocks noChangeArrowheads="1"/>
                </p:cNvSpPr>
                <p:nvPr/>
              </p:nvSpPr>
              <p:spPr bwMode="auto">
                <a:xfrm>
                  <a:off x="2248" y="460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5" name="Group 40"/>
              <p:cNvGrpSpPr>
                <a:grpSpLocks/>
              </p:cNvGrpSpPr>
              <p:nvPr/>
            </p:nvGrpSpPr>
            <p:grpSpPr bwMode="auto">
              <a:xfrm>
                <a:off x="3309" y="1335"/>
                <a:ext cx="777" cy="313"/>
                <a:chOff x="2766" y="460"/>
                <a:chExt cx="601" cy="442"/>
              </a:xfrm>
            </p:grpSpPr>
            <p:sp>
              <p:nvSpPr>
                <p:cNvPr id="1429545" name="Rectangle 41"/>
                <p:cNvSpPr>
                  <a:spLocks noChangeArrowheads="1"/>
                </p:cNvSpPr>
                <p:nvPr/>
              </p:nvSpPr>
              <p:spPr bwMode="auto">
                <a:xfrm>
                  <a:off x="2809" y="460"/>
                  <a:ext cx="51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b="0" u="none">
                      <a:solidFill>
                        <a:srgbClr val="800080"/>
                      </a:solidFill>
                    </a:rPr>
                    <a:t>165</a:t>
                  </a:r>
                  <a:r>
                    <a:rPr lang="en-US" sz="1000" b="0" u="none">
                      <a:solidFill>
                        <a:srgbClr val="010000"/>
                      </a:solidFill>
                    </a:rPr>
                    <a:t>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46" name="Rectangle 42"/>
                <p:cNvSpPr>
                  <a:spLocks noChangeArrowheads="1"/>
                </p:cNvSpPr>
                <p:nvPr/>
              </p:nvSpPr>
              <p:spPr bwMode="auto">
                <a:xfrm>
                  <a:off x="2766" y="460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6" name="Group 43"/>
              <p:cNvGrpSpPr>
                <a:grpSpLocks/>
              </p:cNvGrpSpPr>
              <p:nvPr/>
            </p:nvGrpSpPr>
            <p:grpSpPr bwMode="auto">
              <a:xfrm>
                <a:off x="4086" y="1335"/>
                <a:ext cx="591" cy="313"/>
                <a:chOff x="3367" y="460"/>
                <a:chExt cx="457" cy="442"/>
              </a:xfrm>
            </p:grpSpPr>
            <p:sp>
              <p:nvSpPr>
                <p:cNvPr id="1429548" name="Rectangle 44"/>
                <p:cNvSpPr>
                  <a:spLocks noChangeArrowheads="1"/>
                </p:cNvSpPr>
                <p:nvPr/>
              </p:nvSpPr>
              <p:spPr bwMode="auto">
                <a:xfrm>
                  <a:off x="3410" y="460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b="0" u="none">
                      <a:solidFill>
                        <a:srgbClr val="800080"/>
                      </a:solidFill>
                    </a:rPr>
                    <a:t>~80</a:t>
                  </a:r>
                  <a:endParaRPr lang="en-GB" altLang="ko-KR" b="0" u="none">
                    <a:solidFill>
                      <a:srgbClr val="800080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b="0" u="none">
                    <a:solidFill>
                      <a:srgbClr val="800080"/>
                    </a:solidFill>
                  </a:endParaRPr>
                </a:p>
              </p:txBody>
            </p:sp>
            <p:sp>
              <p:nvSpPr>
                <p:cNvPr id="1429549" name="Rectangle 45"/>
                <p:cNvSpPr>
                  <a:spLocks noChangeArrowheads="1"/>
                </p:cNvSpPr>
                <p:nvPr/>
              </p:nvSpPr>
              <p:spPr bwMode="auto">
                <a:xfrm>
                  <a:off x="3367" y="460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7" name="Group 46"/>
              <p:cNvGrpSpPr>
                <a:grpSpLocks/>
              </p:cNvGrpSpPr>
              <p:nvPr/>
            </p:nvGrpSpPr>
            <p:grpSpPr bwMode="auto">
              <a:xfrm>
                <a:off x="4677" y="1335"/>
                <a:ext cx="762" cy="313"/>
                <a:chOff x="3824" y="460"/>
                <a:chExt cx="590" cy="442"/>
              </a:xfrm>
            </p:grpSpPr>
            <p:sp>
              <p:nvSpPr>
                <p:cNvPr id="1429551" name="Rectangle 47"/>
                <p:cNvSpPr>
                  <a:spLocks noChangeArrowheads="1"/>
                </p:cNvSpPr>
                <p:nvPr/>
              </p:nvSpPr>
              <p:spPr bwMode="auto">
                <a:xfrm>
                  <a:off x="3867" y="460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b="0" u="none">
                      <a:solidFill>
                        <a:srgbClr val="800080"/>
                      </a:solidFill>
                    </a:rPr>
                    <a:t>30 - 50</a:t>
                  </a:r>
                  <a:endParaRPr lang="en-GB" altLang="ko-KR" b="0" u="none">
                    <a:solidFill>
                      <a:srgbClr val="800080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52" name="Rectangle 48"/>
                <p:cNvSpPr>
                  <a:spLocks noChangeArrowheads="1"/>
                </p:cNvSpPr>
                <p:nvPr/>
              </p:nvSpPr>
              <p:spPr bwMode="auto">
                <a:xfrm>
                  <a:off x="3824" y="460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8" name="Group 49"/>
              <p:cNvGrpSpPr>
                <a:grpSpLocks/>
              </p:cNvGrpSpPr>
              <p:nvPr/>
            </p:nvGrpSpPr>
            <p:grpSpPr bwMode="auto">
              <a:xfrm>
                <a:off x="390" y="1650"/>
                <a:ext cx="911" cy="314"/>
                <a:chOff x="0" y="902"/>
                <a:chExt cx="705" cy="442"/>
              </a:xfrm>
            </p:grpSpPr>
            <p:sp>
              <p:nvSpPr>
                <p:cNvPr id="1429554" name="Rectangle 50"/>
                <p:cNvSpPr>
                  <a:spLocks noChangeArrowheads="1"/>
                </p:cNvSpPr>
                <p:nvPr/>
              </p:nvSpPr>
              <p:spPr bwMode="auto">
                <a:xfrm>
                  <a:off x="43" y="902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MPI 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200" b="0" u="none">
                      <a:solidFill>
                        <a:srgbClr val="010000"/>
                      </a:solidFill>
                    </a:rPr>
                    <a:t>Latency (µs)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555" name="Rectangle 51"/>
                <p:cNvSpPr>
                  <a:spLocks noChangeArrowheads="1"/>
                </p:cNvSpPr>
                <p:nvPr/>
              </p:nvSpPr>
              <p:spPr bwMode="auto">
                <a:xfrm>
                  <a:off x="0" y="902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9" name="Group 52"/>
              <p:cNvGrpSpPr>
                <a:grpSpLocks/>
              </p:cNvGrpSpPr>
              <p:nvPr/>
            </p:nvGrpSpPr>
            <p:grpSpPr bwMode="auto">
              <a:xfrm>
                <a:off x="1301" y="1650"/>
                <a:ext cx="669" cy="314"/>
                <a:chOff x="705" y="902"/>
                <a:chExt cx="518" cy="442"/>
              </a:xfrm>
            </p:grpSpPr>
            <p:sp>
              <p:nvSpPr>
                <p:cNvPr id="1429557" name="Rectangle 53"/>
                <p:cNvSpPr>
                  <a:spLocks noChangeArrowheads="1"/>
                </p:cNvSpPr>
                <p:nvPr/>
              </p:nvSpPr>
              <p:spPr bwMode="auto">
                <a:xfrm>
                  <a:off x="748" y="902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chemeClr val="tx2"/>
                      </a:solidFill>
                    </a:rPr>
                    <a:t>16.5 – 33Nhz</a:t>
                  </a:r>
                </a:p>
                <a:p>
                  <a:pPr algn="l"/>
                  <a:r>
                    <a:rPr lang="en-US" sz="1000" b="0" u="none">
                      <a:solidFill>
                        <a:schemeClr val="tx2"/>
                      </a:solidFill>
                    </a:rPr>
                    <a:t>11 – 66 Mhz</a:t>
                  </a:r>
                </a:p>
                <a:p>
                  <a:pPr algn="l"/>
                  <a:endParaRPr lang="en-GB" altLang="ko-KR" sz="1000" b="0" u="none">
                    <a:solidFill>
                      <a:schemeClr val="tx2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429558" name="Rectangle 54"/>
                <p:cNvSpPr>
                  <a:spLocks noChangeArrowheads="1"/>
                </p:cNvSpPr>
                <p:nvPr/>
              </p:nvSpPr>
              <p:spPr bwMode="auto">
                <a:xfrm>
                  <a:off x="705" y="902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0" name="Group 55"/>
              <p:cNvGrpSpPr>
                <a:grpSpLocks/>
              </p:cNvGrpSpPr>
              <p:nvPr/>
            </p:nvGrpSpPr>
            <p:grpSpPr bwMode="auto">
              <a:xfrm>
                <a:off x="1970" y="1650"/>
                <a:ext cx="670" cy="314"/>
                <a:chOff x="1223" y="902"/>
                <a:chExt cx="518" cy="442"/>
              </a:xfrm>
            </p:grpSpPr>
            <p:sp>
              <p:nvSpPr>
                <p:cNvPr id="1429560" name="Rectangle 56"/>
                <p:cNvSpPr>
                  <a:spLocks noChangeArrowheads="1"/>
                </p:cNvSpPr>
                <p:nvPr/>
              </p:nvSpPr>
              <p:spPr bwMode="auto">
                <a:xfrm>
                  <a:off x="1266" y="902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tx2"/>
                      </a:solidFill>
                    </a:rPr>
                    <a:t>5</a:t>
                  </a:r>
                  <a:endParaRPr lang="en-GB" altLang="ko-KR" sz="1400" b="0" u="none" dirty="0">
                    <a:solidFill>
                      <a:schemeClr val="tx2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400" b="0" u="none" dirty="0"/>
                </a:p>
              </p:txBody>
            </p:sp>
            <p:sp>
              <p:nvSpPr>
                <p:cNvPr id="1429561" name="Rectangle 57"/>
                <p:cNvSpPr>
                  <a:spLocks noChangeArrowheads="1"/>
                </p:cNvSpPr>
                <p:nvPr/>
              </p:nvSpPr>
              <p:spPr bwMode="auto">
                <a:xfrm>
                  <a:off x="1223" y="902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1" name="Group 58"/>
              <p:cNvGrpSpPr>
                <a:grpSpLocks/>
              </p:cNvGrpSpPr>
              <p:nvPr/>
            </p:nvGrpSpPr>
            <p:grpSpPr bwMode="auto">
              <a:xfrm>
                <a:off x="2630" y="1648"/>
                <a:ext cx="692" cy="314"/>
                <a:chOff x="2241" y="902"/>
                <a:chExt cx="536" cy="442"/>
              </a:xfrm>
            </p:grpSpPr>
            <p:sp>
              <p:nvSpPr>
                <p:cNvPr id="1429563" name="Rectangle 59"/>
                <p:cNvSpPr>
                  <a:spLocks noChangeArrowheads="1"/>
                </p:cNvSpPr>
                <p:nvPr/>
              </p:nvSpPr>
              <p:spPr bwMode="auto">
                <a:xfrm>
                  <a:off x="2241" y="902"/>
                  <a:ext cx="536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400" b="0" u="none" dirty="0">
                      <a:solidFill>
                        <a:schemeClr val="tx2"/>
                      </a:solidFill>
                    </a:rPr>
                    <a:t>~20 - 40</a:t>
                  </a:r>
                  <a:endParaRPr lang="en-GB" altLang="ko-KR" sz="1400" b="0" u="none" dirty="0">
                    <a:solidFill>
                      <a:schemeClr val="tx2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400" b="0" u="none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429564" name="Rectangle 60"/>
                <p:cNvSpPr>
                  <a:spLocks noChangeArrowheads="1"/>
                </p:cNvSpPr>
                <p:nvPr/>
              </p:nvSpPr>
              <p:spPr bwMode="auto">
                <a:xfrm>
                  <a:off x="2248" y="902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2" name="Group 61"/>
              <p:cNvGrpSpPr>
                <a:grpSpLocks/>
              </p:cNvGrpSpPr>
              <p:nvPr/>
            </p:nvGrpSpPr>
            <p:grpSpPr bwMode="auto">
              <a:xfrm>
                <a:off x="3309" y="1648"/>
                <a:ext cx="777" cy="314"/>
                <a:chOff x="2766" y="902"/>
                <a:chExt cx="601" cy="442"/>
              </a:xfrm>
            </p:grpSpPr>
            <p:sp>
              <p:nvSpPr>
                <p:cNvPr id="1429566" name="Rectangle 62"/>
                <p:cNvSpPr>
                  <a:spLocks noChangeArrowheads="1"/>
                </p:cNvSpPr>
                <p:nvPr/>
              </p:nvSpPr>
              <p:spPr bwMode="auto">
                <a:xfrm>
                  <a:off x="2809" y="902"/>
                  <a:ext cx="51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tx2"/>
                      </a:solidFill>
                    </a:rPr>
                    <a:t>20.2</a:t>
                  </a:r>
                  <a:endParaRPr lang="en-GB" altLang="ko-KR" sz="1400" b="0" u="none" dirty="0">
                    <a:solidFill>
                      <a:schemeClr val="tx2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1429567" name="Rectangle 63"/>
                <p:cNvSpPr>
                  <a:spLocks noChangeArrowheads="1"/>
                </p:cNvSpPr>
                <p:nvPr/>
              </p:nvSpPr>
              <p:spPr bwMode="auto">
                <a:xfrm>
                  <a:off x="2766" y="902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sz="1400" b="0" u="none" dirty="0"/>
                </a:p>
              </p:txBody>
            </p:sp>
          </p:grpSp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4086" y="1648"/>
                <a:ext cx="591" cy="314"/>
                <a:chOff x="3367" y="902"/>
                <a:chExt cx="457" cy="442"/>
              </a:xfrm>
            </p:grpSpPr>
            <p:sp>
              <p:nvSpPr>
                <p:cNvPr id="1429569" name="Rectangle 65"/>
                <p:cNvSpPr>
                  <a:spLocks noChangeArrowheads="1"/>
                </p:cNvSpPr>
                <p:nvPr/>
              </p:nvSpPr>
              <p:spPr bwMode="auto">
                <a:xfrm>
                  <a:off x="3410" y="902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400" b="0" u="none" dirty="0">
                      <a:solidFill>
                        <a:schemeClr val="tx2"/>
                      </a:solidFill>
                    </a:rPr>
                    <a:t>6</a:t>
                  </a:r>
                  <a:endParaRPr lang="en-GB" altLang="ko-KR" sz="1400" b="0" u="none" dirty="0">
                    <a:solidFill>
                      <a:schemeClr val="tx2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400" b="0" u="none" dirty="0"/>
                </a:p>
              </p:txBody>
            </p:sp>
            <p:sp>
              <p:nvSpPr>
                <p:cNvPr id="1429570" name="Rectangle 66"/>
                <p:cNvSpPr>
                  <a:spLocks noChangeArrowheads="1"/>
                </p:cNvSpPr>
                <p:nvPr/>
              </p:nvSpPr>
              <p:spPr bwMode="auto">
                <a:xfrm>
                  <a:off x="3367" y="902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4677" y="1648"/>
                <a:ext cx="762" cy="314"/>
                <a:chOff x="3824" y="902"/>
                <a:chExt cx="590" cy="442"/>
              </a:xfrm>
            </p:grpSpPr>
            <p:sp>
              <p:nvSpPr>
                <p:cNvPr id="1429572" name="Rectangle 68"/>
                <p:cNvSpPr>
                  <a:spLocks noChangeArrowheads="1"/>
                </p:cNvSpPr>
                <p:nvPr/>
              </p:nvSpPr>
              <p:spPr bwMode="auto">
                <a:xfrm>
                  <a:off x="3867" y="902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tx2"/>
                      </a:solidFill>
                    </a:rPr>
                    <a:t>100 - 200</a:t>
                  </a:r>
                  <a:endParaRPr lang="en-GB" altLang="ko-KR" sz="1400" b="0" u="none" dirty="0">
                    <a:solidFill>
                      <a:schemeClr val="tx2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400" b="0" u="none" dirty="0"/>
                </a:p>
              </p:txBody>
            </p:sp>
            <p:sp>
              <p:nvSpPr>
                <p:cNvPr id="1429573" name="Rectangle 69"/>
                <p:cNvSpPr>
                  <a:spLocks noChangeArrowheads="1"/>
                </p:cNvSpPr>
                <p:nvPr/>
              </p:nvSpPr>
              <p:spPr bwMode="auto">
                <a:xfrm>
                  <a:off x="3824" y="902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5" name="Group 70"/>
              <p:cNvGrpSpPr>
                <a:grpSpLocks/>
              </p:cNvGrpSpPr>
              <p:nvPr/>
            </p:nvGrpSpPr>
            <p:grpSpPr bwMode="auto">
              <a:xfrm>
                <a:off x="390" y="1964"/>
                <a:ext cx="911" cy="273"/>
                <a:chOff x="0" y="1344"/>
                <a:chExt cx="705" cy="384"/>
              </a:xfrm>
            </p:grpSpPr>
            <p:sp>
              <p:nvSpPr>
                <p:cNvPr id="1429575" name="Rectangle 71"/>
                <p:cNvSpPr>
                  <a:spLocks noChangeArrowheads="1"/>
                </p:cNvSpPr>
                <p:nvPr/>
              </p:nvSpPr>
              <p:spPr bwMode="auto">
                <a:xfrm>
                  <a:off x="43" y="1344"/>
                  <a:ext cx="619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List price/port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576" name="Rectangle 72"/>
                <p:cNvSpPr>
                  <a:spLocks noChangeArrowheads="1"/>
                </p:cNvSpPr>
                <p:nvPr/>
              </p:nvSpPr>
              <p:spPr bwMode="auto">
                <a:xfrm>
                  <a:off x="0" y="1344"/>
                  <a:ext cx="70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6" name="Group 73"/>
              <p:cNvGrpSpPr>
                <a:grpSpLocks/>
              </p:cNvGrpSpPr>
              <p:nvPr/>
            </p:nvGrpSpPr>
            <p:grpSpPr bwMode="auto">
              <a:xfrm>
                <a:off x="1301" y="1964"/>
                <a:ext cx="669" cy="273"/>
                <a:chOff x="705" y="1344"/>
                <a:chExt cx="518" cy="384"/>
              </a:xfrm>
            </p:grpSpPr>
            <p:sp>
              <p:nvSpPr>
                <p:cNvPr id="1429578" name="Rectangle 74"/>
                <p:cNvSpPr>
                  <a:spLocks noChangeArrowheads="1"/>
                </p:cNvSpPr>
                <p:nvPr/>
              </p:nvSpPr>
              <p:spPr bwMode="auto">
                <a:xfrm>
                  <a:off x="748" y="134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hlink"/>
                      </a:solidFill>
                    </a:rPr>
                    <a:t>$1.5K</a:t>
                  </a:r>
                  <a:endParaRPr lang="en-GB" altLang="ko-KR" sz="1400" b="0" u="none" dirty="0">
                    <a:solidFill>
                      <a:schemeClr val="hlink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400" b="0" u="none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429579" name="Rectangle 75"/>
                <p:cNvSpPr>
                  <a:spLocks noChangeArrowheads="1"/>
                </p:cNvSpPr>
                <p:nvPr/>
              </p:nvSpPr>
              <p:spPr bwMode="auto">
                <a:xfrm>
                  <a:off x="705" y="134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7" name="Group 76"/>
              <p:cNvGrpSpPr>
                <a:grpSpLocks/>
              </p:cNvGrpSpPr>
              <p:nvPr/>
            </p:nvGrpSpPr>
            <p:grpSpPr bwMode="auto">
              <a:xfrm>
                <a:off x="1970" y="1964"/>
                <a:ext cx="670" cy="273"/>
                <a:chOff x="1223" y="1344"/>
                <a:chExt cx="518" cy="384"/>
              </a:xfrm>
            </p:grpSpPr>
            <p:sp>
              <p:nvSpPr>
                <p:cNvPr id="1429581" name="Rectangle 77"/>
                <p:cNvSpPr>
                  <a:spLocks noChangeArrowheads="1"/>
                </p:cNvSpPr>
                <p:nvPr/>
              </p:nvSpPr>
              <p:spPr bwMode="auto">
                <a:xfrm>
                  <a:off x="1266" y="134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hlink"/>
                      </a:solidFill>
                    </a:rPr>
                    <a:t>$6.5K </a:t>
                  </a:r>
                  <a:endParaRPr lang="en-GB" altLang="ko-KR" sz="1400" b="0" u="none" dirty="0">
                    <a:solidFill>
                      <a:schemeClr val="hlink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429582" name="Rectangle 78"/>
                <p:cNvSpPr>
                  <a:spLocks noChangeArrowheads="1"/>
                </p:cNvSpPr>
                <p:nvPr/>
              </p:nvSpPr>
              <p:spPr bwMode="auto">
                <a:xfrm>
                  <a:off x="1223" y="134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sz="1400" b="0" u="none"/>
                </a:p>
              </p:txBody>
            </p:sp>
          </p:grpSp>
          <p:grpSp>
            <p:nvGrpSpPr>
              <p:cNvPr id="28" name="Group 79"/>
              <p:cNvGrpSpPr>
                <a:grpSpLocks/>
              </p:cNvGrpSpPr>
              <p:nvPr/>
            </p:nvGrpSpPr>
            <p:grpSpPr bwMode="auto">
              <a:xfrm>
                <a:off x="2640" y="1962"/>
                <a:ext cx="669" cy="273"/>
                <a:chOff x="2248" y="1344"/>
                <a:chExt cx="518" cy="384"/>
              </a:xfrm>
            </p:grpSpPr>
            <p:sp>
              <p:nvSpPr>
                <p:cNvPr id="1429584" name="Rectangle 80"/>
                <p:cNvSpPr>
                  <a:spLocks noChangeArrowheads="1"/>
                </p:cNvSpPr>
                <p:nvPr/>
              </p:nvSpPr>
              <p:spPr bwMode="auto">
                <a:xfrm>
                  <a:off x="2291" y="1344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 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85" name="Rectangle 81"/>
                <p:cNvSpPr>
                  <a:spLocks noChangeArrowheads="1"/>
                </p:cNvSpPr>
                <p:nvPr/>
              </p:nvSpPr>
              <p:spPr bwMode="auto">
                <a:xfrm>
                  <a:off x="2248" y="1344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29" name="Group 82"/>
              <p:cNvGrpSpPr>
                <a:grpSpLocks/>
              </p:cNvGrpSpPr>
              <p:nvPr/>
            </p:nvGrpSpPr>
            <p:grpSpPr bwMode="auto">
              <a:xfrm>
                <a:off x="3309" y="1962"/>
                <a:ext cx="777" cy="273"/>
                <a:chOff x="2766" y="1344"/>
                <a:chExt cx="601" cy="384"/>
              </a:xfrm>
            </p:grpSpPr>
            <p:sp>
              <p:nvSpPr>
                <p:cNvPr id="1429587" name="Rectangle 83"/>
                <p:cNvSpPr>
                  <a:spLocks noChangeArrowheads="1"/>
                </p:cNvSpPr>
                <p:nvPr/>
              </p:nvSpPr>
              <p:spPr bwMode="auto">
                <a:xfrm>
                  <a:off x="2809" y="1344"/>
                  <a:ext cx="515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hlink"/>
                      </a:solidFill>
                    </a:rPr>
                    <a:t>$1.5K </a:t>
                  </a:r>
                  <a:endParaRPr lang="en-GB" altLang="ko-KR" sz="1400" b="0" u="none" dirty="0">
                    <a:solidFill>
                      <a:schemeClr val="hlink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b="0" u="none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429588" name="Rectangle 84"/>
                <p:cNvSpPr>
                  <a:spLocks noChangeArrowheads="1"/>
                </p:cNvSpPr>
                <p:nvPr/>
              </p:nvSpPr>
              <p:spPr bwMode="auto">
                <a:xfrm>
                  <a:off x="2766" y="1344"/>
                  <a:ext cx="601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sz="1400" b="0" u="none"/>
                </a:p>
              </p:txBody>
            </p:sp>
          </p:grpSp>
          <p:grpSp>
            <p:nvGrpSpPr>
              <p:cNvPr id="30" name="Group 85"/>
              <p:cNvGrpSpPr>
                <a:grpSpLocks/>
              </p:cNvGrpSpPr>
              <p:nvPr/>
            </p:nvGrpSpPr>
            <p:grpSpPr bwMode="auto">
              <a:xfrm>
                <a:off x="4086" y="1962"/>
                <a:ext cx="591" cy="273"/>
                <a:chOff x="3367" y="1344"/>
                <a:chExt cx="457" cy="384"/>
              </a:xfrm>
            </p:grpSpPr>
            <p:sp>
              <p:nvSpPr>
                <p:cNvPr id="1429590" name="Rectangle 86"/>
                <p:cNvSpPr>
                  <a:spLocks noChangeArrowheads="1"/>
                </p:cNvSpPr>
                <p:nvPr/>
              </p:nvSpPr>
              <p:spPr bwMode="auto">
                <a:xfrm>
                  <a:off x="3410" y="1344"/>
                  <a:ext cx="371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 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591" name="Rectangle 87"/>
                <p:cNvSpPr>
                  <a:spLocks noChangeArrowheads="1"/>
                </p:cNvSpPr>
                <p:nvPr/>
              </p:nvSpPr>
              <p:spPr bwMode="auto">
                <a:xfrm>
                  <a:off x="3367" y="1344"/>
                  <a:ext cx="457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31" name="Group 88"/>
              <p:cNvGrpSpPr>
                <a:grpSpLocks/>
              </p:cNvGrpSpPr>
              <p:nvPr/>
            </p:nvGrpSpPr>
            <p:grpSpPr bwMode="auto">
              <a:xfrm>
                <a:off x="4677" y="1962"/>
                <a:ext cx="762" cy="273"/>
                <a:chOff x="3824" y="1344"/>
                <a:chExt cx="590" cy="384"/>
              </a:xfrm>
            </p:grpSpPr>
            <p:sp>
              <p:nvSpPr>
                <p:cNvPr id="1429593" name="Rectangle 89"/>
                <p:cNvSpPr>
                  <a:spLocks noChangeArrowheads="1"/>
                </p:cNvSpPr>
                <p:nvPr/>
              </p:nvSpPr>
              <p:spPr bwMode="auto">
                <a:xfrm>
                  <a:off x="3867" y="1344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400" b="0" u="none" dirty="0">
                      <a:solidFill>
                        <a:schemeClr val="hlink"/>
                      </a:solidFill>
                    </a:rPr>
                    <a:t>~$1.5K</a:t>
                  </a:r>
                  <a:endParaRPr lang="en-GB" altLang="ko-KR" sz="1400" b="0" u="none" dirty="0">
                    <a:solidFill>
                      <a:schemeClr val="hlink"/>
                    </a:solidFill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b="0" u="none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1429594" name="Rectangle 90"/>
                <p:cNvSpPr>
                  <a:spLocks noChangeArrowheads="1"/>
                </p:cNvSpPr>
                <p:nvPr/>
              </p:nvSpPr>
              <p:spPr bwMode="auto">
                <a:xfrm>
                  <a:off x="3824" y="1344"/>
                  <a:ext cx="59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sz="1400" b="0" u="none"/>
                </a:p>
              </p:txBody>
            </p:sp>
          </p:grpSp>
          <p:grpSp>
            <p:nvGrpSpPr>
              <p:cNvPr id="1429568" name="Group 91"/>
              <p:cNvGrpSpPr>
                <a:grpSpLocks/>
              </p:cNvGrpSpPr>
              <p:nvPr/>
            </p:nvGrpSpPr>
            <p:grpSpPr bwMode="auto">
              <a:xfrm>
                <a:off x="390" y="2237"/>
                <a:ext cx="911" cy="313"/>
                <a:chOff x="0" y="1728"/>
                <a:chExt cx="705" cy="442"/>
              </a:xfrm>
            </p:grpSpPr>
            <p:sp>
              <p:nvSpPr>
                <p:cNvPr id="1429596" name="Rectangle 92"/>
                <p:cNvSpPr>
                  <a:spLocks noChangeArrowheads="1"/>
                </p:cNvSpPr>
                <p:nvPr/>
              </p:nvSpPr>
              <p:spPr bwMode="auto">
                <a:xfrm>
                  <a:off x="43" y="1728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Hardware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200" b="0" u="none">
                      <a:solidFill>
                        <a:srgbClr val="010000"/>
                      </a:solidFill>
                    </a:rPr>
                    <a:t>Availability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597" name="Rectangle 93"/>
                <p:cNvSpPr>
                  <a:spLocks noChangeArrowheads="1"/>
                </p:cNvSpPr>
                <p:nvPr/>
              </p:nvSpPr>
              <p:spPr bwMode="auto">
                <a:xfrm>
                  <a:off x="0" y="1728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71" name="Group 94"/>
              <p:cNvGrpSpPr>
                <a:grpSpLocks/>
              </p:cNvGrpSpPr>
              <p:nvPr/>
            </p:nvGrpSpPr>
            <p:grpSpPr bwMode="auto">
              <a:xfrm>
                <a:off x="1301" y="2237"/>
                <a:ext cx="669" cy="313"/>
                <a:chOff x="705" y="1728"/>
                <a:chExt cx="518" cy="442"/>
              </a:xfrm>
            </p:grpSpPr>
            <p:sp>
              <p:nvSpPr>
                <p:cNvPr id="1429599" name="Rectangle 95"/>
                <p:cNvSpPr>
                  <a:spLocks noChangeArrowheads="1"/>
                </p:cNvSpPr>
                <p:nvPr/>
              </p:nvSpPr>
              <p:spPr bwMode="auto">
                <a:xfrm>
                  <a:off x="748" y="1728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Now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00" name="Rectangle 96"/>
                <p:cNvSpPr>
                  <a:spLocks noChangeArrowheads="1"/>
                </p:cNvSpPr>
                <p:nvPr/>
              </p:nvSpPr>
              <p:spPr bwMode="auto">
                <a:xfrm>
                  <a:off x="705" y="1728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74" name="Group 97"/>
              <p:cNvGrpSpPr>
                <a:grpSpLocks/>
              </p:cNvGrpSpPr>
              <p:nvPr/>
            </p:nvGrpSpPr>
            <p:grpSpPr bwMode="auto">
              <a:xfrm>
                <a:off x="1970" y="2237"/>
                <a:ext cx="670" cy="313"/>
                <a:chOff x="1223" y="1728"/>
                <a:chExt cx="518" cy="442"/>
              </a:xfrm>
            </p:grpSpPr>
            <p:sp>
              <p:nvSpPr>
                <p:cNvPr id="1429602" name="Rectangle 98"/>
                <p:cNvSpPr>
                  <a:spLocks noChangeArrowheads="1"/>
                </p:cNvSpPr>
                <p:nvPr/>
              </p:nvSpPr>
              <p:spPr bwMode="auto">
                <a:xfrm>
                  <a:off x="1266" y="1728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03" name="Rectangle 99"/>
                <p:cNvSpPr>
                  <a:spLocks noChangeArrowheads="1"/>
                </p:cNvSpPr>
                <p:nvPr/>
              </p:nvSpPr>
              <p:spPr bwMode="auto">
                <a:xfrm>
                  <a:off x="1223" y="1728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77" name="Group 100"/>
              <p:cNvGrpSpPr>
                <a:grpSpLocks/>
              </p:cNvGrpSpPr>
              <p:nvPr/>
            </p:nvGrpSpPr>
            <p:grpSpPr bwMode="auto">
              <a:xfrm>
                <a:off x="2640" y="2235"/>
                <a:ext cx="669" cy="313"/>
                <a:chOff x="2248" y="1728"/>
                <a:chExt cx="518" cy="442"/>
              </a:xfrm>
            </p:grpSpPr>
            <p:sp>
              <p:nvSpPr>
                <p:cNvPr id="1429605" name="Rectangle 101"/>
                <p:cNvSpPr>
                  <a:spLocks noChangeArrowheads="1"/>
                </p:cNvSpPr>
                <p:nvPr/>
              </p:nvSpPr>
              <p:spPr bwMode="auto">
                <a:xfrm>
                  <a:off x="2291" y="1728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06" name="Rectangle 102"/>
                <p:cNvSpPr>
                  <a:spLocks noChangeArrowheads="1"/>
                </p:cNvSpPr>
                <p:nvPr/>
              </p:nvSpPr>
              <p:spPr bwMode="auto">
                <a:xfrm>
                  <a:off x="2248" y="1728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80" name="Group 103"/>
              <p:cNvGrpSpPr>
                <a:grpSpLocks/>
              </p:cNvGrpSpPr>
              <p:nvPr/>
            </p:nvGrpSpPr>
            <p:grpSpPr bwMode="auto">
              <a:xfrm>
                <a:off x="3309" y="2235"/>
                <a:ext cx="777" cy="313"/>
                <a:chOff x="2766" y="1728"/>
                <a:chExt cx="601" cy="442"/>
              </a:xfrm>
            </p:grpSpPr>
            <p:sp>
              <p:nvSpPr>
                <p:cNvPr id="1429608" name="Rectangle 104"/>
                <p:cNvSpPr>
                  <a:spLocks noChangeArrowheads="1"/>
                </p:cNvSpPr>
                <p:nvPr/>
              </p:nvSpPr>
              <p:spPr bwMode="auto">
                <a:xfrm>
                  <a:off x="2809" y="1728"/>
                  <a:ext cx="51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Q2‘00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09" name="Rectangle 105"/>
                <p:cNvSpPr>
                  <a:spLocks noChangeArrowheads="1"/>
                </p:cNvSpPr>
                <p:nvPr/>
              </p:nvSpPr>
              <p:spPr bwMode="auto">
                <a:xfrm>
                  <a:off x="2766" y="1728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83" name="Group 106"/>
              <p:cNvGrpSpPr>
                <a:grpSpLocks/>
              </p:cNvGrpSpPr>
              <p:nvPr/>
            </p:nvGrpSpPr>
            <p:grpSpPr bwMode="auto">
              <a:xfrm>
                <a:off x="4086" y="2235"/>
                <a:ext cx="591" cy="313"/>
                <a:chOff x="3367" y="1728"/>
                <a:chExt cx="457" cy="442"/>
              </a:xfrm>
            </p:grpSpPr>
            <p:sp>
              <p:nvSpPr>
                <p:cNvPr id="1429611" name="Rectangle 107"/>
                <p:cNvSpPr>
                  <a:spLocks noChangeArrowheads="1"/>
                </p:cNvSpPr>
                <p:nvPr/>
              </p:nvSpPr>
              <p:spPr bwMode="auto">
                <a:xfrm>
                  <a:off x="3410" y="1728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12" name="Rectangle 108"/>
                <p:cNvSpPr>
                  <a:spLocks noChangeArrowheads="1"/>
                </p:cNvSpPr>
                <p:nvPr/>
              </p:nvSpPr>
              <p:spPr bwMode="auto">
                <a:xfrm>
                  <a:off x="3367" y="1728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86" name="Group 109"/>
              <p:cNvGrpSpPr>
                <a:grpSpLocks/>
              </p:cNvGrpSpPr>
              <p:nvPr/>
            </p:nvGrpSpPr>
            <p:grpSpPr bwMode="auto">
              <a:xfrm>
                <a:off x="4677" y="2235"/>
                <a:ext cx="762" cy="313"/>
                <a:chOff x="3824" y="1728"/>
                <a:chExt cx="590" cy="442"/>
              </a:xfrm>
            </p:grpSpPr>
            <p:sp>
              <p:nvSpPr>
                <p:cNvPr id="1429614" name="Rectangle 110"/>
                <p:cNvSpPr>
                  <a:spLocks noChangeArrowheads="1"/>
                </p:cNvSpPr>
                <p:nvPr/>
              </p:nvSpPr>
              <p:spPr bwMode="auto">
                <a:xfrm>
                  <a:off x="3867" y="1728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15" name="Rectangle 111"/>
                <p:cNvSpPr>
                  <a:spLocks noChangeArrowheads="1"/>
                </p:cNvSpPr>
                <p:nvPr/>
              </p:nvSpPr>
              <p:spPr bwMode="auto">
                <a:xfrm>
                  <a:off x="3824" y="1728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89" name="Group 112"/>
              <p:cNvGrpSpPr>
                <a:grpSpLocks/>
              </p:cNvGrpSpPr>
              <p:nvPr/>
            </p:nvGrpSpPr>
            <p:grpSpPr bwMode="auto">
              <a:xfrm>
                <a:off x="390" y="2550"/>
                <a:ext cx="911" cy="273"/>
                <a:chOff x="0" y="2170"/>
                <a:chExt cx="705" cy="384"/>
              </a:xfrm>
            </p:grpSpPr>
            <p:sp>
              <p:nvSpPr>
                <p:cNvPr id="1429617" name="Rectangle 113"/>
                <p:cNvSpPr>
                  <a:spLocks noChangeArrowheads="1"/>
                </p:cNvSpPr>
                <p:nvPr/>
              </p:nvSpPr>
              <p:spPr bwMode="auto">
                <a:xfrm>
                  <a:off x="43" y="2170"/>
                  <a:ext cx="619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Linux Support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618" name="Rectangle 114"/>
                <p:cNvSpPr>
                  <a:spLocks noChangeArrowheads="1"/>
                </p:cNvSpPr>
                <p:nvPr/>
              </p:nvSpPr>
              <p:spPr bwMode="auto">
                <a:xfrm>
                  <a:off x="0" y="2170"/>
                  <a:ext cx="705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92" name="Group 115"/>
              <p:cNvGrpSpPr>
                <a:grpSpLocks/>
              </p:cNvGrpSpPr>
              <p:nvPr/>
            </p:nvGrpSpPr>
            <p:grpSpPr bwMode="auto">
              <a:xfrm>
                <a:off x="1301" y="2550"/>
                <a:ext cx="669" cy="273"/>
                <a:chOff x="705" y="2170"/>
                <a:chExt cx="518" cy="384"/>
              </a:xfrm>
            </p:grpSpPr>
            <p:sp>
              <p:nvSpPr>
                <p:cNvPr id="1429620" name="Rectangle 116"/>
                <p:cNvSpPr>
                  <a:spLocks noChangeArrowheads="1"/>
                </p:cNvSpPr>
                <p:nvPr/>
              </p:nvSpPr>
              <p:spPr bwMode="auto">
                <a:xfrm>
                  <a:off x="748" y="217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21" name="Rectangle 117"/>
                <p:cNvSpPr>
                  <a:spLocks noChangeArrowheads="1"/>
                </p:cNvSpPr>
                <p:nvPr/>
              </p:nvSpPr>
              <p:spPr bwMode="auto">
                <a:xfrm>
                  <a:off x="705" y="217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95" name="Group 118"/>
              <p:cNvGrpSpPr>
                <a:grpSpLocks/>
              </p:cNvGrpSpPr>
              <p:nvPr/>
            </p:nvGrpSpPr>
            <p:grpSpPr bwMode="auto">
              <a:xfrm>
                <a:off x="1970" y="2550"/>
                <a:ext cx="670" cy="273"/>
                <a:chOff x="1223" y="2170"/>
                <a:chExt cx="518" cy="384"/>
              </a:xfrm>
            </p:grpSpPr>
            <p:sp>
              <p:nvSpPr>
                <p:cNvPr id="1429623" name="Rectangle 119"/>
                <p:cNvSpPr>
                  <a:spLocks noChangeArrowheads="1"/>
                </p:cNvSpPr>
                <p:nvPr/>
              </p:nvSpPr>
              <p:spPr bwMode="auto">
                <a:xfrm>
                  <a:off x="1266" y="217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Late‘00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24" name="Rectangle 120"/>
                <p:cNvSpPr>
                  <a:spLocks noChangeArrowheads="1"/>
                </p:cNvSpPr>
                <p:nvPr/>
              </p:nvSpPr>
              <p:spPr bwMode="auto">
                <a:xfrm>
                  <a:off x="1223" y="217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598" name="Group 121"/>
              <p:cNvGrpSpPr>
                <a:grpSpLocks/>
              </p:cNvGrpSpPr>
              <p:nvPr/>
            </p:nvGrpSpPr>
            <p:grpSpPr bwMode="auto">
              <a:xfrm>
                <a:off x="2640" y="2548"/>
                <a:ext cx="669" cy="273"/>
                <a:chOff x="2248" y="2170"/>
                <a:chExt cx="518" cy="384"/>
              </a:xfrm>
            </p:grpSpPr>
            <p:sp>
              <p:nvSpPr>
                <p:cNvPr id="1429626" name="Rectangle 122"/>
                <p:cNvSpPr>
                  <a:spLocks noChangeArrowheads="1"/>
                </p:cNvSpPr>
                <p:nvPr/>
              </p:nvSpPr>
              <p:spPr bwMode="auto">
                <a:xfrm>
                  <a:off x="2291" y="2170"/>
                  <a:ext cx="432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27" name="Rectangle 123"/>
                <p:cNvSpPr>
                  <a:spLocks noChangeArrowheads="1"/>
                </p:cNvSpPr>
                <p:nvPr/>
              </p:nvSpPr>
              <p:spPr bwMode="auto">
                <a:xfrm>
                  <a:off x="2248" y="2170"/>
                  <a:ext cx="5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01" name="Group 124"/>
              <p:cNvGrpSpPr>
                <a:grpSpLocks/>
              </p:cNvGrpSpPr>
              <p:nvPr/>
            </p:nvGrpSpPr>
            <p:grpSpPr bwMode="auto">
              <a:xfrm>
                <a:off x="3309" y="2548"/>
                <a:ext cx="777" cy="273"/>
                <a:chOff x="2766" y="2170"/>
                <a:chExt cx="601" cy="384"/>
              </a:xfrm>
            </p:grpSpPr>
            <p:sp>
              <p:nvSpPr>
                <p:cNvPr id="1429629" name="Rectangle 125"/>
                <p:cNvSpPr>
                  <a:spLocks noChangeArrowheads="1"/>
                </p:cNvSpPr>
                <p:nvPr/>
              </p:nvSpPr>
              <p:spPr bwMode="auto">
                <a:xfrm>
                  <a:off x="2809" y="2170"/>
                  <a:ext cx="515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 Q2‘00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30" name="Rectangle 126"/>
                <p:cNvSpPr>
                  <a:spLocks noChangeArrowheads="1"/>
                </p:cNvSpPr>
                <p:nvPr/>
              </p:nvSpPr>
              <p:spPr bwMode="auto">
                <a:xfrm>
                  <a:off x="2766" y="2170"/>
                  <a:ext cx="601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04" name="Group 127"/>
              <p:cNvGrpSpPr>
                <a:grpSpLocks/>
              </p:cNvGrpSpPr>
              <p:nvPr/>
            </p:nvGrpSpPr>
            <p:grpSpPr bwMode="auto">
              <a:xfrm>
                <a:off x="4086" y="2548"/>
                <a:ext cx="591" cy="273"/>
                <a:chOff x="3367" y="2170"/>
                <a:chExt cx="457" cy="384"/>
              </a:xfrm>
            </p:grpSpPr>
            <p:sp>
              <p:nvSpPr>
                <p:cNvPr id="1429632" name="Rectangle 128"/>
                <p:cNvSpPr>
                  <a:spLocks noChangeArrowheads="1"/>
                </p:cNvSpPr>
                <p:nvPr/>
              </p:nvSpPr>
              <p:spPr bwMode="auto">
                <a:xfrm>
                  <a:off x="3410" y="2170"/>
                  <a:ext cx="371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33" name="Rectangle 129"/>
                <p:cNvSpPr>
                  <a:spLocks noChangeArrowheads="1"/>
                </p:cNvSpPr>
                <p:nvPr/>
              </p:nvSpPr>
              <p:spPr bwMode="auto">
                <a:xfrm>
                  <a:off x="3367" y="2170"/>
                  <a:ext cx="457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07" name="Group 130"/>
              <p:cNvGrpSpPr>
                <a:grpSpLocks/>
              </p:cNvGrpSpPr>
              <p:nvPr/>
            </p:nvGrpSpPr>
            <p:grpSpPr bwMode="auto">
              <a:xfrm>
                <a:off x="4677" y="2548"/>
                <a:ext cx="762" cy="273"/>
                <a:chOff x="3824" y="2170"/>
                <a:chExt cx="590" cy="384"/>
              </a:xfrm>
            </p:grpSpPr>
            <p:sp>
              <p:nvSpPr>
                <p:cNvPr id="1429635" name="Rectangle 131"/>
                <p:cNvSpPr>
                  <a:spLocks noChangeArrowheads="1"/>
                </p:cNvSpPr>
                <p:nvPr/>
              </p:nvSpPr>
              <p:spPr bwMode="auto">
                <a:xfrm>
                  <a:off x="3867" y="2170"/>
                  <a:ext cx="504" cy="3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Now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36" name="Rectangle 132"/>
                <p:cNvSpPr>
                  <a:spLocks noChangeArrowheads="1"/>
                </p:cNvSpPr>
                <p:nvPr/>
              </p:nvSpPr>
              <p:spPr bwMode="auto">
                <a:xfrm>
                  <a:off x="3824" y="2170"/>
                  <a:ext cx="590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10" name="Group 133"/>
              <p:cNvGrpSpPr>
                <a:grpSpLocks/>
              </p:cNvGrpSpPr>
              <p:nvPr/>
            </p:nvGrpSpPr>
            <p:grpSpPr bwMode="auto">
              <a:xfrm>
                <a:off x="390" y="2823"/>
                <a:ext cx="911" cy="314"/>
                <a:chOff x="0" y="2554"/>
                <a:chExt cx="705" cy="442"/>
              </a:xfrm>
            </p:grpSpPr>
            <p:sp>
              <p:nvSpPr>
                <p:cNvPr id="1429638" name="Rectangle 134"/>
                <p:cNvSpPr>
                  <a:spLocks noChangeArrowheads="1"/>
                </p:cNvSpPr>
                <p:nvPr/>
              </p:nvSpPr>
              <p:spPr bwMode="auto">
                <a:xfrm>
                  <a:off x="43" y="2554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Maximum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200" b="0" u="none">
                      <a:solidFill>
                        <a:srgbClr val="010000"/>
                      </a:solidFill>
                    </a:rPr>
                    <a:t>#nodes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639" name="Rectangle 135"/>
                <p:cNvSpPr>
                  <a:spLocks noChangeArrowheads="1"/>
                </p:cNvSpPr>
                <p:nvPr/>
              </p:nvSpPr>
              <p:spPr bwMode="auto">
                <a:xfrm>
                  <a:off x="0" y="2554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13" name="Group 136"/>
              <p:cNvGrpSpPr>
                <a:grpSpLocks/>
              </p:cNvGrpSpPr>
              <p:nvPr/>
            </p:nvGrpSpPr>
            <p:grpSpPr bwMode="auto">
              <a:xfrm>
                <a:off x="1301" y="2823"/>
                <a:ext cx="669" cy="314"/>
                <a:chOff x="705" y="2554"/>
                <a:chExt cx="518" cy="442"/>
              </a:xfrm>
            </p:grpSpPr>
            <p:sp>
              <p:nvSpPr>
                <p:cNvPr id="1429641" name="Rectangle 137"/>
                <p:cNvSpPr>
                  <a:spLocks noChangeArrowheads="1"/>
                </p:cNvSpPr>
                <p:nvPr/>
              </p:nvSpPr>
              <p:spPr bwMode="auto">
                <a:xfrm>
                  <a:off x="748" y="2554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1000’s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42" name="Rectangle 138"/>
                <p:cNvSpPr>
                  <a:spLocks noChangeArrowheads="1"/>
                </p:cNvSpPr>
                <p:nvPr/>
              </p:nvSpPr>
              <p:spPr bwMode="auto">
                <a:xfrm>
                  <a:off x="705" y="2554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16" name="Group 139"/>
              <p:cNvGrpSpPr>
                <a:grpSpLocks/>
              </p:cNvGrpSpPr>
              <p:nvPr/>
            </p:nvGrpSpPr>
            <p:grpSpPr bwMode="auto">
              <a:xfrm>
                <a:off x="1970" y="2823"/>
                <a:ext cx="670" cy="314"/>
                <a:chOff x="1223" y="2554"/>
                <a:chExt cx="518" cy="442"/>
              </a:xfrm>
            </p:grpSpPr>
            <p:sp>
              <p:nvSpPr>
                <p:cNvPr id="1429644" name="Rectangle 140"/>
                <p:cNvSpPr>
                  <a:spLocks noChangeArrowheads="1"/>
                </p:cNvSpPr>
                <p:nvPr/>
              </p:nvSpPr>
              <p:spPr bwMode="auto">
                <a:xfrm>
                  <a:off x="1266" y="2554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1000’s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45" name="Rectangle 141"/>
                <p:cNvSpPr>
                  <a:spLocks noChangeArrowheads="1"/>
                </p:cNvSpPr>
                <p:nvPr/>
              </p:nvSpPr>
              <p:spPr bwMode="auto">
                <a:xfrm>
                  <a:off x="1223" y="2554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19" name="Group 142"/>
              <p:cNvGrpSpPr>
                <a:grpSpLocks/>
              </p:cNvGrpSpPr>
              <p:nvPr/>
            </p:nvGrpSpPr>
            <p:grpSpPr bwMode="auto">
              <a:xfrm>
                <a:off x="2640" y="2821"/>
                <a:ext cx="669" cy="314"/>
                <a:chOff x="2248" y="2554"/>
                <a:chExt cx="518" cy="442"/>
              </a:xfrm>
            </p:grpSpPr>
            <p:sp>
              <p:nvSpPr>
                <p:cNvPr id="1429647" name="Rectangle 143"/>
                <p:cNvSpPr>
                  <a:spLocks noChangeArrowheads="1"/>
                </p:cNvSpPr>
                <p:nvPr/>
              </p:nvSpPr>
              <p:spPr bwMode="auto">
                <a:xfrm>
                  <a:off x="2291" y="2554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 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48" name="Rectangle 144"/>
                <p:cNvSpPr>
                  <a:spLocks noChangeArrowheads="1"/>
                </p:cNvSpPr>
                <p:nvPr/>
              </p:nvSpPr>
              <p:spPr bwMode="auto">
                <a:xfrm>
                  <a:off x="2248" y="2554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22" name="Group 145"/>
              <p:cNvGrpSpPr>
                <a:grpSpLocks/>
              </p:cNvGrpSpPr>
              <p:nvPr/>
            </p:nvGrpSpPr>
            <p:grpSpPr bwMode="auto">
              <a:xfrm>
                <a:off x="3309" y="2821"/>
                <a:ext cx="777" cy="314"/>
                <a:chOff x="2766" y="2554"/>
                <a:chExt cx="601" cy="442"/>
              </a:xfrm>
            </p:grpSpPr>
            <p:sp>
              <p:nvSpPr>
                <p:cNvPr id="1429650" name="Rectangle 146"/>
                <p:cNvSpPr>
                  <a:spLocks noChangeArrowheads="1"/>
                </p:cNvSpPr>
                <p:nvPr/>
              </p:nvSpPr>
              <p:spPr bwMode="auto">
                <a:xfrm>
                  <a:off x="2809" y="2554"/>
                  <a:ext cx="51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1000’s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51" name="Rectangle 147"/>
                <p:cNvSpPr>
                  <a:spLocks noChangeArrowheads="1"/>
                </p:cNvSpPr>
                <p:nvPr/>
              </p:nvSpPr>
              <p:spPr bwMode="auto">
                <a:xfrm>
                  <a:off x="2766" y="2554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25" name="Group 148"/>
              <p:cNvGrpSpPr>
                <a:grpSpLocks/>
              </p:cNvGrpSpPr>
              <p:nvPr/>
            </p:nvGrpSpPr>
            <p:grpSpPr bwMode="auto">
              <a:xfrm>
                <a:off x="4086" y="2821"/>
                <a:ext cx="591" cy="314"/>
                <a:chOff x="3367" y="2554"/>
                <a:chExt cx="457" cy="442"/>
              </a:xfrm>
            </p:grpSpPr>
            <p:sp>
              <p:nvSpPr>
                <p:cNvPr id="1429653" name="Rectangle 149"/>
                <p:cNvSpPr>
                  <a:spLocks noChangeArrowheads="1"/>
                </p:cNvSpPr>
                <p:nvPr/>
              </p:nvSpPr>
              <p:spPr bwMode="auto">
                <a:xfrm>
                  <a:off x="3410" y="2554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64K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54" name="Rectangle 150"/>
                <p:cNvSpPr>
                  <a:spLocks noChangeArrowheads="1"/>
                </p:cNvSpPr>
                <p:nvPr/>
              </p:nvSpPr>
              <p:spPr bwMode="auto">
                <a:xfrm>
                  <a:off x="3367" y="2554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28" name="Group 151"/>
              <p:cNvGrpSpPr>
                <a:grpSpLocks/>
              </p:cNvGrpSpPr>
              <p:nvPr/>
            </p:nvGrpSpPr>
            <p:grpSpPr bwMode="auto">
              <a:xfrm>
                <a:off x="4677" y="2821"/>
                <a:ext cx="762" cy="314"/>
                <a:chOff x="3824" y="2554"/>
                <a:chExt cx="590" cy="442"/>
              </a:xfrm>
            </p:grpSpPr>
            <p:sp>
              <p:nvSpPr>
                <p:cNvPr id="1429656" name="Rectangle 152"/>
                <p:cNvSpPr>
                  <a:spLocks noChangeArrowheads="1"/>
                </p:cNvSpPr>
                <p:nvPr/>
              </p:nvSpPr>
              <p:spPr bwMode="auto">
                <a:xfrm>
                  <a:off x="3867" y="2554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1000’s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57" name="Rectangle 153"/>
                <p:cNvSpPr>
                  <a:spLocks noChangeArrowheads="1"/>
                </p:cNvSpPr>
                <p:nvPr/>
              </p:nvSpPr>
              <p:spPr bwMode="auto">
                <a:xfrm>
                  <a:off x="3824" y="2554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31" name="Group 154"/>
              <p:cNvGrpSpPr>
                <a:grpSpLocks/>
              </p:cNvGrpSpPr>
              <p:nvPr/>
            </p:nvGrpSpPr>
            <p:grpSpPr bwMode="auto">
              <a:xfrm>
                <a:off x="390" y="3137"/>
                <a:ext cx="911" cy="313"/>
                <a:chOff x="0" y="2996"/>
                <a:chExt cx="705" cy="442"/>
              </a:xfrm>
            </p:grpSpPr>
            <p:sp>
              <p:nvSpPr>
                <p:cNvPr id="1429659" name="Rectangle 155"/>
                <p:cNvSpPr>
                  <a:spLocks noChangeArrowheads="1"/>
                </p:cNvSpPr>
                <p:nvPr/>
              </p:nvSpPr>
              <p:spPr bwMode="auto">
                <a:xfrm>
                  <a:off x="43" y="2996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Protocol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000" b="0" u="none">
                      <a:solidFill>
                        <a:srgbClr val="010000"/>
                      </a:solidFill>
                    </a:rPr>
                    <a:t>Implementation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60" name="Rectangle 156"/>
                <p:cNvSpPr>
                  <a:spLocks noChangeArrowheads="1"/>
                </p:cNvSpPr>
                <p:nvPr/>
              </p:nvSpPr>
              <p:spPr bwMode="auto">
                <a:xfrm>
                  <a:off x="0" y="2996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34" name="Group 157"/>
              <p:cNvGrpSpPr>
                <a:grpSpLocks/>
              </p:cNvGrpSpPr>
              <p:nvPr/>
            </p:nvGrpSpPr>
            <p:grpSpPr bwMode="auto">
              <a:xfrm>
                <a:off x="1301" y="3137"/>
                <a:ext cx="669" cy="313"/>
                <a:chOff x="705" y="2996"/>
                <a:chExt cx="518" cy="442"/>
              </a:xfrm>
            </p:grpSpPr>
            <p:sp>
              <p:nvSpPr>
                <p:cNvPr id="1429662" name="Rectangle 158"/>
                <p:cNvSpPr>
                  <a:spLocks noChangeArrowheads="1"/>
                </p:cNvSpPr>
                <p:nvPr/>
              </p:nvSpPr>
              <p:spPr bwMode="auto">
                <a:xfrm>
                  <a:off x="748" y="2996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Firmware on adapter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63" name="Rectangle 159"/>
                <p:cNvSpPr>
                  <a:spLocks noChangeArrowheads="1"/>
                </p:cNvSpPr>
                <p:nvPr/>
              </p:nvSpPr>
              <p:spPr bwMode="auto">
                <a:xfrm>
                  <a:off x="705" y="2996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37" name="Group 160"/>
              <p:cNvGrpSpPr>
                <a:grpSpLocks/>
              </p:cNvGrpSpPr>
              <p:nvPr/>
            </p:nvGrpSpPr>
            <p:grpSpPr bwMode="auto">
              <a:xfrm>
                <a:off x="1970" y="3137"/>
                <a:ext cx="670" cy="313"/>
                <a:chOff x="1223" y="2996"/>
                <a:chExt cx="518" cy="442"/>
              </a:xfrm>
            </p:grpSpPr>
            <p:sp>
              <p:nvSpPr>
                <p:cNvPr id="1429665" name="Rectangle 161"/>
                <p:cNvSpPr>
                  <a:spLocks noChangeArrowheads="1"/>
                </p:cNvSpPr>
                <p:nvPr/>
              </p:nvSpPr>
              <p:spPr bwMode="auto">
                <a:xfrm>
                  <a:off x="1266" y="2996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Firmware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000" b="0" u="none">
                      <a:solidFill>
                        <a:srgbClr val="010000"/>
                      </a:solidFill>
                    </a:rPr>
                    <a:t>on adapter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66" name="Rectangle 162"/>
                <p:cNvSpPr>
                  <a:spLocks noChangeArrowheads="1"/>
                </p:cNvSpPr>
                <p:nvPr/>
              </p:nvSpPr>
              <p:spPr bwMode="auto">
                <a:xfrm>
                  <a:off x="1223" y="2996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40" name="Group 163"/>
              <p:cNvGrpSpPr>
                <a:grpSpLocks/>
              </p:cNvGrpSpPr>
              <p:nvPr/>
            </p:nvGrpSpPr>
            <p:grpSpPr bwMode="auto">
              <a:xfrm>
                <a:off x="2640" y="3135"/>
                <a:ext cx="669" cy="313"/>
                <a:chOff x="2248" y="2996"/>
                <a:chExt cx="518" cy="442"/>
              </a:xfrm>
            </p:grpSpPr>
            <p:sp>
              <p:nvSpPr>
                <p:cNvPr id="1429668" name="Rectangle 164"/>
                <p:cNvSpPr>
                  <a:spLocks noChangeArrowheads="1"/>
                </p:cNvSpPr>
                <p:nvPr/>
              </p:nvSpPr>
              <p:spPr bwMode="auto">
                <a:xfrm>
                  <a:off x="2291" y="2996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Firmware on adapter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69" name="Rectangle 165"/>
                <p:cNvSpPr>
                  <a:spLocks noChangeArrowheads="1"/>
                </p:cNvSpPr>
                <p:nvPr/>
              </p:nvSpPr>
              <p:spPr bwMode="auto">
                <a:xfrm>
                  <a:off x="2248" y="2996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43" name="Group 166"/>
              <p:cNvGrpSpPr>
                <a:grpSpLocks/>
              </p:cNvGrpSpPr>
              <p:nvPr/>
            </p:nvGrpSpPr>
            <p:grpSpPr bwMode="auto">
              <a:xfrm>
                <a:off x="3309" y="3135"/>
                <a:ext cx="777" cy="313"/>
                <a:chOff x="2766" y="2996"/>
                <a:chExt cx="601" cy="442"/>
              </a:xfrm>
            </p:grpSpPr>
            <p:sp>
              <p:nvSpPr>
                <p:cNvPr id="1429671" name="Rectangle 167"/>
                <p:cNvSpPr>
                  <a:spLocks noChangeArrowheads="1"/>
                </p:cNvSpPr>
                <p:nvPr/>
              </p:nvSpPr>
              <p:spPr bwMode="auto">
                <a:xfrm>
                  <a:off x="2809" y="2996"/>
                  <a:ext cx="51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Implemented in hardware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72" name="Rectangle 168"/>
                <p:cNvSpPr>
                  <a:spLocks noChangeArrowheads="1"/>
                </p:cNvSpPr>
                <p:nvPr/>
              </p:nvSpPr>
              <p:spPr bwMode="auto">
                <a:xfrm>
                  <a:off x="2766" y="2996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46" name="Group 169"/>
              <p:cNvGrpSpPr>
                <a:grpSpLocks/>
              </p:cNvGrpSpPr>
              <p:nvPr/>
            </p:nvGrpSpPr>
            <p:grpSpPr bwMode="auto">
              <a:xfrm>
                <a:off x="4086" y="3135"/>
                <a:ext cx="591" cy="313"/>
                <a:chOff x="3367" y="2996"/>
                <a:chExt cx="457" cy="442"/>
              </a:xfrm>
            </p:grpSpPr>
            <p:sp>
              <p:nvSpPr>
                <p:cNvPr id="1429674" name="Rectangle 170"/>
                <p:cNvSpPr>
                  <a:spLocks noChangeArrowheads="1"/>
                </p:cNvSpPr>
                <p:nvPr/>
              </p:nvSpPr>
              <p:spPr bwMode="auto">
                <a:xfrm>
                  <a:off x="3410" y="2996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 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75" name="Rectangle 171"/>
                <p:cNvSpPr>
                  <a:spLocks noChangeArrowheads="1"/>
                </p:cNvSpPr>
                <p:nvPr/>
              </p:nvSpPr>
              <p:spPr bwMode="auto">
                <a:xfrm>
                  <a:off x="3367" y="2996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49" name="Group 172"/>
              <p:cNvGrpSpPr>
                <a:grpSpLocks/>
              </p:cNvGrpSpPr>
              <p:nvPr/>
            </p:nvGrpSpPr>
            <p:grpSpPr bwMode="auto">
              <a:xfrm>
                <a:off x="4677" y="3135"/>
                <a:ext cx="762" cy="313"/>
                <a:chOff x="3824" y="2996"/>
                <a:chExt cx="590" cy="442"/>
              </a:xfrm>
            </p:grpSpPr>
            <p:sp>
              <p:nvSpPr>
                <p:cNvPr id="1429677" name="Rectangle 173"/>
                <p:cNvSpPr>
                  <a:spLocks noChangeArrowheads="1"/>
                </p:cNvSpPr>
                <p:nvPr/>
              </p:nvSpPr>
              <p:spPr bwMode="auto">
                <a:xfrm>
                  <a:off x="3867" y="2996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Implemented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000" b="0" u="none">
                      <a:solidFill>
                        <a:srgbClr val="010000"/>
                      </a:solidFill>
                    </a:rPr>
                    <a:t>in hardware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78" name="Rectangle 174"/>
                <p:cNvSpPr>
                  <a:spLocks noChangeArrowheads="1"/>
                </p:cNvSpPr>
                <p:nvPr/>
              </p:nvSpPr>
              <p:spPr bwMode="auto">
                <a:xfrm>
                  <a:off x="3824" y="2996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52" name="Group 175"/>
              <p:cNvGrpSpPr>
                <a:grpSpLocks/>
              </p:cNvGrpSpPr>
              <p:nvPr/>
            </p:nvGrpSpPr>
            <p:grpSpPr bwMode="auto">
              <a:xfrm>
                <a:off x="390" y="3450"/>
                <a:ext cx="911" cy="314"/>
                <a:chOff x="0" y="3438"/>
                <a:chExt cx="705" cy="442"/>
              </a:xfrm>
            </p:grpSpPr>
            <p:sp>
              <p:nvSpPr>
                <p:cNvPr id="1429680" name="Rectangle 176"/>
                <p:cNvSpPr>
                  <a:spLocks noChangeArrowheads="1"/>
                </p:cNvSpPr>
                <p:nvPr/>
              </p:nvSpPr>
              <p:spPr bwMode="auto">
                <a:xfrm>
                  <a:off x="43" y="3438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VIA support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681" name="Rectangle 177"/>
                <p:cNvSpPr>
                  <a:spLocks noChangeArrowheads="1"/>
                </p:cNvSpPr>
                <p:nvPr/>
              </p:nvSpPr>
              <p:spPr bwMode="auto">
                <a:xfrm>
                  <a:off x="0" y="3438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55" name="Group 178"/>
              <p:cNvGrpSpPr>
                <a:grpSpLocks/>
              </p:cNvGrpSpPr>
              <p:nvPr/>
            </p:nvGrpSpPr>
            <p:grpSpPr bwMode="auto">
              <a:xfrm>
                <a:off x="1301" y="3450"/>
                <a:ext cx="669" cy="314"/>
                <a:chOff x="705" y="3438"/>
                <a:chExt cx="518" cy="442"/>
              </a:xfrm>
            </p:grpSpPr>
            <p:sp>
              <p:nvSpPr>
                <p:cNvPr id="1429683" name="Rectangle 179"/>
                <p:cNvSpPr>
                  <a:spLocks noChangeArrowheads="1"/>
                </p:cNvSpPr>
                <p:nvPr/>
              </p:nvSpPr>
              <p:spPr bwMode="auto">
                <a:xfrm>
                  <a:off x="748" y="3438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Soon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84" name="Rectangle 180"/>
                <p:cNvSpPr>
                  <a:spLocks noChangeArrowheads="1"/>
                </p:cNvSpPr>
                <p:nvPr/>
              </p:nvSpPr>
              <p:spPr bwMode="auto">
                <a:xfrm>
                  <a:off x="705" y="3438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58" name="Group 181"/>
              <p:cNvGrpSpPr>
                <a:grpSpLocks/>
              </p:cNvGrpSpPr>
              <p:nvPr/>
            </p:nvGrpSpPr>
            <p:grpSpPr bwMode="auto">
              <a:xfrm>
                <a:off x="1970" y="3450"/>
                <a:ext cx="670" cy="314"/>
                <a:chOff x="1223" y="3438"/>
                <a:chExt cx="518" cy="442"/>
              </a:xfrm>
            </p:grpSpPr>
            <p:sp>
              <p:nvSpPr>
                <p:cNvPr id="1429686" name="Rectangle 182"/>
                <p:cNvSpPr>
                  <a:spLocks noChangeArrowheads="1"/>
                </p:cNvSpPr>
                <p:nvPr/>
              </p:nvSpPr>
              <p:spPr bwMode="auto">
                <a:xfrm>
                  <a:off x="1266" y="3438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None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87" name="Rectangle 183"/>
                <p:cNvSpPr>
                  <a:spLocks noChangeArrowheads="1"/>
                </p:cNvSpPr>
                <p:nvPr/>
              </p:nvSpPr>
              <p:spPr bwMode="auto">
                <a:xfrm>
                  <a:off x="1223" y="3438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61" name="Group 184"/>
              <p:cNvGrpSpPr>
                <a:grpSpLocks/>
              </p:cNvGrpSpPr>
              <p:nvPr/>
            </p:nvGrpSpPr>
            <p:grpSpPr bwMode="auto">
              <a:xfrm>
                <a:off x="2640" y="3448"/>
                <a:ext cx="669" cy="314"/>
                <a:chOff x="2248" y="3438"/>
                <a:chExt cx="518" cy="442"/>
              </a:xfrm>
            </p:grpSpPr>
            <p:sp>
              <p:nvSpPr>
                <p:cNvPr id="1429689" name="Rectangle 185"/>
                <p:cNvSpPr>
                  <a:spLocks noChangeArrowheads="1"/>
                </p:cNvSpPr>
                <p:nvPr/>
              </p:nvSpPr>
              <p:spPr bwMode="auto">
                <a:xfrm>
                  <a:off x="2291" y="3438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NT/Linux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90" name="Rectangle 186"/>
                <p:cNvSpPr>
                  <a:spLocks noChangeArrowheads="1"/>
                </p:cNvSpPr>
                <p:nvPr/>
              </p:nvSpPr>
              <p:spPr bwMode="auto">
                <a:xfrm>
                  <a:off x="2248" y="3438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64" name="Group 187"/>
              <p:cNvGrpSpPr>
                <a:grpSpLocks/>
              </p:cNvGrpSpPr>
              <p:nvPr/>
            </p:nvGrpSpPr>
            <p:grpSpPr bwMode="auto">
              <a:xfrm>
                <a:off x="3309" y="3448"/>
                <a:ext cx="786" cy="314"/>
                <a:chOff x="2766" y="3438"/>
                <a:chExt cx="608" cy="442"/>
              </a:xfrm>
            </p:grpSpPr>
            <p:sp>
              <p:nvSpPr>
                <p:cNvPr id="1429692" name="Rectangle 188"/>
                <p:cNvSpPr>
                  <a:spLocks noChangeArrowheads="1"/>
                </p:cNvSpPr>
                <p:nvPr/>
              </p:nvSpPr>
              <p:spPr bwMode="auto">
                <a:xfrm>
                  <a:off x="2809" y="3438"/>
                  <a:ext cx="56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 dirty="0">
                      <a:solidFill>
                        <a:srgbClr val="010000"/>
                      </a:solidFill>
                    </a:rPr>
                    <a:t>Done in hardware </a:t>
                  </a:r>
                  <a:endParaRPr lang="en-GB" altLang="ko-KR" sz="1000" b="0" u="none" dirty="0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 dirty="0"/>
                </a:p>
              </p:txBody>
            </p:sp>
            <p:sp>
              <p:nvSpPr>
                <p:cNvPr id="1429693" name="Rectangle 189"/>
                <p:cNvSpPr>
                  <a:spLocks noChangeArrowheads="1"/>
                </p:cNvSpPr>
                <p:nvPr/>
              </p:nvSpPr>
              <p:spPr bwMode="auto">
                <a:xfrm>
                  <a:off x="2766" y="3438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67" name="Group 190"/>
              <p:cNvGrpSpPr>
                <a:grpSpLocks/>
              </p:cNvGrpSpPr>
              <p:nvPr/>
            </p:nvGrpSpPr>
            <p:grpSpPr bwMode="auto">
              <a:xfrm>
                <a:off x="4086" y="3448"/>
                <a:ext cx="591" cy="314"/>
                <a:chOff x="3367" y="3438"/>
                <a:chExt cx="457" cy="442"/>
              </a:xfrm>
            </p:grpSpPr>
            <p:sp>
              <p:nvSpPr>
                <p:cNvPr id="1429695" name="Rectangle 191"/>
                <p:cNvSpPr>
                  <a:spLocks noChangeArrowheads="1"/>
                </p:cNvSpPr>
                <p:nvPr/>
              </p:nvSpPr>
              <p:spPr bwMode="auto">
                <a:xfrm>
                  <a:off x="3410" y="3438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900" b="0" u="none">
                      <a:cs typeface="Times New Roman" pitchFamily="18" charset="0"/>
                    </a:rPr>
                    <a:t>Software</a:t>
                  </a:r>
                </a:p>
                <a:p>
                  <a:pPr algn="l"/>
                  <a:r>
                    <a:rPr lang="en-GB" altLang="ko-KR" sz="900" b="0" u="none">
                      <a:cs typeface="Times New Roman" pitchFamily="18" charset="0"/>
                    </a:rPr>
                    <a:t>TCP/IP, VIA</a:t>
                  </a:r>
                </a:p>
                <a:p>
                  <a:pPr algn="l" eaLnBrk="0" hangingPunct="0"/>
                  <a:endParaRPr lang="en-GB" altLang="ko-KR" sz="900" b="0" u="none"/>
                </a:p>
              </p:txBody>
            </p:sp>
            <p:sp>
              <p:nvSpPr>
                <p:cNvPr id="1429696" name="Rectangle 192"/>
                <p:cNvSpPr>
                  <a:spLocks noChangeArrowheads="1"/>
                </p:cNvSpPr>
                <p:nvPr/>
              </p:nvSpPr>
              <p:spPr bwMode="auto">
                <a:xfrm>
                  <a:off x="3367" y="3438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70" name="Group 193"/>
              <p:cNvGrpSpPr>
                <a:grpSpLocks/>
              </p:cNvGrpSpPr>
              <p:nvPr/>
            </p:nvGrpSpPr>
            <p:grpSpPr bwMode="auto">
              <a:xfrm>
                <a:off x="4677" y="3448"/>
                <a:ext cx="762" cy="314"/>
                <a:chOff x="3824" y="3438"/>
                <a:chExt cx="590" cy="442"/>
              </a:xfrm>
            </p:grpSpPr>
            <p:sp>
              <p:nvSpPr>
                <p:cNvPr id="1429698" name="Rectangle 194"/>
                <p:cNvSpPr>
                  <a:spLocks noChangeArrowheads="1"/>
                </p:cNvSpPr>
                <p:nvPr/>
              </p:nvSpPr>
              <p:spPr bwMode="auto">
                <a:xfrm>
                  <a:off x="3867" y="3438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NT/Linux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699" name="Rectangle 195"/>
                <p:cNvSpPr>
                  <a:spLocks noChangeArrowheads="1"/>
                </p:cNvSpPr>
                <p:nvPr/>
              </p:nvSpPr>
              <p:spPr bwMode="auto">
                <a:xfrm>
                  <a:off x="3824" y="3438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73" name="Group 196"/>
              <p:cNvGrpSpPr>
                <a:grpSpLocks/>
              </p:cNvGrpSpPr>
              <p:nvPr/>
            </p:nvGrpSpPr>
            <p:grpSpPr bwMode="auto">
              <a:xfrm>
                <a:off x="390" y="3764"/>
                <a:ext cx="911" cy="314"/>
                <a:chOff x="0" y="3880"/>
                <a:chExt cx="705" cy="442"/>
              </a:xfrm>
            </p:grpSpPr>
            <p:sp>
              <p:nvSpPr>
                <p:cNvPr id="1429701" name="Rectangle 197"/>
                <p:cNvSpPr>
                  <a:spLocks noChangeArrowheads="1"/>
                </p:cNvSpPr>
                <p:nvPr/>
              </p:nvSpPr>
              <p:spPr bwMode="auto">
                <a:xfrm>
                  <a:off x="43" y="3880"/>
                  <a:ext cx="619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200" b="0" u="none">
                      <a:solidFill>
                        <a:srgbClr val="010000"/>
                      </a:solidFill>
                    </a:rPr>
                    <a:t>MPI support</a:t>
                  </a:r>
                  <a:endParaRPr lang="en-GB" altLang="ko-KR" sz="12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200" b="0" u="none"/>
                </a:p>
              </p:txBody>
            </p:sp>
            <p:sp>
              <p:nvSpPr>
                <p:cNvPr id="1429702" name="Rectangle 198"/>
                <p:cNvSpPr>
                  <a:spLocks noChangeArrowheads="1"/>
                </p:cNvSpPr>
                <p:nvPr/>
              </p:nvSpPr>
              <p:spPr bwMode="auto">
                <a:xfrm>
                  <a:off x="0" y="3880"/>
                  <a:ext cx="705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76" name="Group 199"/>
              <p:cNvGrpSpPr>
                <a:grpSpLocks/>
              </p:cNvGrpSpPr>
              <p:nvPr/>
            </p:nvGrpSpPr>
            <p:grpSpPr bwMode="auto">
              <a:xfrm>
                <a:off x="1301" y="3764"/>
                <a:ext cx="669" cy="314"/>
                <a:chOff x="705" y="3880"/>
                <a:chExt cx="518" cy="442"/>
              </a:xfrm>
            </p:grpSpPr>
            <p:sp>
              <p:nvSpPr>
                <p:cNvPr id="1429704" name="Rectangle 200"/>
                <p:cNvSpPr>
                  <a:spLocks noChangeArrowheads="1"/>
                </p:cNvSpPr>
                <p:nvPr/>
              </p:nvSpPr>
              <p:spPr bwMode="auto">
                <a:xfrm>
                  <a:off x="748" y="3880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3</a:t>
                  </a:r>
                  <a:r>
                    <a:rPr lang="en-US" sz="1000" b="0" u="none" baseline="30000">
                      <a:solidFill>
                        <a:srgbClr val="010000"/>
                      </a:solidFill>
                    </a:rPr>
                    <a:t>rd</a:t>
                  </a:r>
                  <a:r>
                    <a:rPr lang="en-US" sz="1000" b="0" u="none">
                      <a:solidFill>
                        <a:srgbClr val="010000"/>
                      </a:solidFill>
                    </a:rPr>
                    <a:t> party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705" name="Rectangle 201"/>
                <p:cNvSpPr>
                  <a:spLocks noChangeArrowheads="1"/>
                </p:cNvSpPr>
                <p:nvPr/>
              </p:nvSpPr>
              <p:spPr bwMode="auto">
                <a:xfrm>
                  <a:off x="705" y="3880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79" name="Group 202"/>
              <p:cNvGrpSpPr>
                <a:grpSpLocks/>
              </p:cNvGrpSpPr>
              <p:nvPr/>
            </p:nvGrpSpPr>
            <p:grpSpPr bwMode="auto">
              <a:xfrm>
                <a:off x="1970" y="3764"/>
                <a:ext cx="670" cy="314"/>
                <a:chOff x="1223" y="3880"/>
                <a:chExt cx="518" cy="442"/>
              </a:xfrm>
            </p:grpSpPr>
            <p:sp>
              <p:nvSpPr>
                <p:cNvPr id="1429707" name="Rectangle 203"/>
                <p:cNvSpPr>
                  <a:spLocks noChangeArrowheads="1"/>
                </p:cNvSpPr>
                <p:nvPr/>
              </p:nvSpPr>
              <p:spPr bwMode="auto">
                <a:xfrm>
                  <a:off x="1266" y="3880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>
                      <a:solidFill>
                        <a:srgbClr val="010000"/>
                      </a:solidFill>
                    </a:rPr>
                    <a:t>Quadrics/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r>
                    <a:rPr lang="en-US" sz="1000" b="0" u="none">
                      <a:solidFill>
                        <a:srgbClr val="010000"/>
                      </a:solidFill>
                    </a:rPr>
                    <a:t>Compaq 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708" name="Rectangle 204"/>
                <p:cNvSpPr>
                  <a:spLocks noChangeArrowheads="1"/>
                </p:cNvSpPr>
                <p:nvPr/>
              </p:nvSpPr>
              <p:spPr bwMode="auto">
                <a:xfrm>
                  <a:off x="1223" y="3880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82" name="Group 205"/>
              <p:cNvGrpSpPr>
                <a:grpSpLocks/>
              </p:cNvGrpSpPr>
              <p:nvPr/>
            </p:nvGrpSpPr>
            <p:grpSpPr bwMode="auto">
              <a:xfrm>
                <a:off x="2640" y="3762"/>
                <a:ext cx="669" cy="314"/>
                <a:chOff x="2248" y="3880"/>
                <a:chExt cx="518" cy="442"/>
              </a:xfrm>
            </p:grpSpPr>
            <p:sp>
              <p:nvSpPr>
                <p:cNvPr id="1429710" name="Rectangle 206"/>
                <p:cNvSpPr>
                  <a:spLocks noChangeArrowheads="1"/>
                </p:cNvSpPr>
                <p:nvPr/>
              </p:nvSpPr>
              <p:spPr bwMode="auto">
                <a:xfrm>
                  <a:off x="2291" y="3880"/>
                  <a:ext cx="432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/>
                    <a:t>3</a:t>
                  </a:r>
                  <a:r>
                    <a:rPr lang="en-GB" altLang="ko-KR" sz="1000" b="0" u="none" baseline="30000"/>
                    <a:t>rd</a:t>
                  </a:r>
                  <a:r>
                    <a:rPr lang="en-GB" altLang="ko-KR" sz="1000" b="0" u="none"/>
                    <a:t> Party</a:t>
                  </a:r>
                  <a:endParaRPr lang="en-GB" altLang="ko-KR" sz="1000" b="0" u="none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711" name="Rectangle 207"/>
                <p:cNvSpPr>
                  <a:spLocks noChangeArrowheads="1"/>
                </p:cNvSpPr>
                <p:nvPr/>
              </p:nvSpPr>
              <p:spPr bwMode="auto">
                <a:xfrm>
                  <a:off x="2248" y="3880"/>
                  <a:ext cx="518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85" name="Group 208"/>
              <p:cNvGrpSpPr>
                <a:grpSpLocks/>
              </p:cNvGrpSpPr>
              <p:nvPr/>
            </p:nvGrpSpPr>
            <p:grpSpPr bwMode="auto">
              <a:xfrm>
                <a:off x="3309" y="3762"/>
                <a:ext cx="786" cy="314"/>
                <a:chOff x="2766" y="3880"/>
                <a:chExt cx="608" cy="442"/>
              </a:xfrm>
            </p:grpSpPr>
            <p:sp>
              <p:nvSpPr>
                <p:cNvPr id="1429713" name="Rectangle 209"/>
                <p:cNvSpPr>
                  <a:spLocks noChangeArrowheads="1"/>
                </p:cNvSpPr>
                <p:nvPr/>
              </p:nvSpPr>
              <p:spPr bwMode="auto">
                <a:xfrm>
                  <a:off x="2809" y="3880"/>
                  <a:ext cx="565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US" sz="1000" b="0" u="none" dirty="0">
                      <a:solidFill>
                        <a:srgbClr val="010000"/>
                      </a:solidFill>
                    </a:rPr>
                    <a:t>Compaq/3</a:t>
                  </a:r>
                  <a:r>
                    <a:rPr lang="en-US" sz="1000" b="0" u="none" baseline="30000" dirty="0">
                      <a:solidFill>
                        <a:srgbClr val="010000"/>
                      </a:solidFill>
                    </a:rPr>
                    <a:t>rd</a:t>
                  </a:r>
                  <a:r>
                    <a:rPr lang="en-US" sz="1000" b="0" u="none" dirty="0">
                      <a:solidFill>
                        <a:srgbClr val="010000"/>
                      </a:solidFill>
                    </a:rPr>
                    <a:t> party </a:t>
                  </a:r>
                  <a:endParaRPr lang="en-GB" altLang="ko-KR" sz="1000" b="0" u="none" dirty="0">
                    <a:cs typeface="Times New Roman" pitchFamily="18" charset="0"/>
                  </a:endParaRPr>
                </a:p>
                <a:p>
                  <a:pPr algn="l" eaLnBrk="0" hangingPunct="0"/>
                  <a:endParaRPr lang="en-GB" altLang="ko-KR" sz="1000" b="0" u="none" dirty="0"/>
                </a:p>
              </p:txBody>
            </p:sp>
            <p:sp>
              <p:nvSpPr>
                <p:cNvPr id="1429714" name="Rectangle 210"/>
                <p:cNvSpPr>
                  <a:spLocks noChangeArrowheads="1"/>
                </p:cNvSpPr>
                <p:nvPr/>
              </p:nvSpPr>
              <p:spPr bwMode="auto">
                <a:xfrm>
                  <a:off x="2766" y="3880"/>
                  <a:ext cx="601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88" name="Group 211"/>
              <p:cNvGrpSpPr>
                <a:grpSpLocks/>
              </p:cNvGrpSpPr>
              <p:nvPr/>
            </p:nvGrpSpPr>
            <p:grpSpPr bwMode="auto">
              <a:xfrm>
                <a:off x="4086" y="3762"/>
                <a:ext cx="591" cy="314"/>
                <a:chOff x="3367" y="3880"/>
                <a:chExt cx="457" cy="442"/>
              </a:xfrm>
            </p:grpSpPr>
            <p:sp>
              <p:nvSpPr>
                <p:cNvPr id="1429716" name="Rectangle 212"/>
                <p:cNvSpPr>
                  <a:spLocks noChangeArrowheads="1"/>
                </p:cNvSpPr>
                <p:nvPr/>
              </p:nvSpPr>
              <p:spPr bwMode="auto">
                <a:xfrm>
                  <a:off x="3410" y="3880"/>
                  <a:ext cx="371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 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717" name="Rectangle 213"/>
                <p:cNvSpPr>
                  <a:spLocks noChangeArrowheads="1"/>
                </p:cNvSpPr>
                <p:nvPr/>
              </p:nvSpPr>
              <p:spPr bwMode="auto">
                <a:xfrm>
                  <a:off x="3367" y="3880"/>
                  <a:ext cx="457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grpSp>
            <p:nvGrpSpPr>
              <p:cNvPr id="1429691" name="Group 214"/>
              <p:cNvGrpSpPr>
                <a:grpSpLocks/>
              </p:cNvGrpSpPr>
              <p:nvPr/>
            </p:nvGrpSpPr>
            <p:grpSpPr bwMode="auto">
              <a:xfrm>
                <a:off x="4677" y="3762"/>
                <a:ext cx="762" cy="314"/>
                <a:chOff x="3824" y="3880"/>
                <a:chExt cx="590" cy="442"/>
              </a:xfrm>
            </p:grpSpPr>
            <p:sp>
              <p:nvSpPr>
                <p:cNvPr id="1429719" name="Rectangle 215"/>
                <p:cNvSpPr>
                  <a:spLocks noChangeArrowheads="1"/>
                </p:cNvSpPr>
                <p:nvPr/>
              </p:nvSpPr>
              <p:spPr bwMode="auto">
                <a:xfrm>
                  <a:off x="3867" y="3880"/>
                  <a:ext cx="504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l"/>
                  <a:r>
                    <a:rPr lang="en-GB" altLang="ko-KR" sz="1000" b="0" u="none">
                      <a:cs typeface="Times New Roman" pitchFamily="18" charset="0"/>
                    </a:rPr>
                    <a:t>MPICH – TCP/IP</a:t>
                  </a:r>
                </a:p>
                <a:p>
                  <a:pPr algn="l" eaLnBrk="0" hangingPunct="0"/>
                  <a:endParaRPr lang="en-GB" altLang="ko-KR" sz="1000" b="0" u="none"/>
                </a:p>
              </p:txBody>
            </p:sp>
            <p:sp>
              <p:nvSpPr>
                <p:cNvPr id="1429720" name="Rectangle 216"/>
                <p:cNvSpPr>
                  <a:spLocks noChangeArrowheads="1"/>
                </p:cNvSpPr>
                <p:nvPr/>
              </p:nvSpPr>
              <p:spPr bwMode="auto">
                <a:xfrm>
                  <a:off x="3824" y="3880"/>
                  <a:ext cx="590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ko-KR" altLang="en-US" b="0" u="none"/>
                </a:p>
              </p:txBody>
            </p:sp>
          </p:grpSp>
          <p:sp>
            <p:nvSpPr>
              <p:cNvPr id="1429721" name="Text Box 217"/>
              <p:cNvSpPr txBox="1">
                <a:spLocks noChangeArrowheads="1"/>
              </p:cNvSpPr>
              <p:nvPr/>
            </p:nvSpPr>
            <p:spPr bwMode="auto">
              <a:xfrm>
                <a:off x="2711" y="2830"/>
                <a:ext cx="44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en-GB" altLang="ko-KR" sz="1000" b="0" u="none"/>
                  <a:t>1000’s</a:t>
                </a:r>
                <a:endParaRPr lang="en-GB" altLang="ko-KR" sz="1600" b="0" u="none"/>
              </a:p>
            </p:txBody>
          </p:sp>
          <p:sp>
            <p:nvSpPr>
              <p:cNvPr id="1429722" name="Text Box 218"/>
              <p:cNvSpPr txBox="1">
                <a:spLocks noChangeArrowheads="1"/>
              </p:cNvSpPr>
              <p:nvPr/>
            </p:nvSpPr>
            <p:spPr bwMode="auto">
              <a:xfrm>
                <a:off x="4102" y="3118"/>
                <a:ext cx="5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en-US" sz="1000" b="0" u="none">
                    <a:solidFill>
                      <a:srgbClr val="010000"/>
                    </a:solidFill>
                  </a:rPr>
                  <a:t>Firmware</a:t>
                </a:r>
                <a:endParaRPr lang="en-GB" altLang="ko-KR" sz="1000" b="0" u="none">
                  <a:cs typeface="Times New Roman" pitchFamily="18" charset="0"/>
                </a:endParaRPr>
              </a:p>
              <a:p>
                <a:pPr algn="l" eaLnBrk="0" hangingPunct="0"/>
                <a:r>
                  <a:rPr lang="en-US" sz="1000" b="0" u="none">
                    <a:solidFill>
                      <a:srgbClr val="010000"/>
                    </a:solidFill>
                  </a:rPr>
                  <a:t>on adapter</a:t>
                </a:r>
                <a:endParaRPr lang="en-GB" altLang="ko-KR" sz="1600" b="0" u="none"/>
              </a:p>
            </p:txBody>
          </p:sp>
          <p:sp>
            <p:nvSpPr>
              <p:cNvPr id="1429723" name="Text Box 219"/>
              <p:cNvSpPr txBox="1">
                <a:spLocks noChangeArrowheads="1"/>
              </p:cNvSpPr>
              <p:nvPr/>
            </p:nvSpPr>
            <p:spPr bwMode="auto">
              <a:xfrm>
                <a:off x="4102" y="1966"/>
                <a:ext cx="563" cy="3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1400" b="0" u="none" dirty="0">
                    <a:solidFill>
                      <a:schemeClr val="hlink"/>
                    </a:solidFill>
                  </a:rPr>
                  <a:t>~$1.5K</a:t>
                </a:r>
                <a:endParaRPr lang="en-GB" altLang="ko-KR" sz="1400" b="0" u="none" dirty="0">
                  <a:solidFill>
                    <a:schemeClr val="hlink"/>
                  </a:solidFill>
                  <a:cs typeface="Times New Roman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GB" altLang="ko-KR" sz="1400" b="0" u="none" dirty="0">
                  <a:solidFill>
                    <a:schemeClr val="hlink"/>
                  </a:solidFill>
                </a:endParaRPr>
              </a:p>
            </p:txBody>
          </p:sp>
          <p:sp>
            <p:nvSpPr>
              <p:cNvPr id="1429724" name="Text Box 220"/>
              <p:cNvSpPr txBox="1">
                <a:spLocks noChangeArrowheads="1"/>
              </p:cNvSpPr>
              <p:nvPr/>
            </p:nvSpPr>
            <p:spPr bwMode="auto">
              <a:xfrm>
                <a:off x="4152" y="3790"/>
                <a:ext cx="44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altLang="ko-KR" sz="1000" b="0" u="none"/>
                  <a:t>3</a:t>
                </a:r>
                <a:r>
                  <a:rPr lang="en-GB" altLang="ko-KR" sz="1000" b="0" u="none" baseline="30000"/>
                  <a:t>rd</a:t>
                </a:r>
                <a:r>
                  <a:rPr lang="en-GB" altLang="ko-KR" sz="1000" b="0" u="none"/>
                  <a:t> Party</a:t>
                </a:r>
              </a:p>
            </p:txBody>
          </p:sp>
        </p:grpSp>
        <p:sp>
          <p:nvSpPr>
            <p:cNvPr id="1429725" name="Text Box 221"/>
            <p:cNvSpPr txBox="1">
              <a:spLocks noChangeArrowheads="1"/>
            </p:cNvSpPr>
            <p:nvPr/>
          </p:nvSpPr>
          <p:spPr bwMode="auto">
            <a:xfrm>
              <a:off x="2640" y="1968"/>
              <a:ext cx="67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altLang="ko-KR" sz="1400" b="0" u="none">
                  <a:solidFill>
                    <a:schemeClr val="hlink"/>
                  </a:solidFill>
                </a:rPr>
                <a:t>~$1.5K</a:t>
              </a:r>
            </a:p>
          </p:txBody>
        </p:sp>
      </p:grpSp>
      <p:sp>
        <p:nvSpPr>
          <p:cNvPr id="223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142875"/>
            <a:ext cx="8243888" cy="500063"/>
          </a:xfrm>
          <a:noFill/>
          <a:ln/>
        </p:spPr>
        <p:txBody>
          <a:bodyPr lIns="90488" tIns="44450" rIns="90488" bIns="44450"/>
          <a:lstStyle/>
          <a:p>
            <a:r>
              <a:rPr lang="en-US" altLang="zh-CN" dirty="0"/>
              <a:t>Prominent Components of </a:t>
            </a:r>
            <a:r>
              <a:rPr lang="en-US" altLang="zh-CN" dirty="0" smtClean="0"/>
              <a:t>Cluster Computers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38524"/>
            <a:ext cx="8610600" cy="5105400"/>
          </a:xfrm>
          <a:noFill/>
          <a:ln/>
        </p:spPr>
        <p:txBody>
          <a:bodyPr lIns="90488" tIns="44450" rIns="90488" bIns="44450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Cluster Middleware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Resource </a:t>
            </a:r>
            <a:r>
              <a:rPr lang="en-US" altLang="zh-CN" b="0" dirty="0"/>
              <a:t>management </a:t>
            </a:r>
            <a:r>
              <a:rPr lang="en-US" altLang="zh-CN" b="0" dirty="0" smtClean="0"/>
              <a:t>and scheduling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Fault handling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Migration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b="0" dirty="0" smtClean="0"/>
              <a:t>Load balancing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zh-CN" sz="240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zh-CN" sz="24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142875"/>
            <a:ext cx="8243888" cy="500063"/>
          </a:xfrm>
          <a:noFill/>
          <a:ln/>
        </p:spPr>
        <p:txBody>
          <a:bodyPr lIns="90488" tIns="44450" rIns="90488" bIns="44450"/>
          <a:lstStyle/>
          <a:p>
            <a:r>
              <a:rPr lang="en-US" altLang="zh-CN" dirty="0"/>
              <a:t>Prominent Components of </a:t>
            </a:r>
            <a:r>
              <a:rPr lang="en-US" altLang="zh-CN" dirty="0" smtClean="0"/>
              <a:t>Cluster Computers</a:t>
            </a: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00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2707517"/>
            <a:ext cx="8749480" cy="12498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b="1" dirty="0" smtClean="0">
                <a:solidFill>
                  <a:schemeClr val="bg1"/>
                </a:solidFill>
              </a:rPr>
              <a:t>Grid 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Computing</a:t>
            </a:r>
            <a:r>
              <a:rPr lang="en-US" altLang="ko-KR" sz="1400" i="1" dirty="0" smtClean="0">
                <a:solidFill>
                  <a:schemeClr val="bg1"/>
                </a:solidFill>
              </a:rPr>
              <a:t/>
            </a:r>
            <a:br>
              <a:rPr lang="en-US" altLang="ko-KR" sz="1400" i="1" dirty="0" smtClean="0">
                <a:solidFill>
                  <a:schemeClr val="bg1"/>
                </a:solidFill>
              </a:rPr>
            </a:br>
            <a:endParaRPr lang="ko-KR" altLang="ko-KR" sz="1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7772400" cy="4114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Cluster </a:t>
            </a:r>
            <a:r>
              <a:rPr lang="en-US" altLang="ko-KR" b="0" dirty="0">
                <a:ea typeface="굴림" charset="-127"/>
              </a:rPr>
              <a:t>- How can we use </a:t>
            </a:r>
            <a:r>
              <a:rPr lang="en-US" altLang="ko-KR" b="0" dirty="0">
                <a:solidFill>
                  <a:srgbClr val="FF0000"/>
                </a:solidFill>
                <a:ea typeface="굴림" charset="-127"/>
              </a:rPr>
              <a:t>local networked resources</a:t>
            </a:r>
            <a:r>
              <a:rPr lang="en-US" altLang="ko-KR" b="0" dirty="0">
                <a:ea typeface="굴림" charset="-127"/>
              </a:rPr>
              <a:t> to achieve better performance for large scale applications</a:t>
            </a:r>
            <a:r>
              <a:rPr lang="en-US" altLang="ko-KR" b="0" dirty="0" smtClean="0">
                <a:ea typeface="굴림" charset="-127"/>
              </a:rPr>
              <a:t>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High speed networks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Centralized resource and task management </a:t>
            </a:r>
            <a:endParaRPr lang="en-US" altLang="ko-KR" b="0" dirty="0">
              <a:ea typeface="굴림" charset="-127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altLang="ko-KR" b="0" dirty="0" smtClean="0">
              <a:ea typeface="굴림" charset="-127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How </a:t>
            </a:r>
            <a:r>
              <a:rPr lang="en-US" altLang="ko-KR" b="0" dirty="0">
                <a:ea typeface="굴림" charset="-127"/>
              </a:rPr>
              <a:t>can we put together </a:t>
            </a:r>
            <a:r>
              <a:rPr lang="en-US" altLang="ko-KR" b="0" dirty="0">
                <a:solidFill>
                  <a:srgbClr val="FF0000"/>
                </a:solidFill>
                <a:ea typeface="굴림" charset="-127"/>
              </a:rPr>
              <a:t>geographically distributed resources</a:t>
            </a:r>
            <a:r>
              <a:rPr lang="en-US" altLang="ko-KR" b="0" dirty="0">
                <a:ea typeface="굴림" charset="-127"/>
              </a:rPr>
              <a:t> </a:t>
            </a:r>
            <a:r>
              <a:rPr lang="en-US" altLang="ko-KR" b="0" dirty="0" smtClean="0">
                <a:ea typeface="굴림" charset="-127"/>
              </a:rPr>
              <a:t>to </a:t>
            </a:r>
            <a:r>
              <a:rPr lang="en-US" altLang="ko-KR" b="0" dirty="0">
                <a:ea typeface="굴림" charset="-127"/>
              </a:rPr>
              <a:t>achieve even better results? </a:t>
            </a:r>
            <a:endParaRPr lang="en-US" altLang="ko-KR" b="0" dirty="0" smtClean="0">
              <a:ea typeface="굴림" charset="-127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Distributed resource and task management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No high speed connections</a:t>
            </a:r>
          </a:p>
          <a:p>
            <a:pPr marL="571500" lvl="2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endParaRPr lang="en-US" altLang="ko-KR" b="0" dirty="0" smtClean="0">
              <a:ea typeface="굴림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>
              <a:ea typeface="굴림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>
              <a:ea typeface="굴림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b="0" dirty="0">
              <a:ea typeface="굴림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Grid Computing</a:t>
            </a:r>
            <a:r>
              <a:rPr kumimoji="1" lang="en-US" altLang="ko-KR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 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019" name="Picture 3" descr="j026305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24750" y="1989138"/>
            <a:ext cx="1279525" cy="914400"/>
          </a:xfrm>
          <a:noFill/>
          <a:ln/>
        </p:spPr>
      </p:pic>
      <p:pic>
        <p:nvPicPr>
          <p:cNvPr id="342020" name="Picture 4" descr="j0254443"/>
          <p:cNvPicPr>
            <a:picLocks noGrp="1" noChangeAspect="1" noChangeArrowheads="1" noCrop="1"/>
          </p:cNvPicPr>
          <p:nvPr>
            <p:ph sz="quarter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422775" y="2898775"/>
            <a:ext cx="2743200" cy="1993900"/>
          </a:xfrm>
          <a:noFill/>
          <a:ln/>
        </p:spPr>
      </p:pic>
      <p:pic>
        <p:nvPicPr>
          <p:cNvPr id="342021" name="Picture 5" descr="j026305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24750" y="3068638"/>
            <a:ext cx="1279525" cy="914400"/>
          </a:xfrm>
          <a:noFill/>
          <a:ln/>
        </p:spPr>
      </p:pic>
      <p:pic>
        <p:nvPicPr>
          <p:cNvPr id="342022" name="Picture 6" descr="j026305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524750" y="4221163"/>
            <a:ext cx="1279525" cy="914400"/>
          </a:xfrm>
          <a:noFill/>
          <a:ln/>
        </p:spPr>
      </p:pic>
      <p:pic>
        <p:nvPicPr>
          <p:cNvPr id="342023" name="Picture 7" descr="j022905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7013" y="3141663"/>
            <a:ext cx="1824037" cy="1255712"/>
          </a:xfrm>
          <a:prstGeom prst="rect">
            <a:avLst/>
          </a:prstGeom>
          <a:noFill/>
        </p:spPr>
      </p:pic>
      <p:pic>
        <p:nvPicPr>
          <p:cNvPr id="342024" name="Picture 8" descr="j030869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5513" y="3213100"/>
            <a:ext cx="1831975" cy="974725"/>
          </a:xfrm>
          <a:prstGeom prst="rect">
            <a:avLst/>
          </a:prstGeom>
          <a:noFill/>
        </p:spPr>
      </p:pic>
      <p:sp>
        <p:nvSpPr>
          <p:cNvPr id="342025" name="Text Box 9"/>
          <p:cNvSpPr txBox="1">
            <a:spLocks noChangeArrowheads="1"/>
          </p:cNvSpPr>
          <p:nvPr/>
        </p:nvSpPr>
        <p:spPr bwMode="auto">
          <a:xfrm>
            <a:off x="7451725" y="5589588"/>
            <a:ext cx="1441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b="1">
                <a:solidFill>
                  <a:schemeClr val="tx2"/>
                </a:solidFill>
                <a:latin typeface="Arial" charset="0"/>
              </a:rPr>
              <a:t>Information</a:t>
            </a:r>
          </a:p>
          <a:p>
            <a:r>
              <a:rPr lang="en-GB" sz="1800" b="1">
                <a:solidFill>
                  <a:schemeClr val="tx2"/>
                </a:solidFill>
                <a:latin typeface="Arial" charset="0"/>
              </a:rPr>
              <a:t>Generators</a:t>
            </a:r>
          </a:p>
        </p:txBody>
      </p:sp>
      <p:sp>
        <p:nvSpPr>
          <p:cNvPr id="342026" name="Rectangle 10"/>
          <p:cNvSpPr>
            <a:spLocks noChangeArrowheads="1"/>
          </p:cNvSpPr>
          <p:nvPr/>
        </p:nvSpPr>
        <p:spPr bwMode="auto">
          <a:xfrm>
            <a:off x="4427538" y="5734050"/>
            <a:ext cx="2711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 b="1">
                <a:solidFill>
                  <a:schemeClr val="tx2"/>
                </a:solidFill>
                <a:latin typeface="Arial" charset="0"/>
              </a:rPr>
              <a:t>Information Distributed</a:t>
            </a:r>
          </a:p>
          <a:p>
            <a:r>
              <a:rPr lang="en-GB" sz="1800" b="1">
                <a:solidFill>
                  <a:schemeClr val="tx2"/>
                </a:solidFill>
                <a:latin typeface="Arial" charset="0"/>
              </a:rPr>
              <a:t>Over the Grid</a:t>
            </a:r>
          </a:p>
        </p:txBody>
      </p:sp>
      <p:sp>
        <p:nvSpPr>
          <p:cNvPr id="342027" name="Rectangle 11"/>
          <p:cNvSpPr>
            <a:spLocks noChangeArrowheads="1"/>
          </p:cNvSpPr>
          <p:nvPr/>
        </p:nvSpPr>
        <p:spPr bwMode="auto">
          <a:xfrm>
            <a:off x="468313" y="4868863"/>
            <a:ext cx="1441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>
                <a:solidFill>
                  <a:schemeClr val="tx2"/>
                </a:solidFill>
                <a:latin typeface="Arial" charset="0"/>
              </a:rPr>
              <a:t>Customer</a:t>
            </a:r>
          </a:p>
        </p:txBody>
      </p:sp>
      <p:sp>
        <p:nvSpPr>
          <p:cNvPr id="342028" name="Rectangle 12"/>
          <p:cNvSpPr>
            <a:spLocks noChangeArrowheads="1"/>
          </p:cNvSpPr>
          <p:nvPr/>
        </p:nvSpPr>
        <p:spPr bwMode="auto">
          <a:xfrm>
            <a:off x="2339975" y="4724400"/>
            <a:ext cx="14414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1800" b="1" dirty="0">
                <a:solidFill>
                  <a:schemeClr val="tx2"/>
                </a:solidFill>
                <a:latin typeface="Arial" charset="0"/>
              </a:rPr>
              <a:t>Access to </a:t>
            </a:r>
            <a:endParaRPr lang="en-GB" sz="1800" b="1" dirty="0" smtClean="0">
              <a:solidFill>
                <a:schemeClr val="tx2"/>
              </a:solidFill>
              <a:latin typeface="Arial" charset="0"/>
            </a:endParaRPr>
          </a:p>
          <a:p>
            <a:r>
              <a:rPr lang="en-GB" sz="1800" b="1" dirty="0" smtClean="0">
                <a:solidFill>
                  <a:schemeClr val="tx2"/>
                </a:solidFill>
                <a:latin typeface="Arial" charset="0"/>
              </a:rPr>
              <a:t>Information </a:t>
            </a:r>
            <a:r>
              <a:rPr lang="en-GB" sz="1800" b="1" dirty="0">
                <a:solidFill>
                  <a:schemeClr val="tx2"/>
                </a:solidFill>
                <a:latin typeface="Arial" charset="0"/>
              </a:rPr>
              <a:t>Grid</a:t>
            </a:r>
          </a:p>
        </p:txBody>
      </p:sp>
      <p:sp>
        <p:nvSpPr>
          <p:cNvPr id="14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67544" y="764704"/>
            <a:ext cx="8424936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1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</a:rPr>
              <a:t>Computing power should be available on demand, for a fee</a:t>
            </a:r>
          </a:p>
          <a:p>
            <a:pPr marL="625475" marR="0" lvl="1" indent="-168275" algn="l" defTabSz="914400" rtl="0" eaLnBrk="0" fontAlgn="base" latinLnBrk="1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>
                <a:tab pos="625475" algn="l"/>
              </a:tabLst>
              <a:defRPr/>
            </a:pPr>
            <a:r>
              <a:rPr kumimoji="1" lang="en-US" altLang="ko-KR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</a:rPr>
              <a:t>Just like the electrical power grid.</a:t>
            </a:r>
          </a:p>
          <a:p>
            <a:pPr marL="342900" marR="0" lvl="0" indent="-342900" algn="l" defTabSz="914400" rtl="0" eaLnBrk="0" fontAlgn="base" latinLnBrk="1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42925" y="142875"/>
            <a:ext cx="8243888" cy="500063"/>
          </a:xfrm>
        </p:spPr>
        <p:txBody>
          <a:bodyPr/>
          <a:lstStyle/>
          <a:p>
            <a:pPr latinLnBrk="0"/>
            <a:r>
              <a:rPr lang="en-US" altLang="ko-KR" b="1" dirty="0" smtClean="0"/>
              <a:t>Basic Idea</a:t>
            </a:r>
            <a:endParaRPr lang="ko-KR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542925" y="142875"/>
            <a:ext cx="8243888" cy="500063"/>
          </a:xfrm>
        </p:spPr>
        <p:txBody>
          <a:bodyPr/>
          <a:lstStyle/>
          <a:p>
            <a:pPr latinLnBrk="0"/>
            <a:r>
              <a:rPr lang="en-US" altLang="ko-KR" b="1" dirty="0" smtClean="0"/>
              <a:t>Grid and Cluster</a:t>
            </a:r>
            <a:endParaRPr lang="ko-KR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14018" y="940192"/>
            <a:ext cx="6264696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Grid Computing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/>
          <a:lstStyle/>
          <a:p>
            <a:fld id="{6155D5D7-502C-4416-BAF2-1264D7039E1F}" type="slidenum">
              <a:rPr lang="zh-CN" altLang="en-US"/>
              <a:pPr/>
              <a:t>15</a:t>
            </a:fld>
            <a:endParaRPr lang="zh-CN" altLang="en-US"/>
          </a:p>
        </p:txBody>
      </p:sp>
      <p:sp>
        <p:nvSpPr>
          <p:cNvPr id="16387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467544" y="1042366"/>
            <a:ext cx="8458200" cy="4456113"/>
          </a:xfrm>
        </p:spPr>
        <p:txBody>
          <a:bodyPr/>
          <a:lstStyle/>
          <a:p>
            <a:r>
              <a:rPr lang="en-US" altLang="zh-CN" sz="2400" b="0" dirty="0">
                <a:ea typeface="宋体" pitchFamily="2" charset="-122"/>
              </a:rPr>
              <a:t>Core networking technology now accelerates at a </a:t>
            </a:r>
            <a:r>
              <a:rPr lang="en-US" altLang="zh-CN" sz="2400" b="0" dirty="0" smtClean="0">
                <a:ea typeface="宋体" pitchFamily="2" charset="-122"/>
              </a:rPr>
              <a:t>     much </a:t>
            </a:r>
            <a:r>
              <a:rPr lang="en-US" altLang="zh-CN" sz="2400" b="0" dirty="0">
                <a:ea typeface="宋体" pitchFamily="2" charset="-122"/>
              </a:rPr>
              <a:t>faster rate than advances in microprocessor </a:t>
            </a:r>
            <a:r>
              <a:rPr lang="en-US" altLang="zh-CN" sz="2400" b="0" dirty="0" smtClean="0">
                <a:ea typeface="宋体" pitchFamily="2" charset="-122"/>
              </a:rPr>
              <a:t>     speeds</a:t>
            </a:r>
            <a:r>
              <a:rPr lang="en-US" altLang="zh-CN" b="0" dirty="0" smtClean="0">
                <a:ea typeface="宋体" pitchFamily="2" charset="-122"/>
              </a:rPr>
              <a:t> </a:t>
            </a:r>
            <a:endParaRPr lang="en-US" altLang="zh-CN" b="0" dirty="0">
              <a:ea typeface="宋体" pitchFamily="2" charset="-122"/>
            </a:endParaRPr>
          </a:p>
          <a:p>
            <a:endParaRPr lang="en-US" altLang="zh-CN" sz="2400" b="0" dirty="0" smtClean="0">
              <a:ea typeface="宋体" pitchFamily="2" charset="-122"/>
            </a:endParaRPr>
          </a:p>
          <a:p>
            <a:r>
              <a:rPr lang="en-US" altLang="zh-CN" sz="2400" b="0" dirty="0" smtClean="0">
                <a:ea typeface="宋体" pitchFamily="2" charset="-122"/>
              </a:rPr>
              <a:t>Exploiting </a:t>
            </a:r>
            <a:r>
              <a:rPr lang="en-US" altLang="zh-CN" sz="2400" b="0" dirty="0">
                <a:ea typeface="宋体" pitchFamily="2" charset="-122"/>
              </a:rPr>
              <a:t>under utilized resources</a:t>
            </a:r>
          </a:p>
          <a:p>
            <a:endParaRPr lang="en-US" altLang="zh-CN" sz="2400" b="0" dirty="0" smtClean="0">
              <a:ea typeface="宋体" pitchFamily="2" charset="-122"/>
            </a:endParaRPr>
          </a:p>
          <a:p>
            <a:r>
              <a:rPr lang="en-US" altLang="zh-CN" sz="2400" b="0" dirty="0" smtClean="0">
                <a:ea typeface="宋体" pitchFamily="2" charset="-122"/>
              </a:rPr>
              <a:t>Parallel </a:t>
            </a:r>
            <a:r>
              <a:rPr lang="en-US" altLang="zh-CN" sz="2400" b="0" dirty="0">
                <a:ea typeface="宋体" pitchFamily="2" charset="-122"/>
              </a:rPr>
              <a:t>CPU capacity</a:t>
            </a:r>
          </a:p>
          <a:p>
            <a:endParaRPr lang="en-US" altLang="zh-CN" sz="2400" b="0" dirty="0" smtClean="0">
              <a:ea typeface="宋体" pitchFamily="2" charset="-122"/>
            </a:endParaRPr>
          </a:p>
          <a:p>
            <a:r>
              <a:rPr lang="en-US" altLang="zh-CN" sz="2400" b="0" dirty="0" smtClean="0">
                <a:ea typeface="宋体" pitchFamily="2" charset="-122"/>
              </a:rPr>
              <a:t>Access </a:t>
            </a:r>
            <a:r>
              <a:rPr lang="en-US" altLang="zh-CN" sz="2400" b="0" dirty="0">
                <a:ea typeface="宋体" pitchFamily="2" charset="-122"/>
              </a:rPr>
              <a:t>to additional resources</a:t>
            </a:r>
          </a:p>
          <a:p>
            <a:endParaRPr lang="en-US" altLang="zh-CN" sz="2400" b="0" dirty="0">
              <a:ea typeface="宋体" pitchFamily="2" charset="-122"/>
            </a:endParaRPr>
          </a:p>
          <a:p>
            <a:endParaRPr lang="en-US" altLang="zh-CN" b="0" dirty="0">
              <a:ea typeface="宋体" pitchFamily="2" charset="-122"/>
            </a:endParaRPr>
          </a:p>
          <a:p>
            <a:pPr>
              <a:buFontTx/>
              <a:buNone/>
            </a:pPr>
            <a:endParaRPr lang="zh-CN" altLang="en-US" b="0" dirty="0">
              <a:ea typeface="宋体" pitchFamily="2" charset="-122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Why Grid Computing?</a:t>
            </a:r>
            <a:r>
              <a:rPr kumimoji="1" lang="en-US" altLang="ko-K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 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331640" y="2276872"/>
            <a:ext cx="5904656" cy="3559696"/>
            <a:chOff x="1403648" y="1484784"/>
            <a:chExt cx="6934200" cy="4495800"/>
          </a:xfrm>
        </p:grpSpPr>
        <p:sp>
          <p:nvSpPr>
            <p:cNvPr id="110609" name="AutoShape 17"/>
            <p:cNvSpPr>
              <a:spLocks noChangeArrowheads="1"/>
            </p:cNvSpPr>
            <p:nvPr/>
          </p:nvSpPr>
          <p:spPr bwMode="auto">
            <a:xfrm>
              <a:off x="1403648" y="1484784"/>
              <a:ext cx="6934200" cy="4495800"/>
            </a:xfrm>
            <a:prstGeom prst="cloudCallout">
              <a:avLst>
                <a:gd name="adj1" fmla="val -63736"/>
                <a:gd name="adj2" fmla="val 47282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ko-KR" altLang="ko-KR"/>
            </a:p>
          </p:txBody>
        </p:sp>
        <p:pic>
          <p:nvPicPr>
            <p:cNvPr id="110597" name="Picture 5" descr="clustergrid_fig1"/>
            <p:cNvPicPr>
              <a:picLocks noGrp="1" noChangeAspect="1" noChangeArrowheads="1"/>
            </p:cNvPicPr>
            <p:nvPr>
              <p:ph idx="1"/>
            </p:nvPr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3886200" y="2819400"/>
              <a:ext cx="4191000" cy="2341563"/>
            </a:xfrm>
            <a:noFill/>
            <a:ln/>
          </p:spPr>
        </p:pic>
        <p:pic>
          <p:nvPicPr>
            <p:cNvPr id="110606" name="Picture 14" descr="tongue_out_at_computer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19400" y="4800600"/>
              <a:ext cx="1022350" cy="885825"/>
            </a:xfrm>
            <a:prstGeom prst="rect">
              <a:avLst/>
            </a:prstGeom>
            <a:noFill/>
          </p:spPr>
        </p:pic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Grid Computing</a:t>
            </a:r>
            <a:endParaRPr lang="ko-KR" altLang="en-US" dirty="0"/>
          </a:p>
        </p:txBody>
      </p:sp>
      <p:sp>
        <p:nvSpPr>
          <p:cNvPr id="9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67544" y="764704"/>
            <a:ext cx="8424936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1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lang="en-US" altLang="ko-KR" b="0" u="none" kern="0" dirty="0" smtClean="0">
                <a:latin typeface="굴림" pitchFamily="50" charset="-127"/>
                <a:ea typeface="굴림" pitchFamily="50" charset="-127"/>
              </a:rPr>
              <a:t>Several clusters in Grid </a:t>
            </a:r>
          </a:p>
          <a:p>
            <a:pPr marL="342900" marR="0" lvl="0" indent="-342900" algn="l" defTabSz="914400" rtl="0" eaLnBrk="0" fontAlgn="base" latinLnBrk="1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lang="en-US" altLang="ko-KR" b="0" u="none" kern="0" dirty="0" smtClean="0">
                <a:latin typeface="굴림" pitchFamily="50" charset="-127"/>
                <a:ea typeface="굴림" pitchFamily="50" charset="-127"/>
              </a:rPr>
              <a:t>May include super computers, desktops, laptops, mobile devices</a:t>
            </a:r>
            <a:endParaRPr kumimoji="1" lang="en-US" altLang="ko-KR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  <a:p>
            <a:pPr marL="342900" marR="0" lvl="0" indent="-342900" algn="l" defTabSz="914400" rtl="0" eaLnBrk="0" fontAlgn="base" latinLnBrk="1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endParaRPr kumimoji="1" lang="en-US" altLang="ko-K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076300"/>
            <a:ext cx="8229600" cy="4967758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ko-KR" dirty="0" smtClean="0">
                <a:ea typeface="굴림" pitchFamily="50" charset="-127"/>
              </a:rPr>
              <a:t> 1800 </a:t>
            </a:r>
            <a:r>
              <a:rPr lang="en-US" altLang="ko-KR" dirty="0">
                <a:ea typeface="굴림" pitchFamily="50" charset="-127"/>
              </a:rPr>
              <a:t>Physicists, 150 Institutes, 32 Countries</a:t>
            </a:r>
          </a:p>
          <a:p>
            <a:pPr>
              <a:buFont typeface="Monotype Sorts" pitchFamily="2" charset="2"/>
              <a:buNone/>
            </a:pPr>
            <a:endParaRPr lang="en-US" altLang="ko-KR" dirty="0" smtClean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endParaRPr lang="en-US" altLang="ko-KR" dirty="0" smtClean="0"/>
          </a:p>
          <a:p>
            <a:pPr>
              <a:buFont typeface="Monotype Sorts" pitchFamily="2" charset="2"/>
              <a:buNone/>
            </a:pPr>
            <a:endParaRPr lang="en-US" altLang="ko-KR" dirty="0" smtClean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endParaRPr lang="en-US" altLang="ko-KR" dirty="0" smtClean="0"/>
          </a:p>
          <a:p>
            <a:pPr>
              <a:buFont typeface="Monotype Sorts" pitchFamily="2" charset="2"/>
              <a:buNone/>
            </a:pPr>
            <a:endParaRPr lang="en-US" altLang="ko-KR" dirty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endParaRPr lang="en-US" altLang="ko-KR" dirty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endParaRPr lang="en-US" altLang="ko-KR" dirty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endParaRPr lang="en-US" altLang="ko-KR" dirty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endParaRPr lang="en-US" altLang="ko-KR" dirty="0">
              <a:ea typeface="굴림" pitchFamily="50" charset="-127"/>
            </a:endParaRPr>
          </a:p>
          <a:p>
            <a:pPr>
              <a:buFont typeface="Monotype Sorts" pitchFamily="2" charset="2"/>
              <a:buNone/>
            </a:pPr>
            <a:r>
              <a:rPr lang="en-US" altLang="ko-KR" dirty="0" smtClean="0">
                <a:ea typeface="굴림" pitchFamily="50" charset="-127"/>
              </a:rPr>
              <a:t>100 </a:t>
            </a:r>
            <a:r>
              <a:rPr lang="en-US" altLang="ko-KR" dirty="0">
                <a:ea typeface="굴림" pitchFamily="50" charset="-127"/>
              </a:rPr>
              <a:t>PB of data by 2010; 50,000 CPUs?</a:t>
            </a:r>
          </a:p>
        </p:txBody>
      </p:sp>
      <p:pic>
        <p:nvPicPr>
          <p:cNvPr id="1004546" name="Picture 2" descr="J:\private\Lucas\SW_project\gif\cms_wor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7620000" cy="3413125"/>
          </a:xfrm>
          <a:prstGeom prst="rect">
            <a:avLst/>
          </a:prstGeom>
          <a:noFill/>
        </p:spPr>
      </p:pic>
      <p:sp>
        <p:nvSpPr>
          <p:cNvPr id="1004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pitchFamily="50" charset="-127"/>
              </a:rPr>
              <a:t>CERNs </a:t>
            </a:r>
            <a:r>
              <a:rPr lang="en-US" altLang="ko-KR" dirty="0">
                <a:ea typeface="굴림" pitchFamily="50" charset="-127"/>
              </a:rPr>
              <a:t>Large Hadron Collider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-1278"/>
            <a:ext cx="9144000" cy="573360"/>
          </a:xfrm>
        </p:spPr>
        <p:txBody>
          <a:bodyPr/>
          <a:lstStyle/>
          <a:p>
            <a:r>
              <a:rPr lang="en-US" altLang="ko-KR" dirty="0" smtClean="0">
                <a:ea typeface="굴림" pitchFamily="50" charset="-127"/>
              </a:rPr>
              <a:t>Data </a:t>
            </a:r>
            <a:r>
              <a:rPr lang="en-US" altLang="ko-KR" dirty="0">
                <a:ea typeface="굴림" pitchFamily="50" charset="-127"/>
              </a:rPr>
              <a:t>Grids for High Energy Physics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8600" y="762000"/>
            <a:ext cx="8915400" cy="5471993"/>
            <a:chOff x="96" y="144"/>
            <a:chExt cx="5520" cy="406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416" y="2592"/>
              <a:ext cx="672" cy="340"/>
              <a:chOff x="2208" y="2592"/>
              <a:chExt cx="672" cy="340"/>
            </a:xfrm>
          </p:grpSpPr>
          <p:sp>
            <p:nvSpPr>
              <p:cNvPr id="1005573" name="Oval 5"/>
              <p:cNvSpPr>
                <a:spLocks noChangeArrowheads="1"/>
              </p:cNvSpPr>
              <p:nvPr/>
            </p:nvSpPr>
            <p:spPr bwMode="auto">
              <a:xfrm>
                <a:off x="2208" y="2592"/>
                <a:ext cx="672" cy="33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574" name="Text Box 6"/>
              <p:cNvSpPr txBox="1">
                <a:spLocks noChangeArrowheads="1"/>
              </p:cNvSpPr>
              <p:nvPr/>
            </p:nvSpPr>
            <p:spPr bwMode="auto">
              <a:xfrm>
                <a:off x="2208" y="2640"/>
                <a:ext cx="672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 b="0" u="none">
                    <a:latin typeface="Comic Sans MS" pitchFamily="66" charset="0"/>
                    <a:ea typeface="굴림" pitchFamily="50" charset="-127"/>
                  </a:rPr>
                  <a:t>Tier2 Centre ~1 TIPS</a:t>
                </a:r>
              </a:p>
            </p:txBody>
          </p:sp>
        </p:grpSp>
        <p:sp>
          <p:nvSpPr>
            <p:cNvPr id="1005575" name="Oval 7"/>
            <p:cNvSpPr>
              <a:spLocks noChangeArrowheads="1"/>
            </p:cNvSpPr>
            <p:nvPr/>
          </p:nvSpPr>
          <p:spPr bwMode="auto">
            <a:xfrm>
              <a:off x="3888" y="2016"/>
              <a:ext cx="864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76" name="Oval 8"/>
            <p:cNvSpPr>
              <a:spLocks noChangeArrowheads="1"/>
            </p:cNvSpPr>
            <p:nvPr/>
          </p:nvSpPr>
          <p:spPr bwMode="auto">
            <a:xfrm>
              <a:off x="1584" y="2016"/>
              <a:ext cx="864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77" name="Rectangle 9"/>
            <p:cNvSpPr>
              <a:spLocks noChangeArrowheads="1"/>
            </p:cNvSpPr>
            <p:nvPr/>
          </p:nvSpPr>
          <p:spPr bwMode="auto">
            <a:xfrm>
              <a:off x="480" y="1104"/>
              <a:ext cx="1632" cy="4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78" name="Rectangle 10"/>
            <p:cNvSpPr>
              <a:spLocks noChangeArrowheads="1"/>
            </p:cNvSpPr>
            <p:nvPr/>
          </p:nvSpPr>
          <p:spPr bwMode="auto">
            <a:xfrm>
              <a:off x="144" y="144"/>
              <a:ext cx="547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b"/>
            <a:lstStyle/>
            <a:p>
              <a:endParaRPr lang="ko-KR" altLang="ko-KR" sz="4400" b="0" u="none">
                <a:solidFill>
                  <a:schemeClr val="tx2"/>
                </a:solidFill>
              </a:endParaRPr>
            </a:p>
          </p:txBody>
        </p:sp>
        <p:pic>
          <p:nvPicPr>
            <p:cNvPr id="1005579" name="Picture 1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4" y="384"/>
              <a:ext cx="953" cy="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872" y="720"/>
              <a:ext cx="912" cy="240"/>
              <a:chOff x="2400" y="1296"/>
              <a:chExt cx="912" cy="240"/>
            </a:xfrm>
          </p:grpSpPr>
          <p:sp>
            <p:nvSpPr>
              <p:cNvPr id="1005581" name="Rectangle 13"/>
              <p:cNvSpPr>
                <a:spLocks noChangeArrowheads="1"/>
              </p:cNvSpPr>
              <p:nvPr/>
            </p:nvSpPr>
            <p:spPr bwMode="auto">
              <a:xfrm>
                <a:off x="2400" y="1296"/>
                <a:ext cx="912" cy="240"/>
              </a:xfrm>
              <a:prstGeom prst="rect">
                <a:avLst/>
              </a:prstGeom>
              <a:solidFill>
                <a:srgbClr val="33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582" name="Text Box 14"/>
              <p:cNvSpPr txBox="1">
                <a:spLocks noChangeArrowheads="1"/>
              </p:cNvSpPr>
              <p:nvPr/>
            </p:nvSpPr>
            <p:spPr bwMode="auto">
              <a:xfrm>
                <a:off x="2400" y="1344"/>
                <a:ext cx="912" cy="180"/>
              </a:xfrm>
              <a:prstGeom prst="rect">
                <a:avLst/>
              </a:prstGeom>
              <a:solidFill>
                <a:srgbClr val="33CC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 b="0" u="none">
                    <a:latin typeface="Comic Sans MS" pitchFamily="66" charset="0"/>
                    <a:ea typeface="굴림" pitchFamily="50" charset="-127"/>
                  </a:rPr>
                  <a:t>Online System</a:t>
                </a:r>
              </a:p>
            </p:txBody>
          </p:sp>
        </p:grpSp>
        <p:sp>
          <p:nvSpPr>
            <p:cNvPr id="1005583" name="Oval 15"/>
            <p:cNvSpPr>
              <a:spLocks noChangeArrowheads="1"/>
            </p:cNvSpPr>
            <p:nvPr/>
          </p:nvSpPr>
          <p:spPr bwMode="auto">
            <a:xfrm>
              <a:off x="2928" y="960"/>
              <a:ext cx="1248" cy="336"/>
            </a:xfrm>
            <a:prstGeom prst="ellipse">
              <a:avLst/>
            </a:prstGeom>
            <a:solidFill>
              <a:srgbClr val="33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84" name="Text Box 16"/>
            <p:cNvSpPr txBox="1">
              <a:spLocks noChangeArrowheads="1"/>
            </p:cNvSpPr>
            <p:nvPr/>
          </p:nvSpPr>
          <p:spPr bwMode="auto">
            <a:xfrm>
              <a:off x="2976" y="1009"/>
              <a:ext cx="120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Offline Processor Farm </a:t>
              </a:r>
            </a:p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~20 TIPS</a:t>
              </a:r>
            </a:p>
          </p:txBody>
        </p:sp>
        <p:sp>
          <p:nvSpPr>
            <p:cNvPr id="1005585" name="Oval 17"/>
            <p:cNvSpPr>
              <a:spLocks noChangeArrowheads="1"/>
            </p:cNvSpPr>
            <p:nvPr/>
          </p:nvSpPr>
          <p:spPr bwMode="auto">
            <a:xfrm>
              <a:off x="3216" y="1488"/>
              <a:ext cx="1344" cy="336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86" name="Text Box 18"/>
            <p:cNvSpPr txBox="1">
              <a:spLocks noChangeArrowheads="1"/>
            </p:cNvSpPr>
            <p:nvPr/>
          </p:nvSpPr>
          <p:spPr bwMode="auto">
            <a:xfrm>
              <a:off x="3312" y="1581"/>
              <a:ext cx="1104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CERN Computer Centre</a:t>
              </a:r>
            </a:p>
          </p:txBody>
        </p:sp>
        <p:sp>
          <p:nvSpPr>
            <p:cNvPr id="1005587" name="Oval 19"/>
            <p:cNvSpPr>
              <a:spLocks noChangeArrowheads="1"/>
            </p:cNvSpPr>
            <p:nvPr/>
          </p:nvSpPr>
          <p:spPr bwMode="auto">
            <a:xfrm>
              <a:off x="432" y="2016"/>
              <a:ext cx="864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88" name="Text Box 20"/>
            <p:cNvSpPr txBox="1">
              <a:spLocks noChangeArrowheads="1"/>
            </p:cNvSpPr>
            <p:nvPr/>
          </p:nvSpPr>
          <p:spPr bwMode="auto">
            <a:xfrm>
              <a:off x="3936" y="2063"/>
              <a:ext cx="816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FermiLab ~4 TIPS</a:t>
              </a:r>
            </a:p>
          </p:txBody>
        </p:sp>
        <p:sp>
          <p:nvSpPr>
            <p:cNvPr id="1005589" name="Text Box 21"/>
            <p:cNvSpPr txBox="1">
              <a:spLocks noChangeArrowheads="1"/>
            </p:cNvSpPr>
            <p:nvPr/>
          </p:nvSpPr>
          <p:spPr bwMode="auto">
            <a:xfrm>
              <a:off x="480" y="2064"/>
              <a:ext cx="816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France Regional Centre </a:t>
              </a:r>
            </a:p>
          </p:txBody>
        </p:sp>
        <p:sp>
          <p:nvSpPr>
            <p:cNvPr id="1005590" name="Oval 22"/>
            <p:cNvSpPr>
              <a:spLocks noChangeArrowheads="1"/>
            </p:cNvSpPr>
            <p:nvPr/>
          </p:nvSpPr>
          <p:spPr bwMode="auto">
            <a:xfrm>
              <a:off x="2736" y="2016"/>
              <a:ext cx="864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91" name="Text Box 23"/>
            <p:cNvSpPr txBox="1">
              <a:spLocks noChangeArrowheads="1"/>
            </p:cNvSpPr>
            <p:nvPr/>
          </p:nvSpPr>
          <p:spPr bwMode="auto">
            <a:xfrm>
              <a:off x="2736" y="2064"/>
              <a:ext cx="816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 Italy Regional Centre </a:t>
              </a:r>
            </a:p>
          </p:txBody>
        </p:sp>
        <p:sp>
          <p:nvSpPr>
            <p:cNvPr id="1005592" name="Text Box 24"/>
            <p:cNvSpPr txBox="1">
              <a:spLocks noChangeArrowheads="1"/>
            </p:cNvSpPr>
            <p:nvPr/>
          </p:nvSpPr>
          <p:spPr bwMode="auto">
            <a:xfrm>
              <a:off x="1632" y="2064"/>
              <a:ext cx="816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Germany Regional Centre </a:t>
              </a:r>
            </a:p>
          </p:txBody>
        </p:sp>
        <p:sp>
          <p:nvSpPr>
            <p:cNvPr id="1005593" name="Oval 25"/>
            <p:cNvSpPr>
              <a:spLocks noChangeArrowheads="1"/>
            </p:cNvSpPr>
            <p:nvPr/>
          </p:nvSpPr>
          <p:spPr bwMode="auto">
            <a:xfrm>
              <a:off x="5280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94" name="Oval 26"/>
            <p:cNvSpPr>
              <a:spLocks noChangeArrowheads="1"/>
            </p:cNvSpPr>
            <p:nvPr/>
          </p:nvSpPr>
          <p:spPr bwMode="auto">
            <a:xfrm>
              <a:off x="5184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95" name="Oval 27"/>
            <p:cNvSpPr>
              <a:spLocks noChangeArrowheads="1"/>
            </p:cNvSpPr>
            <p:nvPr/>
          </p:nvSpPr>
          <p:spPr bwMode="auto">
            <a:xfrm>
              <a:off x="5088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96" name="Oval 28"/>
            <p:cNvSpPr>
              <a:spLocks noChangeArrowheads="1"/>
            </p:cNvSpPr>
            <p:nvPr/>
          </p:nvSpPr>
          <p:spPr bwMode="auto">
            <a:xfrm>
              <a:off x="2304" y="3216"/>
              <a:ext cx="624" cy="288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97" name="Text Box 29"/>
            <p:cNvSpPr txBox="1">
              <a:spLocks noChangeArrowheads="1"/>
            </p:cNvSpPr>
            <p:nvPr/>
          </p:nvSpPr>
          <p:spPr bwMode="auto">
            <a:xfrm>
              <a:off x="2400" y="3263"/>
              <a:ext cx="480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Institute</a:t>
              </a:r>
            </a:p>
          </p:txBody>
        </p:sp>
        <p:sp>
          <p:nvSpPr>
            <p:cNvPr id="1005598" name="Oval 30"/>
            <p:cNvSpPr>
              <a:spLocks noChangeArrowheads="1"/>
            </p:cNvSpPr>
            <p:nvPr/>
          </p:nvSpPr>
          <p:spPr bwMode="auto">
            <a:xfrm>
              <a:off x="1872" y="3216"/>
              <a:ext cx="624" cy="288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599" name="Text Box 31"/>
            <p:cNvSpPr txBox="1">
              <a:spLocks noChangeArrowheads="1"/>
            </p:cNvSpPr>
            <p:nvPr/>
          </p:nvSpPr>
          <p:spPr bwMode="auto">
            <a:xfrm>
              <a:off x="1968" y="3263"/>
              <a:ext cx="480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Institute</a:t>
              </a:r>
            </a:p>
          </p:txBody>
        </p:sp>
        <p:sp>
          <p:nvSpPr>
            <p:cNvPr id="1005600" name="Oval 32"/>
            <p:cNvSpPr>
              <a:spLocks noChangeArrowheads="1"/>
            </p:cNvSpPr>
            <p:nvPr/>
          </p:nvSpPr>
          <p:spPr bwMode="auto">
            <a:xfrm>
              <a:off x="1488" y="3216"/>
              <a:ext cx="624" cy="288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01" name="Text Box 33"/>
            <p:cNvSpPr txBox="1">
              <a:spLocks noChangeArrowheads="1"/>
            </p:cNvSpPr>
            <p:nvPr/>
          </p:nvSpPr>
          <p:spPr bwMode="auto">
            <a:xfrm>
              <a:off x="1584" y="3263"/>
              <a:ext cx="480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Institute</a:t>
              </a:r>
            </a:p>
          </p:txBody>
        </p:sp>
        <p:sp>
          <p:nvSpPr>
            <p:cNvPr id="1005602" name="Oval 34"/>
            <p:cNvSpPr>
              <a:spLocks noChangeArrowheads="1"/>
            </p:cNvSpPr>
            <p:nvPr/>
          </p:nvSpPr>
          <p:spPr bwMode="auto">
            <a:xfrm>
              <a:off x="1200" y="3216"/>
              <a:ext cx="624" cy="288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03" name="Text Box 35"/>
            <p:cNvSpPr txBox="1">
              <a:spLocks noChangeArrowheads="1"/>
            </p:cNvSpPr>
            <p:nvPr/>
          </p:nvSpPr>
          <p:spPr bwMode="auto">
            <a:xfrm>
              <a:off x="1200" y="3216"/>
              <a:ext cx="62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Institute ~0.25TIPS</a:t>
              </a:r>
            </a:p>
          </p:txBody>
        </p:sp>
        <p:grpSp>
          <p:nvGrpSpPr>
            <p:cNvPr id="5" name="Group 36"/>
            <p:cNvGrpSpPr>
              <a:grpSpLocks/>
            </p:cNvGrpSpPr>
            <p:nvPr/>
          </p:nvGrpSpPr>
          <p:grpSpPr bwMode="auto">
            <a:xfrm>
              <a:off x="1152" y="3648"/>
              <a:ext cx="387" cy="336"/>
              <a:chOff x="3837" y="3216"/>
              <a:chExt cx="579" cy="480"/>
            </a:xfrm>
          </p:grpSpPr>
          <p:graphicFrame>
            <p:nvGraphicFramePr>
              <p:cNvPr id="1005605" name="Object 37"/>
              <p:cNvGraphicFramePr>
                <a:graphicFrameLocks noChangeAspect="1"/>
              </p:cNvGraphicFramePr>
              <p:nvPr/>
            </p:nvGraphicFramePr>
            <p:xfrm>
              <a:off x="3837" y="3216"/>
              <a:ext cx="579" cy="430"/>
            </p:xfrm>
            <a:graphic>
              <a:graphicData uri="http://schemas.openxmlformats.org/presentationml/2006/ole">
                <p:oleObj spid="_x0000_s29709" name="Bitmap Image" r:id="rId4" imgW="1920406" imgH="1836190" progId="">
                  <p:embed/>
                </p:oleObj>
              </a:graphicData>
            </a:graphic>
          </p:graphicFrame>
          <p:sp>
            <p:nvSpPr>
              <p:cNvPr id="1005606" name="WordArt 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91" y="3651"/>
                <a:ext cx="373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ko-KR" sz="1400" b="0" i="1" u="none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B2B2B2"/>
                    </a:solidFill>
                    <a:effectLst>
                      <a:outerShdw dist="35921" dir="2700000" algn="ctr" rotWithShape="0">
                        <a:srgbClr val="808080"/>
                      </a:outerShdw>
                    </a:effectLst>
                    <a:latin typeface="Arial Black"/>
                  </a:rPr>
                  <a:t>Pentium II 300 MHz</a:t>
                </a:r>
                <a:endParaRPr lang="ko-KR" altLang="en-US" sz="1400" b="0" i="1" u="none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B2B2B2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endParaRPr>
              </a:p>
            </p:txBody>
          </p:sp>
          <p:graphicFrame>
            <p:nvGraphicFramePr>
              <p:cNvPr id="1005607" name="Object 39"/>
              <p:cNvGraphicFramePr>
                <a:graphicFrameLocks noChangeAspect="1"/>
              </p:cNvGraphicFramePr>
              <p:nvPr/>
            </p:nvGraphicFramePr>
            <p:xfrm>
              <a:off x="3927" y="3314"/>
              <a:ext cx="218" cy="136"/>
            </p:xfrm>
            <a:graphic>
              <a:graphicData uri="http://schemas.openxmlformats.org/presentationml/2006/ole">
                <p:oleObj spid="_x0000_s29710" name="Photo Editor Photo" r:id="rId5" imgW="4465707" imgH="3024762" progId="">
                  <p:embed/>
                </p:oleObj>
              </a:graphicData>
            </a:graphic>
          </p:graphicFrame>
        </p:grpSp>
        <p:grpSp>
          <p:nvGrpSpPr>
            <p:cNvPr id="6" name="Group 40"/>
            <p:cNvGrpSpPr>
              <a:grpSpLocks/>
            </p:cNvGrpSpPr>
            <p:nvPr/>
          </p:nvGrpSpPr>
          <p:grpSpPr bwMode="auto">
            <a:xfrm>
              <a:off x="1488" y="3696"/>
              <a:ext cx="387" cy="336"/>
              <a:chOff x="3837" y="3216"/>
              <a:chExt cx="579" cy="480"/>
            </a:xfrm>
          </p:grpSpPr>
          <p:graphicFrame>
            <p:nvGraphicFramePr>
              <p:cNvPr id="1005609" name="Object 41"/>
              <p:cNvGraphicFramePr>
                <a:graphicFrameLocks noChangeAspect="1"/>
              </p:cNvGraphicFramePr>
              <p:nvPr/>
            </p:nvGraphicFramePr>
            <p:xfrm>
              <a:off x="3837" y="3216"/>
              <a:ext cx="579" cy="430"/>
            </p:xfrm>
            <a:graphic>
              <a:graphicData uri="http://schemas.openxmlformats.org/presentationml/2006/ole">
                <p:oleObj spid="_x0000_s29707" name="Bitmap Image" r:id="rId6" imgW="1920406" imgH="1836190" progId="">
                  <p:embed/>
                </p:oleObj>
              </a:graphicData>
            </a:graphic>
          </p:graphicFrame>
          <p:sp>
            <p:nvSpPr>
              <p:cNvPr id="1005610" name="WordArt 4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91" y="3651"/>
                <a:ext cx="373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ko-KR" sz="1400" b="0" i="1" u="none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B2B2B2"/>
                    </a:solidFill>
                    <a:effectLst>
                      <a:outerShdw dist="35921" dir="2700000" algn="ctr" rotWithShape="0">
                        <a:srgbClr val="808080"/>
                      </a:outerShdw>
                    </a:effectLst>
                    <a:latin typeface="Arial Black"/>
                  </a:rPr>
                  <a:t>Pentium II 300 MHz</a:t>
                </a:r>
                <a:endParaRPr lang="ko-KR" altLang="en-US" sz="1400" b="0" i="1" u="none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B2B2B2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endParaRPr>
              </a:p>
            </p:txBody>
          </p:sp>
          <p:graphicFrame>
            <p:nvGraphicFramePr>
              <p:cNvPr id="1005611" name="Object 43"/>
              <p:cNvGraphicFramePr>
                <a:graphicFrameLocks noChangeAspect="1"/>
              </p:cNvGraphicFramePr>
              <p:nvPr/>
            </p:nvGraphicFramePr>
            <p:xfrm>
              <a:off x="3927" y="3314"/>
              <a:ext cx="218" cy="136"/>
            </p:xfrm>
            <a:graphic>
              <a:graphicData uri="http://schemas.openxmlformats.org/presentationml/2006/ole">
                <p:oleObj spid="_x0000_s29708" name="Photo Editor Photo" r:id="rId7" imgW="4465707" imgH="3024762" progId="">
                  <p:embed/>
                </p:oleObj>
              </a:graphicData>
            </a:graphic>
          </p:graphicFrame>
        </p:grpSp>
        <p:grpSp>
          <p:nvGrpSpPr>
            <p:cNvPr id="7" name="Group 44"/>
            <p:cNvGrpSpPr>
              <a:grpSpLocks/>
            </p:cNvGrpSpPr>
            <p:nvPr/>
          </p:nvGrpSpPr>
          <p:grpSpPr bwMode="auto">
            <a:xfrm>
              <a:off x="2064" y="3840"/>
              <a:ext cx="387" cy="336"/>
              <a:chOff x="3837" y="3216"/>
              <a:chExt cx="579" cy="480"/>
            </a:xfrm>
          </p:grpSpPr>
          <p:graphicFrame>
            <p:nvGraphicFramePr>
              <p:cNvPr id="1005613" name="Object 45"/>
              <p:cNvGraphicFramePr>
                <a:graphicFrameLocks noChangeAspect="1"/>
              </p:cNvGraphicFramePr>
              <p:nvPr/>
            </p:nvGraphicFramePr>
            <p:xfrm>
              <a:off x="3837" y="3216"/>
              <a:ext cx="579" cy="430"/>
            </p:xfrm>
            <a:graphic>
              <a:graphicData uri="http://schemas.openxmlformats.org/presentationml/2006/ole">
                <p:oleObj spid="_x0000_s29705" name="Bitmap Image" r:id="rId8" imgW="1920406" imgH="1836190" progId="">
                  <p:embed/>
                </p:oleObj>
              </a:graphicData>
            </a:graphic>
          </p:graphicFrame>
          <p:sp>
            <p:nvSpPr>
              <p:cNvPr id="1005614" name="WordArt 4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91" y="3651"/>
                <a:ext cx="373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ko-KR" sz="1400" b="0" i="1" u="none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B2B2B2"/>
                    </a:solidFill>
                    <a:effectLst>
                      <a:outerShdw dist="35921" dir="2700000" algn="ctr" rotWithShape="0">
                        <a:srgbClr val="808080"/>
                      </a:outerShdw>
                    </a:effectLst>
                    <a:latin typeface="Arial Black"/>
                  </a:rPr>
                  <a:t>Pentium II 300 MHz</a:t>
                </a:r>
                <a:endParaRPr lang="ko-KR" altLang="en-US" sz="1400" b="0" i="1" u="none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B2B2B2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endParaRPr>
              </a:p>
            </p:txBody>
          </p:sp>
          <p:graphicFrame>
            <p:nvGraphicFramePr>
              <p:cNvPr id="1005615" name="Object 47"/>
              <p:cNvGraphicFramePr>
                <a:graphicFrameLocks noChangeAspect="1"/>
              </p:cNvGraphicFramePr>
              <p:nvPr/>
            </p:nvGraphicFramePr>
            <p:xfrm>
              <a:off x="3927" y="3314"/>
              <a:ext cx="218" cy="136"/>
            </p:xfrm>
            <a:graphic>
              <a:graphicData uri="http://schemas.openxmlformats.org/presentationml/2006/ole">
                <p:oleObj spid="_x0000_s29706" name="Photo Editor Photo" r:id="rId9" imgW="4465707" imgH="3024762" progId="">
                  <p:embed/>
                </p:oleObj>
              </a:graphicData>
            </a:graphic>
          </p:graphicFrame>
        </p:grpSp>
        <p:grpSp>
          <p:nvGrpSpPr>
            <p:cNvPr id="8" name="Group 48"/>
            <p:cNvGrpSpPr>
              <a:grpSpLocks/>
            </p:cNvGrpSpPr>
            <p:nvPr/>
          </p:nvGrpSpPr>
          <p:grpSpPr bwMode="auto">
            <a:xfrm>
              <a:off x="1728" y="3744"/>
              <a:ext cx="387" cy="336"/>
              <a:chOff x="3837" y="3216"/>
              <a:chExt cx="579" cy="480"/>
            </a:xfrm>
          </p:grpSpPr>
          <p:graphicFrame>
            <p:nvGraphicFramePr>
              <p:cNvPr id="1005617" name="Object 49"/>
              <p:cNvGraphicFramePr>
                <a:graphicFrameLocks noChangeAspect="1"/>
              </p:cNvGraphicFramePr>
              <p:nvPr/>
            </p:nvGraphicFramePr>
            <p:xfrm>
              <a:off x="3837" y="3216"/>
              <a:ext cx="579" cy="430"/>
            </p:xfrm>
            <a:graphic>
              <a:graphicData uri="http://schemas.openxmlformats.org/presentationml/2006/ole">
                <p:oleObj spid="_x0000_s29703" name="Bitmap Image" r:id="rId10" imgW="1920406" imgH="1836190" progId="">
                  <p:embed/>
                </p:oleObj>
              </a:graphicData>
            </a:graphic>
          </p:graphicFrame>
          <p:sp>
            <p:nvSpPr>
              <p:cNvPr id="1005618" name="WordArt 5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91" y="3651"/>
                <a:ext cx="373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altLang="ko-KR" sz="1400" b="0" i="1" u="none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B2B2B2"/>
                    </a:solidFill>
                    <a:effectLst>
                      <a:outerShdw dist="35921" dir="2700000" algn="ctr" rotWithShape="0">
                        <a:srgbClr val="808080"/>
                      </a:outerShdw>
                    </a:effectLst>
                    <a:latin typeface="Arial Black"/>
                  </a:rPr>
                  <a:t>Pentium II 300 MHz</a:t>
                </a:r>
                <a:endParaRPr lang="ko-KR" altLang="en-US" sz="1400" b="0" i="1" u="none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B2B2B2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endParaRPr>
              </a:p>
            </p:txBody>
          </p:sp>
          <p:graphicFrame>
            <p:nvGraphicFramePr>
              <p:cNvPr id="1005619" name="Object 51"/>
              <p:cNvGraphicFramePr>
                <a:graphicFrameLocks noChangeAspect="1"/>
              </p:cNvGraphicFramePr>
              <p:nvPr/>
            </p:nvGraphicFramePr>
            <p:xfrm>
              <a:off x="3927" y="3314"/>
              <a:ext cx="218" cy="136"/>
            </p:xfrm>
            <a:graphic>
              <a:graphicData uri="http://schemas.openxmlformats.org/presentationml/2006/ole">
                <p:oleObj spid="_x0000_s29704" name="Photo Editor Photo" r:id="rId11" imgW="4465707" imgH="3024762" progId="">
                  <p:embed/>
                </p:oleObj>
              </a:graphicData>
            </a:graphic>
          </p:graphicFrame>
        </p:grpSp>
        <p:sp>
          <p:nvSpPr>
            <p:cNvPr id="1005620" name="Line 52"/>
            <p:cNvSpPr>
              <a:spLocks noChangeShapeType="1"/>
            </p:cNvSpPr>
            <p:nvPr/>
          </p:nvSpPr>
          <p:spPr bwMode="auto">
            <a:xfrm>
              <a:off x="960" y="528"/>
              <a:ext cx="912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1" name="Line 53"/>
            <p:cNvSpPr>
              <a:spLocks noChangeShapeType="1"/>
            </p:cNvSpPr>
            <p:nvPr/>
          </p:nvSpPr>
          <p:spPr bwMode="auto">
            <a:xfrm flipV="1">
              <a:off x="1392" y="864"/>
              <a:ext cx="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2" name="Line 54"/>
            <p:cNvSpPr>
              <a:spLocks noChangeShapeType="1"/>
            </p:cNvSpPr>
            <p:nvPr/>
          </p:nvSpPr>
          <p:spPr bwMode="auto">
            <a:xfrm>
              <a:off x="1296" y="768"/>
              <a:ext cx="576" cy="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3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384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4" name="Line 56"/>
            <p:cNvSpPr>
              <a:spLocks noChangeShapeType="1"/>
            </p:cNvSpPr>
            <p:nvPr/>
          </p:nvSpPr>
          <p:spPr bwMode="auto">
            <a:xfrm>
              <a:off x="3648" y="1296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5" name="Line 57"/>
            <p:cNvSpPr>
              <a:spLocks noChangeShapeType="1"/>
            </p:cNvSpPr>
            <p:nvPr/>
          </p:nvSpPr>
          <p:spPr bwMode="auto">
            <a:xfrm flipH="1">
              <a:off x="1152" y="1776"/>
              <a:ext cx="2256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6" name="Line 58"/>
            <p:cNvSpPr>
              <a:spLocks noChangeShapeType="1"/>
            </p:cNvSpPr>
            <p:nvPr/>
          </p:nvSpPr>
          <p:spPr bwMode="auto">
            <a:xfrm flipH="1">
              <a:off x="2352" y="1776"/>
              <a:ext cx="110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7" name="Line 59"/>
            <p:cNvSpPr>
              <a:spLocks noChangeShapeType="1"/>
            </p:cNvSpPr>
            <p:nvPr/>
          </p:nvSpPr>
          <p:spPr bwMode="auto">
            <a:xfrm flipH="1">
              <a:off x="3456" y="1824"/>
              <a:ext cx="288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8" name="Line 60"/>
            <p:cNvSpPr>
              <a:spLocks noChangeShapeType="1"/>
            </p:cNvSpPr>
            <p:nvPr/>
          </p:nvSpPr>
          <p:spPr bwMode="auto">
            <a:xfrm>
              <a:off x="4080" y="1824"/>
              <a:ext cx="96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29" name="Line 61"/>
            <p:cNvSpPr>
              <a:spLocks noChangeShapeType="1"/>
            </p:cNvSpPr>
            <p:nvPr/>
          </p:nvSpPr>
          <p:spPr bwMode="auto">
            <a:xfrm flipH="1">
              <a:off x="2736" y="2928"/>
              <a:ext cx="192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0" name="Line 62"/>
            <p:cNvSpPr>
              <a:spLocks noChangeShapeType="1"/>
            </p:cNvSpPr>
            <p:nvPr/>
          </p:nvSpPr>
          <p:spPr bwMode="auto">
            <a:xfrm flipH="1">
              <a:off x="2352" y="2880"/>
              <a:ext cx="52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1" name="Line 63"/>
            <p:cNvSpPr>
              <a:spLocks noChangeShapeType="1"/>
            </p:cNvSpPr>
            <p:nvPr/>
          </p:nvSpPr>
          <p:spPr bwMode="auto">
            <a:xfrm flipH="1">
              <a:off x="1584" y="2880"/>
              <a:ext cx="1248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2" name="Line 64"/>
            <p:cNvSpPr>
              <a:spLocks noChangeShapeType="1"/>
            </p:cNvSpPr>
            <p:nvPr/>
          </p:nvSpPr>
          <p:spPr bwMode="auto">
            <a:xfrm flipH="1">
              <a:off x="1920" y="2880"/>
              <a:ext cx="96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3" name="Line 65"/>
            <p:cNvSpPr>
              <a:spLocks noChangeShapeType="1"/>
            </p:cNvSpPr>
            <p:nvPr/>
          </p:nvSpPr>
          <p:spPr bwMode="auto">
            <a:xfrm flipH="1">
              <a:off x="1392" y="3504"/>
              <a:ext cx="48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4" name="Line 66"/>
            <p:cNvSpPr>
              <a:spLocks noChangeShapeType="1"/>
            </p:cNvSpPr>
            <p:nvPr/>
          </p:nvSpPr>
          <p:spPr bwMode="auto">
            <a:xfrm>
              <a:off x="1536" y="3504"/>
              <a:ext cx="48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5" name="Line 67"/>
            <p:cNvSpPr>
              <a:spLocks noChangeShapeType="1"/>
            </p:cNvSpPr>
            <p:nvPr/>
          </p:nvSpPr>
          <p:spPr bwMode="auto">
            <a:xfrm>
              <a:off x="1584" y="3504"/>
              <a:ext cx="24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6" name="Line 68"/>
            <p:cNvSpPr>
              <a:spLocks noChangeShapeType="1"/>
            </p:cNvSpPr>
            <p:nvPr/>
          </p:nvSpPr>
          <p:spPr bwMode="auto">
            <a:xfrm>
              <a:off x="1632" y="3504"/>
              <a:ext cx="528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37" name="Text Box 69"/>
            <p:cNvSpPr txBox="1">
              <a:spLocks noChangeArrowheads="1"/>
            </p:cNvSpPr>
            <p:nvPr/>
          </p:nvSpPr>
          <p:spPr bwMode="auto">
            <a:xfrm>
              <a:off x="576" y="4032"/>
              <a:ext cx="1536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Physicist workstations</a:t>
              </a:r>
              <a:endParaRPr lang="en-US" altLang="ko-KR" sz="1000" b="0" u="none">
                <a:ea typeface="굴림" pitchFamily="50" charset="-127"/>
              </a:endParaRPr>
            </a:p>
          </p:txBody>
        </p:sp>
        <p:sp>
          <p:nvSpPr>
            <p:cNvPr id="1005638" name="Text Box 70"/>
            <p:cNvSpPr txBox="1">
              <a:spLocks noChangeArrowheads="1"/>
            </p:cNvSpPr>
            <p:nvPr/>
          </p:nvSpPr>
          <p:spPr bwMode="auto">
            <a:xfrm>
              <a:off x="2736" y="768"/>
              <a:ext cx="1056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 dirty="0">
                  <a:latin typeface="Comic Sans MS" pitchFamily="66" charset="0"/>
                  <a:ea typeface="굴림" pitchFamily="50" charset="-127"/>
                </a:rPr>
                <a:t>~100 </a:t>
              </a:r>
              <a:r>
                <a:rPr lang="en-US" altLang="ko-KR" sz="1000" b="0" u="none" dirty="0" err="1">
                  <a:latin typeface="Comic Sans MS" pitchFamily="66" charset="0"/>
                  <a:ea typeface="굴림" pitchFamily="50" charset="-127"/>
                </a:rPr>
                <a:t>MBytes</a:t>
              </a:r>
              <a:r>
                <a:rPr lang="en-US" altLang="ko-KR" sz="1000" b="0" u="none" dirty="0">
                  <a:latin typeface="Comic Sans MS" pitchFamily="66" charset="0"/>
                  <a:ea typeface="굴림" pitchFamily="50" charset="-127"/>
                </a:rPr>
                <a:t>/sec</a:t>
              </a:r>
              <a:endParaRPr lang="en-US" altLang="ko-KR" sz="1000" b="0" u="none" dirty="0">
                <a:ea typeface="굴림" pitchFamily="50" charset="-127"/>
              </a:endParaRPr>
            </a:p>
          </p:txBody>
        </p:sp>
        <p:sp>
          <p:nvSpPr>
            <p:cNvPr id="1005639" name="Text Box 71"/>
            <p:cNvSpPr txBox="1">
              <a:spLocks noChangeArrowheads="1"/>
            </p:cNvSpPr>
            <p:nvPr/>
          </p:nvSpPr>
          <p:spPr bwMode="auto">
            <a:xfrm>
              <a:off x="3552" y="1296"/>
              <a:ext cx="1056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 dirty="0">
                  <a:latin typeface="Comic Sans MS" pitchFamily="66" charset="0"/>
                  <a:ea typeface="굴림" pitchFamily="50" charset="-127"/>
                </a:rPr>
                <a:t>~100 </a:t>
              </a:r>
              <a:r>
                <a:rPr lang="en-US" altLang="ko-KR" sz="1000" b="0" u="none" dirty="0" err="1">
                  <a:latin typeface="Comic Sans MS" pitchFamily="66" charset="0"/>
                  <a:ea typeface="굴림" pitchFamily="50" charset="-127"/>
                </a:rPr>
                <a:t>MBytes</a:t>
              </a:r>
              <a:r>
                <a:rPr lang="en-US" altLang="ko-KR" sz="1000" b="0" u="none" dirty="0">
                  <a:latin typeface="Comic Sans MS" pitchFamily="66" charset="0"/>
                  <a:ea typeface="굴림" pitchFamily="50" charset="-127"/>
                </a:rPr>
                <a:t>/sec</a:t>
              </a:r>
              <a:endParaRPr lang="en-US" altLang="ko-KR" sz="1000" b="0" u="none" dirty="0">
                <a:ea typeface="굴림" pitchFamily="50" charset="-127"/>
              </a:endParaRPr>
            </a:p>
          </p:txBody>
        </p:sp>
        <p:sp>
          <p:nvSpPr>
            <p:cNvPr id="1005640" name="Text Box 72"/>
            <p:cNvSpPr txBox="1">
              <a:spLocks noChangeArrowheads="1"/>
            </p:cNvSpPr>
            <p:nvPr/>
          </p:nvSpPr>
          <p:spPr bwMode="auto">
            <a:xfrm>
              <a:off x="4561" y="2341"/>
              <a:ext cx="1055" cy="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 dirty="0">
                  <a:latin typeface="Comic Sans MS" pitchFamily="66" charset="0"/>
                  <a:ea typeface="굴림" pitchFamily="50" charset="-127"/>
                </a:rPr>
                <a:t>~622 </a:t>
              </a:r>
              <a:r>
                <a:rPr lang="en-US" altLang="ko-KR" sz="1000" b="0" u="none" dirty="0" err="1" smtClean="0">
                  <a:latin typeface="Comic Sans MS" pitchFamily="66" charset="0"/>
                  <a:ea typeface="굴림" pitchFamily="50" charset="-127"/>
                </a:rPr>
                <a:t>Mbit</a:t>
              </a:r>
              <a:r>
                <a:rPr lang="en-US" altLang="ko-KR" sz="1000" b="0" u="none" dirty="0" smtClean="0">
                  <a:latin typeface="Comic Sans MS" pitchFamily="66" charset="0"/>
                  <a:ea typeface="굴림" pitchFamily="50" charset="-127"/>
                </a:rPr>
                <a:t>/sec</a:t>
              </a:r>
              <a:endParaRPr lang="en-US" altLang="ko-KR" sz="1000" b="0" u="none" dirty="0">
                <a:ea typeface="굴림" pitchFamily="50" charset="-127"/>
              </a:endParaRPr>
            </a:p>
          </p:txBody>
        </p:sp>
        <p:sp>
          <p:nvSpPr>
            <p:cNvPr id="1005641" name="Text Box 73"/>
            <p:cNvSpPr txBox="1">
              <a:spLocks noChangeArrowheads="1"/>
            </p:cNvSpPr>
            <p:nvPr/>
          </p:nvSpPr>
          <p:spPr bwMode="auto">
            <a:xfrm>
              <a:off x="1632" y="3600"/>
              <a:ext cx="1056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~1 MBytes/sec</a:t>
              </a:r>
              <a:endParaRPr lang="en-US" altLang="ko-KR" sz="1000" b="0" u="none">
                <a:ea typeface="굴림" pitchFamily="50" charset="-127"/>
              </a:endParaRPr>
            </a:p>
          </p:txBody>
        </p:sp>
        <p:grpSp>
          <p:nvGrpSpPr>
            <p:cNvPr id="9" name="Group 74"/>
            <p:cNvGrpSpPr>
              <a:grpSpLocks/>
            </p:cNvGrpSpPr>
            <p:nvPr/>
          </p:nvGrpSpPr>
          <p:grpSpPr bwMode="auto">
            <a:xfrm>
              <a:off x="4560" y="1440"/>
              <a:ext cx="480" cy="432"/>
              <a:chOff x="3504" y="2448"/>
              <a:chExt cx="1051" cy="1138"/>
            </a:xfrm>
          </p:grpSpPr>
          <p:graphicFrame>
            <p:nvGraphicFramePr>
              <p:cNvPr id="1005643" name="Object 75"/>
              <p:cNvGraphicFramePr>
                <a:graphicFrameLocks noChangeAspect="1"/>
              </p:cNvGraphicFramePr>
              <p:nvPr/>
            </p:nvGraphicFramePr>
            <p:xfrm>
              <a:off x="3504" y="2448"/>
              <a:ext cx="1051" cy="1138"/>
            </p:xfrm>
            <a:graphic>
              <a:graphicData uri="http://schemas.openxmlformats.org/presentationml/2006/ole">
                <p:oleObj spid="_x0000_s29702" name="Image" r:id="rId12" imgW="1668925" imgH="1806097" progId="">
                  <p:embed/>
                </p:oleObj>
              </a:graphicData>
            </a:graphic>
          </p:graphicFrame>
          <p:sp>
            <p:nvSpPr>
              <p:cNvPr id="1005644" name="WordArt 7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0" y="2784"/>
                <a:ext cx="384" cy="480"/>
              </a:xfrm>
              <a:prstGeom prst="rect">
                <a:avLst/>
              </a:prstGeom>
            </p:spPr>
            <p:txBody>
              <a:bodyPr wrap="none" fromWordArt="1">
                <a:prstTxWarp prst="textSlantUp">
                  <a:avLst>
                    <a:gd name="adj" fmla="val 32056"/>
                  </a:avLst>
                </a:prstTxWarp>
              </a:bodyPr>
              <a:lstStyle/>
              <a:p>
                <a:r>
                  <a:rPr lang="en-US" altLang="ko-KR" sz="3600" b="0" u="none" kern="10">
                    <a:ln w="9525">
                      <a:solidFill>
                        <a:srgbClr val="CC99FF"/>
                      </a:solidFill>
                      <a:round/>
                      <a:headEnd/>
                      <a:tailEnd/>
                    </a:ln>
                    <a:gradFill rotWithShape="0">
                      <a:gsLst>
                        <a:gs pos="0">
                          <a:srgbClr val="6600CC"/>
                        </a:gs>
                        <a:gs pos="100000">
                          <a:srgbClr val="CC00CC"/>
                        </a:gs>
                      </a:gsLst>
                      <a:lin ang="5400000" scaled="1"/>
                    </a:gradFill>
                    <a:effectLst>
                      <a:outerShdw dist="53882" dir="2700000" algn="ctr" rotWithShape="0">
                        <a:srgbClr val="9999FF"/>
                      </a:outerShdw>
                    </a:effectLst>
                    <a:latin typeface="Impact"/>
                  </a:rPr>
                  <a:t>HPSS</a:t>
                </a:r>
                <a:endParaRPr lang="ko-KR" altLang="en-US" sz="3600" b="0" u="none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/>
                    </a:outerShdw>
                  </a:effectLst>
                  <a:latin typeface="Impact"/>
                </a:endParaRPr>
              </a:p>
            </p:txBody>
          </p:sp>
        </p:grpSp>
        <p:grpSp>
          <p:nvGrpSpPr>
            <p:cNvPr id="10" name="Group 77"/>
            <p:cNvGrpSpPr>
              <a:grpSpLocks/>
            </p:cNvGrpSpPr>
            <p:nvPr/>
          </p:nvGrpSpPr>
          <p:grpSpPr bwMode="auto">
            <a:xfrm>
              <a:off x="4752" y="2064"/>
              <a:ext cx="240" cy="240"/>
              <a:chOff x="3504" y="2448"/>
              <a:chExt cx="1051" cy="1138"/>
            </a:xfrm>
          </p:grpSpPr>
          <p:graphicFrame>
            <p:nvGraphicFramePr>
              <p:cNvPr id="1005646" name="Object 78"/>
              <p:cNvGraphicFramePr>
                <a:graphicFrameLocks noChangeAspect="1"/>
              </p:cNvGraphicFramePr>
              <p:nvPr/>
            </p:nvGraphicFramePr>
            <p:xfrm>
              <a:off x="3504" y="2448"/>
              <a:ext cx="1051" cy="1138"/>
            </p:xfrm>
            <a:graphic>
              <a:graphicData uri="http://schemas.openxmlformats.org/presentationml/2006/ole">
                <p:oleObj spid="_x0000_s29701" name="Image" r:id="rId13" imgW="1668925" imgH="1806097" progId="">
                  <p:embed/>
                </p:oleObj>
              </a:graphicData>
            </a:graphic>
          </p:graphicFrame>
          <p:sp>
            <p:nvSpPr>
              <p:cNvPr id="1005647" name="WordArt 7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0" y="2784"/>
                <a:ext cx="384" cy="480"/>
              </a:xfrm>
              <a:prstGeom prst="rect">
                <a:avLst/>
              </a:prstGeom>
            </p:spPr>
            <p:txBody>
              <a:bodyPr wrap="none" fromWordArt="1">
                <a:prstTxWarp prst="textSlantUp">
                  <a:avLst>
                    <a:gd name="adj" fmla="val 32056"/>
                  </a:avLst>
                </a:prstTxWarp>
              </a:bodyPr>
              <a:lstStyle/>
              <a:p>
                <a:r>
                  <a:rPr lang="en-US" altLang="ko-KR" sz="3600" b="0" u="none" kern="10">
                    <a:ln w="9525">
                      <a:solidFill>
                        <a:srgbClr val="CC99FF"/>
                      </a:solidFill>
                      <a:round/>
                      <a:headEnd/>
                      <a:tailEnd/>
                    </a:ln>
                    <a:gradFill rotWithShape="0">
                      <a:gsLst>
                        <a:gs pos="0">
                          <a:srgbClr val="6600CC"/>
                        </a:gs>
                        <a:gs pos="100000">
                          <a:srgbClr val="CC00CC"/>
                        </a:gs>
                      </a:gsLst>
                      <a:lin ang="5400000" scaled="1"/>
                    </a:gradFill>
                    <a:effectLst>
                      <a:outerShdw dist="53882" dir="2700000" algn="ctr" rotWithShape="0">
                        <a:srgbClr val="9999FF"/>
                      </a:outerShdw>
                    </a:effectLst>
                    <a:latin typeface="Impact"/>
                  </a:rPr>
                  <a:t>HPSS</a:t>
                </a:r>
                <a:endParaRPr lang="ko-KR" altLang="en-US" sz="3600" b="0" u="none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/>
                    </a:outerShdw>
                  </a:effectLst>
                  <a:latin typeface="Impact"/>
                </a:endParaRPr>
              </a:p>
            </p:txBody>
          </p:sp>
        </p:grpSp>
        <p:sp>
          <p:nvSpPr>
            <p:cNvPr id="1005648" name="Text Box 80"/>
            <p:cNvSpPr txBox="1">
              <a:spLocks noChangeArrowheads="1"/>
            </p:cNvSpPr>
            <p:nvPr/>
          </p:nvSpPr>
          <p:spPr bwMode="auto">
            <a:xfrm>
              <a:off x="528" y="1104"/>
              <a:ext cx="1632" cy="4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900" b="0" i="1" u="none" dirty="0">
                  <a:latin typeface="Comic Sans MS" pitchFamily="66" charset="0"/>
                  <a:ea typeface="굴림" pitchFamily="50" charset="-127"/>
                </a:rPr>
                <a:t>There is a “bunch crossing” every 25 </a:t>
              </a:r>
              <a:r>
                <a:rPr lang="en-US" altLang="ko-KR" sz="900" b="0" i="1" u="none" dirty="0" err="1">
                  <a:latin typeface="Comic Sans MS" pitchFamily="66" charset="0"/>
                  <a:ea typeface="굴림" pitchFamily="50" charset="-127"/>
                </a:rPr>
                <a:t>nsecs</a:t>
              </a:r>
              <a:r>
                <a:rPr lang="en-US" altLang="ko-KR" sz="900" b="0" i="1" u="none" dirty="0">
                  <a:latin typeface="Comic Sans MS" pitchFamily="66" charset="0"/>
                  <a:ea typeface="굴림" pitchFamily="50" charset="-127"/>
                </a:rPr>
                <a:t>.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ko-KR" sz="900" b="0" i="1" u="none" dirty="0">
                  <a:latin typeface="Comic Sans MS" pitchFamily="66" charset="0"/>
                  <a:ea typeface="굴림" pitchFamily="50" charset="-127"/>
                </a:rPr>
                <a:t>There are 100 “triggers” per second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ko-KR" sz="900" b="0" i="1" u="none" dirty="0">
                  <a:latin typeface="Comic Sans MS" pitchFamily="66" charset="0"/>
                  <a:ea typeface="굴림" pitchFamily="50" charset="-127"/>
                </a:rPr>
                <a:t>Each triggered event is ~1 </a:t>
              </a:r>
              <a:r>
                <a:rPr lang="en-US" altLang="ko-KR" sz="900" b="0" i="1" u="none" dirty="0" err="1">
                  <a:latin typeface="Comic Sans MS" pitchFamily="66" charset="0"/>
                  <a:ea typeface="굴림" pitchFamily="50" charset="-127"/>
                </a:rPr>
                <a:t>MByte</a:t>
              </a:r>
              <a:r>
                <a:rPr lang="en-US" altLang="ko-KR" sz="900" b="0" i="1" u="none" dirty="0">
                  <a:latin typeface="Comic Sans MS" pitchFamily="66" charset="0"/>
                  <a:ea typeface="굴림" pitchFamily="50" charset="-127"/>
                </a:rPr>
                <a:t> in size</a:t>
              </a:r>
              <a:endParaRPr lang="en-US" altLang="ko-KR" sz="1000" b="0" i="1" u="none" dirty="0">
                <a:ea typeface="굴림" pitchFamily="50" charset="-127"/>
              </a:endParaRPr>
            </a:p>
          </p:txBody>
        </p:sp>
        <p:grpSp>
          <p:nvGrpSpPr>
            <p:cNvPr id="11" name="Group 81"/>
            <p:cNvGrpSpPr>
              <a:grpSpLocks/>
            </p:cNvGrpSpPr>
            <p:nvPr/>
          </p:nvGrpSpPr>
          <p:grpSpPr bwMode="auto">
            <a:xfrm>
              <a:off x="3312" y="3360"/>
              <a:ext cx="2208" cy="576"/>
              <a:chOff x="3168" y="3648"/>
              <a:chExt cx="2208" cy="576"/>
            </a:xfrm>
          </p:grpSpPr>
          <p:sp>
            <p:nvSpPr>
              <p:cNvPr id="1005650" name="Rectangle 82"/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2208" cy="57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51" name="Text Box 83"/>
              <p:cNvSpPr txBox="1">
                <a:spLocks noChangeArrowheads="1"/>
              </p:cNvSpPr>
              <p:nvPr/>
            </p:nvSpPr>
            <p:spPr bwMode="auto">
              <a:xfrm>
                <a:off x="3216" y="3648"/>
                <a:ext cx="2160" cy="5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ko-KR" sz="900" b="0" i="1" u="none">
                    <a:latin typeface="Comic Sans MS" pitchFamily="66" charset="0"/>
                    <a:ea typeface="굴림" pitchFamily="50" charset="-127"/>
                  </a:rPr>
                  <a:t>Physicists work on analysis “channels”.</a:t>
                </a:r>
              </a:p>
              <a:p>
                <a:pPr algn="l">
                  <a:spcBef>
                    <a:spcPct val="50000"/>
                  </a:spcBef>
                </a:pPr>
                <a:r>
                  <a:rPr lang="en-US" altLang="ko-KR" sz="900" b="0" i="1" u="none">
                    <a:latin typeface="Comic Sans MS" pitchFamily="66" charset="0"/>
                    <a:ea typeface="굴림" pitchFamily="50" charset="-127"/>
                  </a:rPr>
                  <a:t>Each institute will have ~10 physicists working on one or more channels; data for these channels should be cached by the institute server</a:t>
                </a:r>
              </a:p>
            </p:txBody>
          </p:sp>
        </p:grpSp>
        <p:grpSp>
          <p:nvGrpSpPr>
            <p:cNvPr id="12" name="Group 84"/>
            <p:cNvGrpSpPr>
              <a:grpSpLocks/>
            </p:cNvGrpSpPr>
            <p:nvPr/>
          </p:nvGrpSpPr>
          <p:grpSpPr bwMode="auto">
            <a:xfrm>
              <a:off x="480" y="3216"/>
              <a:ext cx="523" cy="359"/>
              <a:chOff x="4608" y="816"/>
              <a:chExt cx="528" cy="384"/>
            </a:xfrm>
          </p:grpSpPr>
          <p:sp>
            <p:nvSpPr>
              <p:cNvPr id="1005653" name="AutoShape 85"/>
              <p:cNvSpPr>
                <a:spLocks noChangeArrowheads="1"/>
              </p:cNvSpPr>
              <p:nvPr/>
            </p:nvSpPr>
            <p:spPr bwMode="auto">
              <a:xfrm>
                <a:off x="4608" y="816"/>
                <a:ext cx="317" cy="192"/>
              </a:xfrm>
              <a:prstGeom prst="flowChartMagneticDisk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54" name="AutoShape 86"/>
              <p:cNvSpPr>
                <a:spLocks noChangeArrowheads="1"/>
              </p:cNvSpPr>
              <p:nvPr/>
            </p:nvSpPr>
            <p:spPr bwMode="auto">
              <a:xfrm>
                <a:off x="4656" y="864"/>
                <a:ext cx="317" cy="192"/>
              </a:xfrm>
              <a:prstGeom prst="flowChartMagneticDisk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55" name="AutoShape 87"/>
              <p:cNvSpPr>
                <a:spLocks noChangeArrowheads="1"/>
              </p:cNvSpPr>
              <p:nvPr/>
            </p:nvSpPr>
            <p:spPr bwMode="auto">
              <a:xfrm>
                <a:off x="4749" y="944"/>
                <a:ext cx="317" cy="192"/>
              </a:xfrm>
              <a:prstGeom prst="flowChartMagneticDisk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56" name="AutoShape 88"/>
              <p:cNvSpPr>
                <a:spLocks noChangeArrowheads="1"/>
              </p:cNvSpPr>
              <p:nvPr/>
            </p:nvSpPr>
            <p:spPr bwMode="auto">
              <a:xfrm>
                <a:off x="4819" y="1008"/>
                <a:ext cx="317" cy="192"/>
              </a:xfrm>
              <a:prstGeom prst="flowChartMagneticDisk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</p:grpSp>
        <p:sp>
          <p:nvSpPr>
            <p:cNvPr id="1005657" name="Text Box 89"/>
            <p:cNvSpPr txBox="1">
              <a:spLocks noChangeArrowheads="1"/>
            </p:cNvSpPr>
            <p:nvPr/>
          </p:nvSpPr>
          <p:spPr bwMode="auto">
            <a:xfrm>
              <a:off x="384" y="3552"/>
              <a:ext cx="912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Physics data cache</a:t>
              </a:r>
              <a:endParaRPr lang="en-US" altLang="ko-KR" sz="1000" b="0" u="none">
                <a:ea typeface="굴림" pitchFamily="50" charset="-127"/>
              </a:endParaRPr>
            </a:p>
          </p:txBody>
        </p:sp>
        <p:sp>
          <p:nvSpPr>
            <p:cNvPr id="1005658" name="Line 90"/>
            <p:cNvSpPr>
              <a:spLocks noChangeShapeType="1"/>
            </p:cNvSpPr>
            <p:nvPr/>
          </p:nvSpPr>
          <p:spPr bwMode="auto">
            <a:xfrm>
              <a:off x="960" y="3360"/>
              <a:ext cx="19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59" name="Text Box 91"/>
            <p:cNvSpPr txBox="1">
              <a:spLocks noChangeArrowheads="1"/>
            </p:cNvSpPr>
            <p:nvPr/>
          </p:nvSpPr>
          <p:spPr bwMode="auto">
            <a:xfrm>
              <a:off x="1248" y="527"/>
              <a:ext cx="1056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200" b="0" u="none" dirty="0">
                  <a:latin typeface="Comic Sans MS" pitchFamily="66" charset="0"/>
                  <a:ea typeface="굴림" pitchFamily="50" charset="-127"/>
                </a:rPr>
                <a:t>~</a:t>
              </a:r>
              <a:r>
                <a:rPr lang="en-US" altLang="ko-KR" sz="1200" b="0" u="none" dirty="0" err="1">
                  <a:latin typeface="Comic Sans MS" pitchFamily="66" charset="0"/>
                  <a:ea typeface="굴림" pitchFamily="50" charset="-127"/>
                </a:rPr>
                <a:t>PBytes</a:t>
              </a:r>
              <a:r>
                <a:rPr lang="en-US" altLang="ko-KR" sz="1200" b="0" u="none" dirty="0">
                  <a:latin typeface="Comic Sans MS" pitchFamily="66" charset="0"/>
                  <a:ea typeface="굴림" pitchFamily="50" charset="-127"/>
                </a:rPr>
                <a:t>/sec</a:t>
              </a:r>
              <a:endParaRPr lang="en-US" altLang="ko-KR" b="0" u="none" dirty="0">
                <a:ea typeface="굴림" pitchFamily="50" charset="-127"/>
              </a:endParaRPr>
            </a:p>
          </p:txBody>
        </p:sp>
        <p:sp>
          <p:nvSpPr>
            <p:cNvPr id="1005660" name="Rectangle 92"/>
            <p:cNvSpPr>
              <a:spLocks noChangeArrowheads="1"/>
            </p:cNvSpPr>
            <p:nvPr/>
          </p:nvSpPr>
          <p:spPr bwMode="auto">
            <a:xfrm>
              <a:off x="1536" y="1633"/>
              <a:ext cx="1504" cy="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                       ~622 Mbits/sec                                      or Air Freight (deprecated)</a:t>
              </a:r>
            </a:p>
          </p:txBody>
        </p:sp>
        <p:grpSp>
          <p:nvGrpSpPr>
            <p:cNvPr id="13" name="Group 93"/>
            <p:cNvGrpSpPr>
              <a:grpSpLocks/>
            </p:cNvGrpSpPr>
            <p:nvPr/>
          </p:nvGrpSpPr>
          <p:grpSpPr bwMode="auto">
            <a:xfrm>
              <a:off x="3600" y="2064"/>
              <a:ext cx="240" cy="240"/>
              <a:chOff x="3504" y="2448"/>
              <a:chExt cx="1051" cy="1138"/>
            </a:xfrm>
          </p:grpSpPr>
          <p:graphicFrame>
            <p:nvGraphicFramePr>
              <p:cNvPr id="1005662" name="Object 94"/>
              <p:cNvGraphicFramePr>
                <a:graphicFrameLocks noChangeAspect="1"/>
              </p:cNvGraphicFramePr>
              <p:nvPr/>
            </p:nvGraphicFramePr>
            <p:xfrm>
              <a:off x="3504" y="2448"/>
              <a:ext cx="1051" cy="1138"/>
            </p:xfrm>
            <a:graphic>
              <a:graphicData uri="http://schemas.openxmlformats.org/presentationml/2006/ole">
                <p:oleObj spid="_x0000_s29700" name="Image" r:id="rId14" imgW="1668925" imgH="1806097" progId="">
                  <p:embed/>
                </p:oleObj>
              </a:graphicData>
            </a:graphic>
          </p:graphicFrame>
          <p:sp>
            <p:nvSpPr>
              <p:cNvPr id="1005663" name="WordArt 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0" y="2784"/>
                <a:ext cx="384" cy="480"/>
              </a:xfrm>
              <a:prstGeom prst="rect">
                <a:avLst/>
              </a:prstGeom>
            </p:spPr>
            <p:txBody>
              <a:bodyPr wrap="none" fromWordArt="1">
                <a:prstTxWarp prst="textSlantUp">
                  <a:avLst>
                    <a:gd name="adj" fmla="val 32056"/>
                  </a:avLst>
                </a:prstTxWarp>
              </a:bodyPr>
              <a:lstStyle/>
              <a:p>
                <a:r>
                  <a:rPr lang="en-US" altLang="ko-KR" sz="3600" b="0" u="none" kern="10">
                    <a:ln w="9525">
                      <a:solidFill>
                        <a:srgbClr val="CC99FF"/>
                      </a:solidFill>
                      <a:round/>
                      <a:headEnd/>
                      <a:tailEnd/>
                    </a:ln>
                    <a:gradFill rotWithShape="0">
                      <a:gsLst>
                        <a:gs pos="0">
                          <a:srgbClr val="6600CC"/>
                        </a:gs>
                        <a:gs pos="100000">
                          <a:srgbClr val="CC00CC"/>
                        </a:gs>
                      </a:gsLst>
                      <a:lin ang="5400000" scaled="1"/>
                    </a:gradFill>
                    <a:effectLst>
                      <a:outerShdw dist="53882" dir="2700000" algn="ctr" rotWithShape="0">
                        <a:srgbClr val="9999FF"/>
                      </a:outerShdw>
                    </a:effectLst>
                    <a:latin typeface="Impact"/>
                  </a:rPr>
                  <a:t>HPSS</a:t>
                </a:r>
                <a:endParaRPr lang="ko-KR" altLang="en-US" sz="3600" b="0" u="none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/>
                    </a:outerShdw>
                  </a:effectLst>
                  <a:latin typeface="Impact"/>
                </a:endParaRPr>
              </a:p>
            </p:txBody>
          </p:sp>
        </p:grpSp>
        <p:grpSp>
          <p:nvGrpSpPr>
            <p:cNvPr id="14" name="Group 96"/>
            <p:cNvGrpSpPr>
              <a:grpSpLocks/>
            </p:cNvGrpSpPr>
            <p:nvPr/>
          </p:nvGrpSpPr>
          <p:grpSpPr bwMode="auto">
            <a:xfrm>
              <a:off x="2448" y="2064"/>
              <a:ext cx="240" cy="240"/>
              <a:chOff x="3504" y="2448"/>
              <a:chExt cx="1051" cy="1138"/>
            </a:xfrm>
          </p:grpSpPr>
          <p:graphicFrame>
            <p:nvGraphicFramePr>
              <p:cNvPr id="1005665" name="Object 97"/>
              <p:cNvGraphicFramePr>
                <a:graphicFrameLocks noChangeAspect="1"/>
              </p:cNvGraphicFramePr>
              <p:nvPr/>
            </p:nvGraphicFramePr>
            <p:xfrm>
              <a:off x="3504" y="2448"/>
              <a:ext cx="1051" cy="1138"/>
            </p:xfrm>
            <a:graphic>
              <a:graphicData uri="http://schemas.openxmlformats.org/presentationml/2006/ole">
                <p:oleObj spid="_x0000_s29699" name="Image" r:id="rId15" imgW="1668925" imgH="1806097" progId="">
                  <p:embed/>
                </p:oleObj>
              </a:graphicData>
            </a:graphic>
          </p:graphicFrame>
          <p:sp>
            <p:nvSpPr>
              <p:cNvPr id="1005666" name="WordArt 9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0" y="2784"/>
                <a:ext cx="384" cy="480"/>
              </a:xfrm>
              <a:prstGeom prst="rect">
                <a:avLst/>
              </a:prstGeom>
            </p:spPr>
            <p:txBody>
              <a:bodyPr wrap="none" fromWordArt="1">
                <a:prstTxWarp prst="textSlantUp">
                  <a:avLst>
                    <a:gd name="adj" fmla="val 32056"/>
                  </a:avLst>
                </a:prstTxWarp>
              </a:bodyPr>
              <a:lstStyle/>
              <a:p>
                <a:r>
                  <a:rPr lang="en-US" altLang="ko-KR" sz="3600" b="0" u="none" kern="10">
                    <a:ln w="9525">
                      <a:solidFill>
                        <a:srgbClr val="CC99FF"/>
                      </a:solidFill>
                      <a:round/>
                      <a:headEnd/>
                      <a:tailEnd/>
                    </a:ln>
                    <a:gradFill rotWithShape="0">
                      <a:gsLst>
                        <a:gs pos="0">
                          <a:srgbClr val="6600CC"/>
                        </a:gs>
                        <a:gs pos="100000">
                          <a:srgbClr val="CC00CC"/>
                        </a:gs>
                      </a:gsLst>
                      <a:lin ang="5400000" scaled="1"/>
                    </a:gradFill>
                    <a:effectLst>
                      <a:outerShdw dist="53882" dir="2700000" algn="ctr" rotWithShape="0">
                        <a:srgbClr val="9999FF"/>
                      </a:outerShdw>
                    </a:effectLst>
                    <a:latin typeface="Impact"/>
                  </a:rPr>
                  <a:t>HPSS</a:t>
                </a:r>
                <a:endParaRPr lang="ko-KR" altLang="en-US" sz="3600" b="0" u="none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/>
                    </a:outerShdw>
                  </a:effectLst>
                  <a:latin typeface="Impact"/>
                </a:endParaRPr>
              </a:p>
            </p:txBody>
          </p:sp>
        </p:grpSp>
        <p:grpSp>
          <p:nvGrpSpPr>
            <p:cNvPr id="15" name="Group 99"/>
            <p:cNvGrpSpPr>
              <a:grpSpLocks/>
            </p:cNvGrpSpPr>
            <p:nvPr/>
          </p:nvGrpSpPr>
          <p:grpSpPr bwMode="auto">
            <a:xfrm>
              <a:off x="1296" y="2064"/>
              <a:ext cx="240" cy="240"/>
              <a:chOff x="3504" y="2448"/>
              <a:chExt cx="1051" cy="1138"/>
            </a:xfrm>
          </p:grpSpPr>
          <p:graphicFrame>
            <p:nvGraphicFramePr>
              <p:cNvPr id="1005668" name="Object 100"/>
              <p:cNvGraphicFramePr>
                <a:graphicFrameLocks noChangeAspect="1"/>
              </p:cNvGraphicFramePr>
              <p:nvPr/>
            </p:nvGraphicFramePr>
            <p:xfrm>
              <a:off x="3504" y="2448"/>
              <a:ext cx="1051" cy="1138"/>
            </p:xfrm>
            <a:graphic>
              <a:graphicData uri="http://schemas.openxmlformats.org/presentationml/2006/ole">
                <p:oleObj spid="_x0000_s29698" name="Image" r:id="rId16" imgW="1668925" imgH="1806097" progId="">
                  <p:embed/>
                </p:oleObj>
              </a:graphicData>
            </a:graphic>
          </p:graphicFrame>
          <p:sp>
            <p:nvSpPr>
              <p:cNvPr id="1005669" name="WordArt 1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0" y="2784"/>
                <a:ext cx="384" cy="480"/>
              </a:xfrm>
              <a:prstGeom prst="rect">
                <a:avLst/>
              </a:prstGeom>
            </p:spPr>
            <p:txBody>
              <a:bodyPr wrap="none" fromWordArt="1">
                <a:prstTxWarp prst="textSlantUp">
                  <a:avLst>
                    <a:gd name="adj" fmla="val 32056"/>
                  </a:avLst>
                </a:prstTxWarp>
              </a:bodyPr>
              <a:lstStyle/>
              <a:p>
                <a:r>
                  <a:rPr lang="en-US" altLang="ko-KR" sz="3600" b="0" u="none" kern="10">
                    <a:ln w="9525">
                      <a:solidFill>
                        <a:srgbClr val="CC99FF"/>
                      </a:solidFill>
                      <a:round/>
                      <a:headEnd/>
                      <a:tailEnd/>
                    </a:ln>
                    <a:gradFill rotWithShape="0">
                      <a:gsLst>
                        <a:gs pos="0">
                          <a:srgbClr val="6600CC"/>
                        </a:gs>
                        <a:gs pos="100000">
                          <a:srgbClr val="CC00CC"/>
                        </a:gs>
                      </a:gsLst>
                      <a:lin ang="5400000" scaled="1"/>
                    </a:gradFill>
                    <a:effectLst>
                      <a:outerShdw dist="53882" dir="2700000" algn="ctr" rotWithShape="0">
                        <a:srgbClr val="9999FF"/>
                      </a:outerShdw>
                    </a:effectLst>
                    <a:latin typeface="Impact"/>
                  </a:rPr>
                  <a:t>HPSS</a:t>
                </a:r>
                <a:endParaRPr lang="ko-KR" altLang="en-US" sz="3600" b="0" u="none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0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/>
                    </a:outerShdw>
                  </a:effectLst>
                  <a:latin typeface="Impact"/>
                </a:endParaRPr>
              </a:p>
            </p:txBody>
          </p:sp>
        </p:grpSp>
        <p:sp>
          <p:nvSpPr>
            <p:cNvPr id="1005670" name="Line 102"/>
            <p:cNvSpPr>
              <a:spLocks noChangeShapeType="1"/>
            </p:cNvSpPr>
            <p:nvPr/>
          </p:nvSpPr>
          <p:spPr bwMode="auto">
            <a:xfrm>
              <a:off x="4416" y="1776"/>
              <a:ext cx="864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grpSp>
          <p:nvGrpSpPr>
            <p:cNvPr id="16" name="Group 103"/>
            <p:cNvGrpSpPr>
              <a:grpSpLocks/>
            </p:cNvGrpSpPr>
            <p:nvPr/>
          </p:nvGrpSpPr>
          <p:grpSpPr bwMode="auto">
            <a:xfrm>
              <a:off x="4032" y="2592"/>
              <a:ext cx="672" cy="340"/>
              <a:chOff x="2208" y="2592"/>
              <a:chExt cx="672" cy="340"/>
            </a:xfrm>
          </p:grpSpPr>
          <p:sp>
            <p:nvSpPr>
              <p:cNvPr id="1005672" name="Oval 104"/>
              <p:cNvSpPr>
                <a:spLocks noChangeArrowheads="1"/>
              </p:cNvSpPr>
              <p:nvPr/>
            </p:nvSpPr>
            <p:spPr bwMode="auto">
              <a:xfrm>
                <a:off x="2208" y="2592"/>
                <a:ext cx="672" cy="33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73" name="Text Box 105"/>
              <p:cNvSpPr txBox="1">
                <a:spLocks noChangeArrowheads="1"/>
              </p:cNvSpPr>
              <p:nvPr/>
            </p:nvSpPr>
            <p:spPr bwMode="auto">
              <a:xfrm>
                <a:off x="2208" y="2640"/>
                <a:ext cx="672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 b="0" u="none">
                    <a:latin typeface="Comic Sans MS" pitchFamily="66" charset="0"/>
                    <a:ea typeface="굴림" pitchFamily="50" charset="-127"/>
                  </a:rPr>
                  <a:t>Tier2 Centre ~1 TIPS</a:t>
                </a:r>
              </a:p>
            </p:txBody>
          </p:sp>
        </p:grpSp>
        <p:grpSp>
          <p:nvGrpSpPr>
            <p:cNvPr id="17" name="Group 106"/>
            <p:cNvGrpSpPr>
              <a:grpSpLocks/>
            </p:cNvGrpSpPr>
            <p:nvPr/>
          </p:nvGrpSpPr>
          <p:grpSpPr bwMode="auto">
            <a:xfrm>
              <a:off x="3648" y="2592"/>
              <a:ext cx="672" cy="340"/>
              <a:chOff x="2208" y="2592"/>
              <a:chExt cx="672" cy="340"/>
            </a:xfrm>
          </p:grpSpPr>
          <p:sp>
            <p:nvSpPr>
              <p:cNvPr id="1005675" name="Oval 107"/>
              <p:cNvSpPr>
                <a:spLocks noChangeArrowheads="1"/>
              </p:cNvSpPr>
              <p:nvPr/>
            </p:nvSpPr>
            <p:spPr bwMode="auto">
              <a:xfrm>
                <a:off x="2208" y="2592"/>
                <a:ext cx="672" cy="33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76" name="Text Box 108"/>
              <p:cNvSpPr txBox="1">
                <a:spLocks noChangeArrowheads="1"/>
              </p:cNvSpPr>
              <p:nvPr/>
            </p:nvSpPr>
            <p:spPr bwMode="auto">
              <a:xfrm>
                <a:off x="2208" y="2640"/>
                <a:ext cx="672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 b="0" u="none">
                    <a:latin typeface="Comic Sans MS" pitchFamily="66" charset="0"/>
                    <a:ea typeface="굴림" pitchFamily="50" charset="-127"/>
                  </a:rPr>
                  <a:t>Tier2 Centre ~1 TIPS</a:t>
                </a:r>
              </a:p>
            </p:txBody>
          </p:sp>
        </p:grpSp>
        <p:grpSp>
          <p:nvGrpSpPr>
            <p:cNvPr id="18" name="Group 109"/>
            <p:cNvGrpSpPr>
              <a:grpSpLocks/>
            </p:cNvGrpSpPr>
            <p:nvPr/>
          </p:nvGrpSpPr>
          <p:grpSpPr bwMode="auto">
            <a:xfrm>
              <a:off x="3312" y="2592"/>
              <a:ext cx="672" cy="340"/>
              <a:chOff x="2208" y="2592"/>
              <a:chExt cx="672" cy="340"/>
            </a:xfrm>
          </p:grpSpPr>
          <p:sp>
            <p:nvSpPr>
              <p:cNvPr id="1005678" name="Oval 110"/>
              <p:cNvSpPr>
                <a:spLocks noChangeArrowheads="1"/>
              </p:cNvSpPr>
              <p:nvPr/>
            </p:nvSpPr>
            <p:spPr bwMode="auto">
              <a:xfrm>
                <a:off x="2208" y="2592"/>
                <a:ext cx="672" cy="33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79" name="Text Box 111"/>
              <p:cNvSpPr txBox="1">
                <a:spLocks noChangeArrowheads="1"/>
              </p:cNvSpPr>
              <p:nvPr/>
            </p:nvSpPr>
            <p:spPr bwMode="auto">
              <a:xfrm>
                <a:off x="2208" y="2640"/>
                <a:ext cx="672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 b="0" u="none">
                    <a:latin typeface="Comic Sans MS" pitchFamily="66" charset="0"/>
                    <a:ea typeface="굴림" pitchFamily="50" charset="-127"/>
                  </a:rPr>
                  <a:t>Tier2 Centre ~1 TIPS</a:t>
                </a:r>
              </a:p>
            </p:txBody>
          </p:sp>
        </p:grpSp>
        <p:grpSp>
          <p:nvGrpSpPr>
            <p:cNvPr id="19" name="Group 112"/>
            <p:cNvGrpSpPr>
              <a:grpSpLocks/>
            </p:cNvGrpSpPr>
            <p:nvPr/>
          </p:nvGrpSpPr>
          <p:grpSpPr bwMode="auto">
            <a:xfrm>
              <a:off x="2736" y="2592"/>
              <a:ext cx="672" cy="340"/>
              <a:chOff x="2208" y="2592"/>
              <a:chExt cx="672" cy="340"/>
            </a:xfrm>
          </p:grpSpPr>
          <p:sp>
            <p:nvSpPr>
              <p:cNvPr id="1005681" name="Oval 113"/>
              <p:cNvSpPr>
                <a:spLocks noChangeArrowheads="1"/>
              </p:cNvSpPr>
              <p:nvPr/>
            </p:nvSpPr>
            <p:spPr bwMode="auto">
              <a:xfrm>
                <a:off x="2208" y="2592"/>
                <a:ext cx="672" cy="33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82" name="Text Box 114"/>
              <p:cNvSpPr txBox="1">
                <a:spLocks noChangeArrowheads="1"/>
              </p:cNvSpPr>
              <p:nvPr/>
            </p:nvSpPr>
            <p:spPr bwMode="auto">
              <a:xfrm>
                <a:off x="2208" y="2640"/>
                <a:ext cx="672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000" b="0" u="none">
                    <a:latin typeface="Comic Sans MS" pitchFamily="66" charset="0"/>
                    <a:ea typeface="굴림" pitchFamily="50" charset="-127"/>
                  </a:rPr>
                  <a:t>Caltech                  ~1 TIPS</a:t>
                </a:r>
              </a:p>
            </p:txBody>
          </p:sp>
        </p:grpSp>
        <p:sp>
          <p:nvSpPr>
            <p:cNvPr id="1005683" name="Line 115"/>
            <p:cNvSpPr>
              <a:spLocks noChangeShapeType="1"/>
            </p:cNvSpPr>
            <p:nvPr/>
          </p:nvSpPr>
          <p:spPr bwMode="auto">
            <a:xfrm>
              <a:off x="4512" y="2352"/>
              <a:ext cx="192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84" name="Line 116"/>
            <p:cNvSpPr>
              <a:spLocks noChangeShapeType="1"/>
            </p:cNvSpPr>
            <p:nvPr/>
          </p:nvSpPr>
          <p:spPr bwMode="auto">
            <a:xfrm>
              <a:off x="4320" y="2352"/>
              <a:ext cx="48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85" name="Line 117"/>
            <p:cNvSpPr>
              <a:spLocks noChangeShapeType="1"/>
            </p:cNvSpPr>
            <p:nvPr/>
          </p:nvSpPr>
          <p:spPr bwMode="auto">
            <a:xfrm flipH="1">
              <a:off x="4032" y="2352"/>
              <a:ext cx="144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86" name="Line 118"/>
            <p:cNvSpPr>
              <a:spLocks noChangeShapeType="1"/>
            </p:cNvSpPr>
            <p:nvPr/>
          </p:nvSpPr>
          <p:spPr bwMode="auto">
            <a:xfrm flipH="1">
              <a:off x="3792" y="2352"/>
              <a:ext cx="288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87" name="Line 119"/>
            <p:cNvSpPr>
              <a:spLocks noChangeShapeType="1"/>
            </p:cNvSpPr>
            <p:nvPr/>
          </p:nvSpPr>
          <p:spPr bwMode="auto">
            <a:xfrm flipH="1">
              <a:off x="3264" y="2304"/>
              <a:ext cx="72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ko-KR" altLang="en-US" b="0" u="none"/>
            </a:p>
          </p:txBody>
        </p:sp>
        <p:sp>
          <p:nvSpPr>
            <p:cNvPr id="1005688" name="Text Box 120"/>
            <p:cNvSpPr txBox="1">
              <a:spLocks noChangeArrowheads="1"/>
            </p:cNvSpPr>
            <p:nvPr/>
          </p:nvSpPr>
          <p:spPr bwMode="auto">
            <a:xfrm>
              <a:off x="1536" y="2881"/>
              <a:ext cx="1056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1000" b="0" u="none">
                  <a:latin typeface="Comic Sans MS" pitchFamily="66" charset="0"/>
                  <a:ea typeface="굴림" pitchFamily="50" charset="-127"/>
                </a:rPr>
                <a:t>~622 Mbits/sec</a:t>
              </a:r>
              <a:endParaRPr lang="en-US" altLang="ko-KR" sz="1000" b="0" u="none">
                <a:ea typeface="굴림" pitchFamily="50" charset="-127"/>
              </a:endParaRPr>
            </a:p>
          </p:txBody>
        </p:sp>
        <p:pic>
          <p:nvPicPr>
            <p:cNvPr id="1005689" name="Picture 121" descr="C:\WINNT\Profiles\julian\DESKTOP\zms0.gif"/>
            <p:cNvPicPr>
              <a:picLocks noChangeAspect="1" noChangeArrowheads="1" noCrop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288" y="480"/>
              <a:ext cx="288" cy="288"/>
            </a:xfrm>
            <a:prstGeom prst="rect">
              <a:avLst/>
            </a:prstGeom>
            <a:noFill/>
          </p:spPr>
        </p:pic>
        <p:sp>
          <p:nvSpPr>
            <p:cNvPr id="1005690" name="Text Box 122"/>
            <p:cNvSpPr txBox="1">
              <a:spLocks noChangeArrowheads="1"/>
            </p:cNvSpPr>
            <p:nvPr/>
          </p:nvSpPr>
          <p:spPr bwMode="auto">
            <a:xfrm>
              <a:off x="2736" y="1488"/>
              <a:ext cx="48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1500" b="0" i="1" u="none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Tier 0</a:t>
              </a:r>
            </a:p>
          </p:txBody>
        </p:sp>
        <p:sp>
          <p:nvSpPr>
            <p:cNvPr id="1005691" name="Text Box 123"/>
            <p:cNvSpPr txBox="1">
              <a:spLocks noChangeArrowheads="1"/>
            </p:cNvSpPr>
            <p:nvPr/>
          </p:nvSpPr>
          <p:spPr bwMode="auto">
            <a:xfrm>
              <a:off x="96" y="1872"/>
              <a:ext cx="48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1500" b="0" i="1" u="none" dirty="0">
                  <a:solidFill>
                    <a:schemeClr val="tx2"/>
                  </a:solidFill>
                  <a:ea typeface="굴림" pitchFamily="50" charset="-127"/>
                </a:rPr>
                <a:t>Tier 1</a:t>
              </a:r>
            </a:p>
          </p:txBody>
        </p:sp>
        <p:sp>
          <p:nvSpPr>
            <p:cNvPr id="1005692" name="Text Box 124"/>
            <p:cNvSpPr txBox="1">
              <a:spLocks noChangeArrowheads="1"/>
            </p:cNvSpPr>
            <p:nvPr/>
          </p:nvSpPr>
          <p:spPr bwMode="auto">
            <a:xfrm>
              <a:off x="2208" y="2592"/>
              <a:ext cx="48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1500" b="0" i="1" u="none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Tier 2</a:t>
              </a:r>
            </a:p>
          </p:txBody>
        </p:sp>
        <p:sp>
          <p:nvSpPr>
            <p:cNvPr id="1005693" name="Text Box 125"/>
            <p:cNvSpPr txBox="1">
              <a:spLocks noChangeArrowheads="1"/>
            </p:cNvSpPr>
            <p:nvPr/>
          </p:nvSpPr>
          <p:spPr bwMode="auto">
            <a:xfrm>
              <a:off x="2400" y="3792"/>
              <a:ext cx="48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ko-KR" sz="1500" b="0" i="1" u="none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itchFamily="50" charset="-127"/>
                </a:rPr>
                <a:t>Tier 4</a:t>
              </a:r>
            </a:p>
          </p:txBody>
        </p:sp>
        <p:grpSp>
          <p:nvGrpSpPr>
            <p:cNvPr id="20" name="Group 126"/>
            <p:cNvGrpSpPr>
              <a:grpSpLocks/>
            </p:cNvGrpSpPr>
            <p:nvPr/>
          </p:nvGrpSpPr>
          <p:grpSpPr bwMode="auto">
            <a:xfrm>
              <a:off x="3888" y="671"/>
              <a:ext cx="1296" cy="323"/>
              <a:chOff x="3168" y="3646"/>
              <a:chExt cx="2208" cy="646"/>
            </a:xfrm>
          </p:grpSpPr>
          <p:sp>
            <p:nvSpPr>
              <p:cNvPr id="1005695" name="Rectangle 127"/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2208" cy="57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ko-KR" altLang="en-US" b="0" u="none"/>
              </a:p>
            </p:txBody>
          </p:sp>
          <p:sp>
            <p:nvSpPr>
              <p:cNvPr id="1005696" name="Text Box 128"/>
              <p:cNvSpPr txBox="1">
                <a:spLocks noChangeArrowheads="1"/>
              </p:cNvSpPr>
              <p:nvPr/>
            </p:nvSpPr>
            <p:spPr bwMode="auto">
              <a:xfrm>
                <a:off x="3216" y="3646"/>
                <a:ext cx="2160" cy="6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ko-KR" sz="900" b="0" i="1" u="none">
                    <a:latin typeface="Comic Sans MS" pitchFamily="66" charset="0"/>
                    <a:ea typeface="굴림" pitchFamily="50" charset="-127"/>
                  </a:rPr>
                  <a:t>1 TIPS is approximately 25,000 </a:t>
                </a:r>
              </a:p>
              <a:p>
                <a:pPr algn="l">
                  <a:spcBef>
                    <a:spcPct val="50000"/>
                  </a:spcBef>
                </a:pPr>
                <a:r>
                  <a:rPr lang="en-US" altLang="ko-KR" sz="900" b="0" i="1" u="none">
                    <a:latin typeface="Comic Sans MS" pitchFamily="66" charset="0"/>
                    <a:ea typeface="굴림" pitchFamily="50" charset="-127"/>
                  </a:rPr>
                  <a:t>SpecInt95 equivalents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306" name="Text Box 2"/>
          <p:cNvSpPr txBox="1">
            <a:spLocks noChangeArrowheads="1"/>
          </p:cNvSpPr>
          <p:nvPr/>
        </p:nvSpPr>
        <p:spPr bwMode="auto">
          <a:xfrm>
            <a:off x="8042005" y="5084431"/>
            <a:ext cx="676447" cy="5206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>
                <a:latin typeface="Arial" pitchFamily="34" charset="0"/>
              </a:rPr>
              <a:t>Grid</a:t>
            </a:r>
          </a:p>
          <a:p>
            <a:pPr algn="l" defTabSz="906463" eaLnBrk="0" hangingPunct="0"/>
            <a:r>
              <a:rPr lang="en-US" sz="1400" b="0" u="none">
                <a:latin typeface="Arial" pitchFamily="34" charset="0"/>
              </a:rPr>
              <a:t>Fabric</a:t>
            </a:r>
          </a:p>
        </p:txBody>
      </p:sp>
      <p:sp>
        <p:nvSpPr>
          <p:cNvPr id="1506307" name="Text Box 3"/>
          <p:cNvSpPr txBox="1">
            <a:spLocks noChangeArrowheads="1"/>
          </p:cNvSpPr>
          <p:nvPr/>
        </p:nvSpPr>
        <p:spPr bwMode="auto">
          <a:xfrm>
            <a:off x="8246649" y="1216352"/>
            <a:ext cx="723205" cy="5206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 dirty="0">
                <a:latin typeface="Arial" pitchFamily="34" charset="0"/>
              </a:rPr>
              <a:t>Grid</a:t>
            </a:r>
          </a:p>
          <a:p>
            <a:pPr algn="l" defTabSz="906463" eaLnBrk="0" hangingPunct="0"/>
            <a:r>
              <a:rPr lang="en-US" sz="1400" b="0" u="none" dirty="0">
                <a:latin typeface="Arial" pitchFamily="34" charset="0"/>
              </a:rPr>
              <a:t>Apps.</a:t>
            </a:r>
          </a:p>
        </p:txBody>
      </p:sp>
      <p:sp>
        <p:nvSpPr>
          <p:cNvPr id="1506308" name="Text Box 4"/>
          <p:cNvSpPr txBox="1">
            <a:spLocks noChangeArrowheads="1"/>
          </p:cNvSpPr>
          <p:nvPr/>
        </p:nvSpPr>
        <p:spPr bwMode="auto">
          <a:xfrm>
            <a:off x="8034996" y="3550906"/>
            <a:ext cx="1094831" cy="5206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 dirty="0">
                <a:latin typeface="Arial" pitchFamily="34" charset="0"/>
              </a:rPr>
              <a:t>Grid</a:t>
            </a:r>
          </a:p>
          <a:p>
            <a:pPr algn="l" defTabSz="906463" eaLnBrk="0" hangingPunct="0"/>
            <a:r>
              <a:rPr lang="en-US" sz="1400" b="0" u="none" dirty="0">
                <a:latin typeface="Arial" pitchFamily="34" charset="0"/>
              </a:rPr>
              <a:t>Middleware</a:t>
            </a:r>
          </a:p>
        </p:txBody>
      </p:sp>
      <p:sp>
        <p:nvSpPr>
          <p:cNvPr id="1506309" name="Text Box 5"/>
          <p:cNvSpPr txBox="1">
            <a:spLocks noChangeArrowheads="1"/>
          </p:cNvSpPr>
          <p:nvPr/>
        </p:nvSpPr>
        <p:spPr bwMode="auto">
          <a:xfrm>
            <a:off x="8138454" y="2371394"/>
            <a:ext cx="669618" cy="5206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 dirty="0" smtClean="0">
                <a:latin typeface="Arial" pitchFamily="34" charset="0"/>
              </a:rPr>
              <a:t>Grid</a:t>
            </a:r>
          </a:p>
          <a:p>
            <a:pPr algn="l" defTabSz="906463" eaLnBrk="0" hangingPunct="0"/>
            <a:r>
              <a:rPr lang="en-US" sz="1400" b="0" u="none" dirty="0" smtClean="0">
                <a:latin typeface="Arial" pitchFamily="34" charset="0"/>
              </a:rPr>
              <a:t>Tools</a:t>
            </a:r>
            <a:endParaRPr lang="en-US" sz="1400" b="0" u="none" dirty="0">
              <a:latin typeface="Arial" pitchFamily="34" charset="0"/>
            </a:endParaRPr>
          </a:p>
        </p:txBody>
      </p:sp>
      <p:sp>
        <p:nvSpPr>
          <p:cNvPr id="1506310" name="Rectangle 6"/>
          <p:cNvSpPr>
            <a:spLocks noChangeArrowheads="1"/>
          </p:cNvSpPr>
          <p:nvPr/>
        </p:nvSpPr>
        <p:spPr bwMode="auto">
          <a:xfrm>
            <a:off x="312467" y="4595481"/>
            <a:ext cx="7631113" cy="1543050"/>
          </a:xfrm>
          <a:prstGeom prst="rect">
            <a:avLst/>
          </a:prstGeom>
          <a:solidFill>
            <a:srgbClr val="CCFFFF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>
            <a:flatTx/>
          </a:bodyPr>
          <a:lstStyle/>
          <a:p>
            <a:endParaRPr lang="ko-KR" altLang="en-US" sz="1400" b="0" u="none"/>
          </a:p>
        </p:txBody>
      </p:sp>
      <p:sp>
        <p:nvSpPr>
          <p:cNvPr id="1506311" name="Text Box 7"/>
          <p:cNvSpPr txBox="1">
            <a:spLocks noChangeArrowheads="1"/>
          </p:cNvSpPr>
          <p:nvPr/>
        </p:nvSpPr>
        <p:spPr bwMode="auto">
          <a:xfrm>
            <a:off x="2092494" y="5384469"/>
            <a:ext cx="3824287" cy="305202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Arial" pitchFamily="34" charset="0"/>
              </a:rPr>
              <a:t>Networked Resources across Organisations</a:t>
            </a:r>
          </a:p>
        </p:txBody>
      </p:sp>
      <p:sp>
        <p:nvSpPr>
          <p:cNvPr id="1506312" name="Text Box 8"/>
          <p:cNvSpPr txBox="1">
            <a:spLocks noChangeArrowheads="1"/>
          </p:cNvSpPr>
          <p:nvPr/>
        </p:nvSpPr>
        <p:spPr bwMode="auto">
          <a:xfrm>
            <a:off x="423592" y="5782737"/>
            <a:ext cx="1065213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Computers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13" name="Text Box 9"/>
          <p:cNvSpPr txBox="1">
            <a:spLocks noChangeArrowheads="1"/>
          </p:cNvSpPr>
          <p:nvPr/>
        </p:nvSpPr>
        <p:spPr bwMode="auto">
          <a:xfrm>
            <a:off x="1633267" y="5768450"/>
            <a:ext cx="8191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Clusters</a:t>
            </a:r>
          </a:p>
        </p:txBody>
      </p:sp>
      <p:sp>
        <p:nvSpPr>
          <p:cNvPr id="1506314" name="Text Box 10"/>
          <p:cNvSpPr txBox="1">
            <a:spLocks noChangeArrowheads="1"/>
          </p:cNvSpPr>
          <p:nvPr/>
        </p:nvSpPr>
        <p:spPr bwMode="auto">
          <a:xfrm>
            <a:off x="4255817" y="5763687"/>
            <a:ext cx="1254125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Data Sources</a:t>
            </a:r>
          </a:p>
        </p:txBody>
      </p:sp>
      <p:sp>
        <p:nvSpPr>
          <p:cNvPr id="1506315" name="Text Box 11"/>
          <p:cNvSpPr txBox="1">
            <a:spLocks noChangeArrowheads="1"/>
          </p:cNvSpPr>
          <p:nvPr/>
        </p:nvSpPr>
        <p:spPr bwMode="auto">
          <a:xfrm>
            <a:off x="5997305" y="5771625"/>
            <a:ext cx="1808162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Scientific Instruments</a:t>
            </a:r>
          </a:p>
        </p:txBody>
      </p:sp>
      <p:sp>
        <p:nvSpPr>
          <p:cNvPr id="1506316" name="Text Box 12"/>
          <p:cNvSpPr txBox="1">
            <a:spLocks noChangeArrowheads="1"/>
          </p:cNvSpPr>
          <p:nvPr/>
        </p:nvSpPr>
        <p:spPr bwMode="auto">
          <a:xfrm>
            <a:off x="2639742" y="5760512"/>
            <a:ext cx="14668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Storage Systems</a:t>
            </a:r>
          </a:p>
        </p:txBody>
      </p:sp>
      <p:sp>
        <p:nvSpPr>
          <p:cNvPr id="1506317" name="Text Box 13"/>
          <p:cNvSpPr txBox="1">
            <a:spLocks noChangeArrowheads="1"/>
          </p:cNvSpPr>
          <p:nvPr/>
        </p:nvSpPr>
        <p:spPr bwMode="auto">
          <a:xfrm>
            <a:off x="2914380" y="4585686"/>
            <a:ext cx="2428875" cy="305202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 dirty="0">
                <a:solidFill>
                  <a:schemeClr val="bg1"/>
                </a:solidFill>
                <a:latin typeface="Arial" pitchFamily="34" charset="0"/>
              </a:rPr>
              <a:t>Local Resource Managers</a:t>
            </a:r>
          </a:p>
        </p:txBody>
      </p:sp>
      <p:sp>
        <p:nvSpPr>
          <p:cNvPr id="1506318" name="Text Box 14"/>
          <p:cNvSpPr txBox="1">
            <a:spLocks noChangeArrowheads="1"/>
          </p:cNvSpPr>
          <p:nvPr/>
        </p:nvSpPr>
        <p:spPr bwMode="auto">
          <a:xfrm>
            <a:off x="445817" y="4970131"/>
            <a:ext cx="1595438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Operating Systems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19" name="Text Box 15"/>
          <p:cNvSpPr txBox="1">
            <a:spLocks noChangeArrowheads="1"/>
          </p:cNvSpPr>
          <p:nvPr/>
        </p:nvSpPr>
        <p:spPr bwMode="auto">
          <a:xfrm>
            <a:off x="2138092" y="4968544"/>
            <a:ext cx="1595438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Queuing Systems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20" name="Text Box 16"/>
          <p:cNvSpPr txBox="1">
            <a:spLocks noChangeArrowheads="1"/>
          </p:cNvSpPr>
          <p:nvPr/>
        </p:nvSpPr>
        <p:spPr bwMode="auto">
          <a:xfrm>
            <a:off x="6324330" y="4971499"/>
            <a:ext cx="148590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 dirty="0">
                <a:solidFill>
                  <a:schemeClr val="bg1"/>
                </a:solidFill>
                <a:latin typeface="Times New Roman" pitchFamily="18" charset="0"/>
              </a:rPr>
              <a:t>TCP/IP &amp; UDP</a:t>
            </a:r>
            <a:endParaRPr lang="en-US" sz="1400" b="0" u="none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21" name="Text Box 17"/>
          <p:cNvSpPr txBox="1">
            <a:spLocks noChangeArrowheads="1"/>
          </p:cNvSpPr>
          <p:nvPr/>
        </p:nvSpPr>
        <p:spPr bwMode="auto">
          <a:xfrm>
            <a:off x="5565750" y="5729717"/>
            <a:ext cx="359052" cy="305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>
                <a:solidFill>
                  <a:schemeClr val="bg1"/>
                </a:solidFill>
                <a:latin typeface="Arial" pitchFamily="34" charset="0"/>
              </a:rPr>
              <a:t>…</a:t>
            </a:r>
          </a:p>
        </p:txBody>
      </p:sp>
      <p:sp>
        <p:nvSpPr>
          <p:cNvPr id="1506322" name="Text Box 18"/>
          <p:cNvSpPr txBox="1">
            <a:spLocks noChangeArrowheads="1"/>
          </p:cNvSpPr>
          <p:nvPr/>
        </p:nvSpPr>
        <p:spPr bwMode="auto">
          <a:xfrm>
            <a:off x="3843067" y="4979656"/>
            <a:ext cx="2005013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Libraries &amp; App Kernels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23" name="Text Box 19"/>
          <p:cNvSpPr txBox="1">
            <a:spLocks noChangeArrowheads="1"/>
          </p:cNvSpPr>
          <p:nvPr/>
        </p:nvSpPr>
        <p:spPr bwMode="auto">
          <a:xfrm>
            <a:off x="5884592" y="4957431"/>
            <a:ext cx="469900" cy="305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>
                <a:solidFill>
                  <a:schemeClr val="bg1"/>
                </a:solidFill>
                <a:latin typeface="Arial" pitchFamily="34" charset="0"/>
              </a:rPr>
              <a:t>…</a:t>
            </a:r>
          </a:p>
        </p:txBody>
      </p:sp>
      <p:sp>
        <p:nvSpPr>
          <p:cNvPr id="1506324" name="Rectangle 20"/>
          <p:cNvSpPr>
            <a:spLocks noChangeArrowheads="1"/>
          </p:cNvSpPr>
          <p:nvPr/>
        </p:nvSpPr>
        <p:spPr bwMode="auto">
          <a:xfrm>
            <a:off x="309292" y="3482644"/>
            <a:ext cx="7618413" cy="793750"/>
          </a:xfrm>
          <a:prstGeom prst="rect">
            <a:avLst/>
          </a:prstGeom>
          <a:solidFill>
            <a:srgbClr val="CCFFFF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>
            <a:flatTx/>
          </a:bodyPr>
          <a:lstStyle/>
          <a:p>
            <a:endParaRPr lang="ko-KR" altLang="en-US" sz="1400" b="0" u="none"/>
          </a:p>
        </p:txBody>
      </p:sp>
      <p:sp>
        <p:nvSpPr>
          <p:cNvPr id="1506325" name="Text Box 21"/>
          <p:cNvSpPr txBox="1">
            <a:spLocks noChangeArrowheads="1"/>
          </p:cNvSpPr>
          <p:nvPr/>
        </p:nvSpPr>
        <p:spPr bwMode="auto">
          <a:xfrm>
            <a:off x="2373042" y="3488504"/>
            <a:ext cx="3713163" cy="305202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Arial" pitchFamily="34" charset="0"/>
              </a:rPr>
              <a:t>Distributed Resources Coupling Services</a:t>
            </a:r>
          </a:p>
        </p:txBody>
      </p:sp>
      <p:sp>
        <p:nvSpPr>
          <p:cNvPr id="1506326" name="Text Box 22"/>
          <p:cNvSpPr txBox="1">
            <a:spLocks noChangeArrowheads="1"/>
          </p:cNvSpPr>
          <p:nvPr/>
        </p:nvSpPr>
        <p:spPr bwMode="auto">
          <a:xfrm>
            <a:off x="514789" y="3896542"/>
            <a:ext cx="1050925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 dirty="0">
                <a:solidFill>
                  <a:schemeClr val="bg1"/>
                </a:solidFill>
                <a:latin typeface="Times New Roman" pitchFamily="18" charset="0"/>
              </a:rPr>
              <a:t>Security</a:t>
            </a:r>
            <a:endParaRPr lang="en-US" sz="1400" b="0" u="none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27" name="Text Box 23"/>
          <p:cNvSpPr txBox="1">
            <a:spLocks noChangeArrowheads="1"/>
          </p:cNvSpPr>
          <p:nvPr/>
        </p:nvSpPr>
        <p:spPr bwMode="auto">
          <a:xfrm>
            <a:off x="1677717" y="3903576"/>
            <a:ext cx="1133475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 dirty="0">
                <a:solidFill>
                  <a:schemeClr val="bg1"/>
                </a:solidFill>
                <a:latin typeface="Times New Roman" pitchFamily="18" charset="0"/>
              </a:rPr>
              <a:t>Information</a:t>
            </a:r>
            <a:endParaRPr lang="en-US" sz="1400" b="0" u="none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28" name="Text Box 24"/>
          <p:cNvSpPr txBox="1">
            <a:spLocks noChangeArrowheads="1"/>
          </p:cNvSpPr>
          <p:nvPr/>
        </p:nvSpPr>
        <p:spPr bwMode="auto">
          <a:xfrm>
            <a:off x="6682666" y="3877569"/>
            <a:ext cx="469900" cy="305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 dirty="0">
                <a:solidFill>
                  <a:schemeClr val="bg1"/>
                </a:solidFill>
                <a:latin typeface="Arial" pitchFamily="34" charset="0"/>
              </a:rPr>
              <a:t>…</a:t>
            </a:r>
          </a:p>
        </p:txBody>
      </p:sp>
      <p:sp>
        <p:nvSpPr>
          <p:cNvPr id="1506329" name="Text Box 25"/>
          <p:cNvSpPr txBox="1">
            <a:spLocks noChangeArrowheads="1"/>
          </p:cNvSpPr>
          <p:nvPr/>
        </p:nvSpPr>
        <p:spPr bwMode="auto">
          <a:xfrm>
            <a:off x="7123281" y="3899278"/>
            <a:ext cx="592138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 dirty="0">
                <a:solidFill>
                  <a:schemeClr val="bg1"/>
                </a:solidFill>
                <a:latin typeface="Times New Roman" pitchFamily="18" charset="0"/>
              </a:rPr>
              <a:t>QoS</a:t>
            </a:r>
            <a:endParaRPr lang="en-US" sz="1400" b="0" u="none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0" name="Text Box 26"/>
          <p:cNvSpPr txBox="1">
            <a:spLocks noChangeArrowheads="1"/>
          </p:cNvSpPr>
          <p:nvPr/>
        </p:nvSpPr>
        <p:spPr bwMode="auto">
          <a:xfrm>
            <a:off x="2966083" y="3923994"/>
            <a:ext cx="757238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Process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1" name="Rectangle 27"/>
          <p:cNvSpPr>
            <a:spLocks noChangeArrowheads="1"/>
          </p:cNvSpPr>
          <p:nvPr/>
        </p:nvSpPr>
        <p:spPr bwMode="auto">
          <a:xfrm>
            <a:off x="296592" y="2296781"/>
            <a:ext cx="7618413" cy="792163"/>
          </a:xfrm>
          <a:prstGeom prst="rect">
            <a:avLst/>
          </a:prstGeom>
          <a:solidFill>
            <a:srgbClr val="CCFFFF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>
            <a:flatTx/>
          </a:bodyPr>
          <a:lstStyle/>
          <a:p>
            <a:endParaRPr lang="ko-KR" altLang="en-US" sz="1400" b="0" u="none"/>
          </a:p>
        </p:txBody>
      </p:sp>
      <p:sp>
        <p:nvSpPr>
          <p:cNvPr id="1506332" name="Text Box 28"/>
          <p:cNvSpPr txBox="1">
            <a:spLocks noChangeArrowheads="1"/>
          </p:cNvSpPr>
          <p:nvPr/>
        </p:nvSpPr>
        <p:spPr bwMode="auto">
          <a:xfrm>
            <a:off x="2657991" y="2296511"/>
            <a:ext cx="3314700" cy="305202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Arial" pitchFamily="34" charset="0"/>
              </a:rPr>
              <a:t>Development Environments and Tools</a:t>
            </a:r>
          </a:p>
        </p:txBody>
      </p:sp>
      <p:sp>
        <p:nvSpPr>
          <p:cNvPr id="1506333" name="Text Box 29"/>
          <p:cNvSpPr txBox="1">
            <a:spLocks noChangeArrowheads="1"/>
          </p:cNvSpPr>
          <p:nvPr/>
        </p:nvSpPr>
        <p:spPr bwMode="auto">
          <a:xfrm>
            <a:off x="406375" y="2687990"/>
            <a:ext cx="973137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Languages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4" name="Text Box 30"/>
          <p:cNvSpPr txBox="1">
            <a:spLocks noChangeArrowheads="1"/>
          </p:cNvSpPr>
          <p:nvPr/>
        </p:nvSpPr>
        <p:spPr bwMode="auto">
          <a:xfrm>
            <a:off x="1487462" y="2684815"/>
            <a:ext cx="9715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Libraries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5" name="Text Box 31"/>
          <p:cNvSpPr txBox="1">
            <a:spLocks noChangeArrowheads="1"/>
          </p:cNvSpPr>
          <p:nvPr/>
        </p:nvSpPr>
        <p:spPr bwMode="auto">
          <a:xfrm>
            <a:off x="2542905" y="2695244"/>
            <a:ext cx="1027112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Debuggers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6" name="Text Box 32"/>
          <p:cNvSpPr txBox="1">
            <a:spLocks noChangeArrowheads="1"/>
          </p:cNvSpPr>
          <p:nvPr/>
        </p:nvSpPr>
        <p:spPr bwMode="auto">
          <a:xfrm>
            <a:off x="6392812" y="2678761"/>
            <a:ext cx="469900" cy="305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 dirty="0">
                <a:solidFill>
                  <a:schemeClr val="bg1"/>
                </a:solidFill>
                <a:latin typeface="Arial" pitchFamily="34" charset="0"/>
              </a:rPr>
              <a:t>…</a:t>
            </a:r>
          </a:p>
        </p:txBody>
      </p:sp>
      <p:sp>
        <p:nvSpPr>
          <p:cNvPr id="1506337" name="Text Box 33"/>
          <p:cNvSpPr txBox="1">
            <a:spLocks noChangeArrowheads="1"/>
          </p:cNvSpPr>
          <p:nvPr/>
        </p:nvSpPr>
        <p:spPr bwMode="auto">
          <a:xfrm>
            <a:off x="6879955" y="2669844"/>
            <a:ext cx="9588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Web tools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8" name="Text Box 34"/>
          <p:cNvSpPr txBox="1">
            <a:spLocks noChangeArrowheads="1"/>
          </p:cNvSpPr>
          <p:nvPr/>
        </p:nvSpPr>
        <p:spPr bwMode="auto">
          <a:xfrm>
            <a:off x="4846367" y="2690481"/>
            <a:ext cx="1522413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Resource Brokers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39" name="Text Box 35"/>
          <p:cNvSpPr txBox="1">
            <a:spLocks noChangeArrowheads="1"/>
          </p:cNvSpPr>
          <p:nvPr/>
        </p:nvSpPr>
        <p:spPr bwMode="auto">
          <a:xfrm>
            <a:off x="3647805" y="2690481"/>
            <a:ext cx="10985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Monitoring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40" name="Rectangle 36"/>
          <p:cNvSpPr>
            <a:spLocks noChangeArrowheads="1"/>
          </p:cNvSpPr>
          <p:nvPr/>
        </p:nvSpPr>
        <p:spPr bwMode="auto">
          <a:xfrm>
            <a:off x="369617" y="1036306"/>
            <a:ext cx="7618413" cy="895350"/>
          </a:xfrm>
          <a:prstGeom prst="rect">
            <a:avLst/>
          </a:prstGeom>
          <a:solidFill>
            <a:srgbClr val="CCFFFF"/>
          </a:soli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</p:spPr>
        <p:txBody>
          <a:bodyPr wrap="none" anchor="ctr">
            <a:flatTx/>
          </a:bodyPr>
          <a:lstStyle/>
          <a:p>
            <a:endParaRPr lang="ko-KR" altLang="en-US" sz="1400" b="0" u="none"/>
          </a:p>
        </p:txBody>
      </p:sp>
      <p:sp>
        <p:nvSpPr>
          <p:cNvPr id="1506341" name="Text Box 37"/>
          <p:cNvSpPr txBox="1">
            <a:spLocks noChangeArrowheads="1"/>
          </p:cNvSpPr>
          <p:nvPr/>
        </p:nvSpPr>
        <p:spPr bwMode="auto">
          <a:xfrm>
            <a:off x="3157267" y="1040579"/>
            <a:ext cx="2395538" cy="305202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Arial" pitchFamily="34" charset="0"/>
              </a:rPr>
              <a:t>Applications and Portals</a:t>
            </a:r>
          </a:p>
        </p:txBody>
      </p:sp>
      <p:sp>
        <p:nvSpPr>
          <p:cNvPr id="1506342" name="Text Box 38"/>
          <p:cNvSpPr txBox="1">
            <a:spLocks noChangeArrowheads="1"/>
          </p:cNvSpPr>
          <p:nvPr/>
        </p:nvSpPr>
        <p:spPr bwMode="auto">
          <a:xfrm>
            <a:off x="4114530" y="1509846"/>
            <a:ext cx="16192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Prob. Solving Env.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43" name="Text Box 39"/>
          <p:cNvSpPr txBox="1">
            <a:spLocks noChangeArrowheads="1"/>
          </p:cNvSpPr>
          <p:nvPr/>
        </p:nvSpPr>
        <p:spPr bwMode="auto">
          <a:xfrm>
            <a:off x="431530" y="1526844"/>
            <a:ext cx="944562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Scientific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44" name="Text Box 40"/>
          <p:cNvSpPr txBox="1">
            <a:spLocks noChangeArrowheads="1"/>
          </p:cNvSpPr>
          <p:nvPr/>
        </p:nvSpPr>
        <p:spPr bwMode="auto">
          <a:xfrm>
            <a:off x="5744647" y="1490408"/>
            <a:ext cx="469900" cy="305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algn="l" defTabSz="906463" eaLnBrk="0" hangingPunct="0"/>
            <a:r>
              <a:rPr lang="en-US" sz="1400" b="0" u="none" dirty="0">
                <a:solidFill>
                  <a:schemeClr val="bg1"/>
                </a:solidFill>
                <a:latin typeface="Arial" pitchFamily="34" charset="0"/>
              </a:rPr>
              <a:t>…</a:t>
            </a:r>
          </a:p>
        </p:txBody>
      </p:sp>
      <p:sp>
        <p:nvSpPr>
          <p:cNvPr id="1506345" name="Text Box 41"/>
          <p:cNvSpPr txBox="1">
            <a:spLocks noChangeArrowheads="1"/>
          </p:cNvSpPr>
          <p:nvPr/>
        </p:nvSpPr>
        <p:spPr bwMode="auto">
          <a:xfrm>
            <a:off x="2712767" y="1522546"/>
            <a:ext cx="12763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Collaboration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46" name="Text Box 42"/>
          <p:cNvSpPr txBox="1">
            <a:spLocks noChangeArrowheads="1"/>
          </p:cNvSpPr>
          <p:nvPr/>
        </p:nvSpPr>
        <p:spPr bwMode="auto">
          <a:xfrm>
            <a:off x="1499917" y="1510969"/>
            <a:ext cx="10985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Engineering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47" name="Text Box 43"/>
          <p:cNvSpPr txBox="1">
            <a:spLocks noChangeArrowheads="1"/>
          </p:cNvSpPr>
          <p:nvPr/>
        </p:nvSpPr>
        <p:spPr bwMode="auto">
          <a:xfrm>
            <a:off x="6235430" y="1512556"/>
            <a:ext cx="161925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Web enabled Apps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48" name="Line 44"/>
          <p:cNvSpPr>
            <a:spLocks noChangeShapeType="1"/>
          </p:cNvSpPr>
          <p:nvPr/>
        </p:nvSpPr>
        <p:spPr bwMode="auto">
          <a:xfrm>
            <a:off x="291365" y="5400150"/>
            <a:ext cx="7643813" cy="1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 sz="1400" b="0" u="none"/>
          </a:p>
        </p:txBody>
      </p:sp>
      <p:sp>
        <p:nvSpPr>
          <p:cNvPr id="1506349" name="Text Box 45"/>
          <p:cNvSpPr txBox="1">
            <a:spLocks noChangeArrowheads="1"/>
          </p:cNvSpPr>
          <p:nvPr/>
        </p:nvSpPr>
        <p:spPr bwMode="auto">
          <a:xfrm>
            <a:off x="3887517" y="3919206"/>
            <a:ext cx="1571625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Resource Trading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6350" name="Rectangle 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Grid Components</a:t>
            </a:r>
          </a:p>
        </p:txBody>
      </p:sp>
      <p:sp>
        <p:nvSpPr>
          <p:cNvPr id="1506351" name="Text Box 47"/>
          <p:cNvSpPr txBox="1">
            <a:spLocks noChangeArrowheads="1"/>
          </p:cNvSpPr>
          <p:nvPr/>
        </p:nvSpPr>
        <p:spPr bwMode="auto">
          <a:xfrm>
            <a:off x="5563917" y="3919206"/>
            <a:ext cx="1143000" cy="305202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8890" tIns="44445" rIns="88890" bIns="44445">
            <a:spAutoFit/>
          </a:bodyPr>
          <a:lstStyle/>
          <a:p>
            <a:pPr defTabSz="906463" eaLnBrk="0" hangingPunct="0"/>
            <a:r>
              <a:rPr lang="en-US" sz="1400" b="0" u="none">
                <a:solidFill>
                  <a:schemeClr val="bg1"/>
                </a:solidFill>
                <a:latin typeface="Times New Roman" pitchFamily="18" charset="0"/>
              </a:rPr>
              <a:t>Market Info</a:t>
            </a:r>
            <a:endParaRPr lang="en-US" sz="1400" b="0" u="none">
              <a:solidFill>
                <a:schemeClr val="bg1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pitchFamily="50" charset="-127"/>
              </a:rPr>
              <a:t>Challenging Technical Requirements</a:t>
            </a:r>
          </a:p>
        </p:txBody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80728"/>
            <a:ext cx="8229600" cy="496775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>
                <a:ea typeface="굴림" pitchFamily="50" charset="-127"/>
              </a:rPr>
              <a:t>Dynamic formation and management of virtual organizations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>
                <a:solidFill>
                  <a:srgbClr val="FF0000"/>
                </a:solidFill>
                <a:ea typeface="굴림" pitchFamily="50" charset="-127"/>
              </a:rPr>
              <a:t>Online negotiation </a:t>
            </a:r>
            <a:r>
              <a:rPr lang="en-US" altLang="ko-KR" b="0" dirty="0">
                <a:ea typeface="굴림" pitchFamily="50" charset="-127"/>
              </a:rPr>
              <a:t>of access to </a:t>
            </a:r>
            <a:r>
              <a:rPr lang="en-US" altLang="ko-KR" b="0" dirty="0" smtClean="0">
                <a:ea typeface="굴림" pitchFamily="50" charset="-127"/>
              </a:rPr>
              <a:t>services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pitchFamily="50" charset="-127"/>
              </a:rPr>
              <a:t>who</a:t>
            </a:r>
            <a:r>
              <a:rPr lang="en-US" altLang="ko-KR" b="0" dirty="0">
                <a:ea typeface="굴림" pitchFamily="50" charset="-127"/>
              </a:rPr>
              <a:t>, what, why, when, how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>
                <a:ea typeface="굴림" pitchFamily="50" charset="-127"/>
              </a:rPr>
              <a:t>Establishment of applications and systems able to deliver </a:t>
            </a:r>
            <a:r>
              <a:rPr lang="en-US" altLang="ko-KR" b="0" dirty="0">
                <a:solidFill>
                  <a:srgbClr val="FF0000"/>
                </a:solidFill>
                <a:ea typeface="굴림" pitchFamily="50" charset="-127"/>
              </a:rPr>
              <a:t>multiple qualities of service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>
                <a:ea typeface="굴림" pitchFamily="50" charset="-127"/>
              </a:rPr>
              <a:t>Autonomic management of infrastructure </a:t>
            </a:r>
            <a:r>
              <a:rPr lang="en-US" altLang="ko-KR" b="0" dirty="0" smtClean="0">
                <a:ea typeface="굴림" pitchFamily="50" charset="-127"/>
              </a:rPr>
              <a:t>elements</a:t>
            </a:r>
            <a:endParaRPr lang="en-US" altLang="ko-KR" b="0" dirty="0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0"/>
            <a:ext cx="7772400" cy="54868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Selected Major Grid </a:t>
            </a:r>
            <a:r>
              <a:rPr lang="en-US" altLang="ko-KR" dirty="0" smtClean="0">
                <a:ea typeface="굴림" pitchFamily="50" charset="-127"/>
              </a:rPr>
              <a:t>Projects</a:t>
            </a:r>
            <a:endParaRPr lang="en-US" altLang="ko-KR" dirty="0">
              <a:ea typeface="굴림" pitchFamily="50" charset="-127"/>
            </a:endParaRPr>
          </a:p>
        </p:txBody>
      </p:sp>
      <p:graphicFrame>
        <p:nvGraphicFramePr>
          <p:cNvPr id="1169411" name="Group 3"/>
          <p:cNvGraphicFramePr>
            <a:graphicFrameLocks noGrp="1"/>
          </p:cNvGraphicFramePr>
          <p:nvPr/>
        </p:nvGraphicFramePr>
        <p:xfrm>
          <a:off x="539553" y="1092200"/>
          <a:ext cx="8064896" cy="4455097"/>
        </p:xfrm>
        <a:graphic>
          <a:graphicData uri="http://schemas.openxmlformats.org/drawingml/2006/table">
            <a:tbl>
              <a:tblPr/>
              <a:tblGrid>
                <a:gridCol w="1472720"/>
                <a:gridCol w="2384404"/>
                <a:gridCol w="4207772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Sponsors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Focus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Access 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NSF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&amp; deploy group collaboration systems using commodity technologies</a:t>
                      </a: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BlueGrid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IBM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 testbed linking IBM laboratories</a:t>
                      </a:r>
                      <a:endParaRPr kumimoji="0" lang="en-US" altLang="ko-KR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DISCOM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DOE Defense Programs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operational Grid providing access to resources at three U.S. DOE weapons laboratories</a:t>
                      </a:r>
                      <a:endParaRPr kumimoji="0" lang="en-US" altLang="ko-KR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DOE Science 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DOE Office of Science</a:t>
                      </a:r>
                      <a:endParaRPr kumimoji="0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operational Grid providing access to resources &amp; applications at U.S. DOE science laboratories &amp; partner universities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Earth System Grid (ESG)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DOE Office of Science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Delivery and analysis of large climate model datasets for the climate research community</a:t>
                      </a:r>
                      <a:endParaRPr kumimoji="0" lang="en-US" altLang="ko-KR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European Union (EU) </a:t>
                      </a:r>
                      <a:r>
                        <a:rPr kumimoji="0" lang="en-US" altLang="ko-KR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DataGrid</a:t>
                      </a: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European Union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&amp; apply an operational grid for applications in high energy physics, environmental science, bioinformatics</a:t>
                      </a:r>
                      <a:endParaRPr kumimoji="0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435" name="Group 3"/>
          <p:cNvGraphicFramePr>
            <a:graphicFrameLocks noGrp="1"/>
          </p:cNvGraphicFramePr>
          <p:nvPr/>
        </p:nvGraphicFramePr>
        <p:xfrm>
          <a:off x="740888" y="932576"/>
          <a:ext cx="7920880" cy="5235067"/>
        </p:xfrm>
        <a:graphic>
          <a:graphicData uri="http://schemas.openxmlformats.org/drawingml/2006/table">
            <a:tbl>
              <a:tblPr/>
              <a:tblGrid>
                <a:gridCol w="1997439"/>
                <a:gridCol w="1859685"/>
                <a:gridCol w="4063756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Sponsor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Focus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EuroGrid, Grid Interoperability (GRIP)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European Union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tech for remote access to </a:t>
                      </a:r>
                      <a:r>
                        <a:rPr kumimoji="0" lang="en-US" altLang="ko-KR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supercomping</a:t>
                      </a: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 resources &amp; simulation codes; in GRIP, integrate with Globus Toolkit™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Fusion Collaboratory</a:t>
                      </a:r>
                      <a:endParaRPr kumimoji="0" lang="en-US" altLang="ko-KR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DOE Off. Science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a national computational collaboratory for fusion research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Globus Project™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DARPA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DOE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NSF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NASA</a:t>
                      </a:r>
                      <a:endParaRPr kumimoji="0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Research on Grid technologies; development and support of Globus Toolkit™; application and deployment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GridLab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European Union</a:t>
                      </a:r>
                      <a:endParaRPr kumimoji="0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 technologies and applications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GridPP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U.K. eScience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&amp; apply an operational grid within the U.K. for particle physics research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 Research Integration Dev. &amp; Support Center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grids-center.org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NSF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Integration, deployment, support of the NSF Middleware Infrastructure for research &amp; education</a:t>
                      </a:r>
                      <a:endParaRPr kumimoji="0" lang="en-US" altLang="ko-K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99"/>
                        </a:solidFill>
                        <a:effectLst/>
                        <a:latin typeface="Verdana" pitchFamily="34" charset="0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70469" name="Text Box 37"/>
          <p:cNvSpPr txBox="1">
            <a:spLocks noChangeArrowheads="1"/>
          </p:cNvSpPr>
          <p:nvPr/>
        </p:nvSpPr>
        <p:spPr bwMode="auto">
          <a:xfrm>
            <a:off x="7680325" y="565150"/>
            <a:ext cx="1841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endParaRPr lang="ko-KR" altLang="ko-KR">
              <a:solidFill>
                <a:schemeClr val="accent2"/>
              </a:solidFill>
              <a:latin typeface="Verdana" pitchFamily="34" charset="0"/>
            </a:endParaRP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542888" y="0"/>
            <a:ext cx="7772400" cy="54868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Selected Major Grid </a:t>
            </a:r>
            <a:r>
              <a:rPr lang="en-US" altLang="ko-KR" dirty="0" smtClean="0">
                <a:ea typeface="굴림" pitchFamily="50" charset="-127"/>
              </a:rPr>
              <a:t>Projects</a:t>
            </a:r>
            <a:endParaRPr lang="en-US" altLang="ko-KR" dirty="0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1459" name="Group 3"/>
          <p:cNvGraphicFramePr>
            <a:graphicFrameLocks noGrp="1"/>
          </p:cNvGraphicFramePr>
          <p:nvPr/>
        </p:nvGraphicFramePr>
        <p:xfrm>
          <a:off x="539552" y="1092200"/>
          <a:ext cx="8064896" cy="4636072"/>
        </p:xfrm>
        <a:graphic>
          <a:graphicData uri="http://schemas.openxmlformats.org/drawingml/2006/table">
            <a:tbl>
              <a:tblPr/>
              <a:tblGrid>
                <a:gridCol w="1963627"/>
                <a:gridCol w="2033756"/>
                <a:gridCol w="4067513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Sponsor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</a:rPr>
                        <a:t>Focus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 Application Dev. Software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NSF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Research into program development technologies for Grid applications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Grid Physics Network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NSF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Technology R&amp;D for data analysis in physics expts: ATLAS, CMS, LIGO, SDSS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Information Power 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NASA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and apply a production Grid for aerosciences and other NASA missions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International Virtual Data Grid Laboratory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NSF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international Data Grid to enable large-scale experimentation on Grid technologies &amp; applications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Network for Earthquake Eng. Simulation 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NSF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and apply a production Grid for earthquake engineering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Particle Physics Data Grid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DOE Science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6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/>
                          <a:latin typeface="Verdana" pitchFamily="34" charset="0"/>
                          <a:ea typeface="굴림" pitchFamily="50" charset="-127"/>
                          <a:cs typeface="Times New Roman" pitchFamily="18" charset="0"/>
                        </a:rPr>
                        <a:t>Create and apply production Grids for data analysis in high energy and nuclear physics experiments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479582" y="0"/>
            <a:ext cx="7772400" cy="54868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Selected Major Grid </a:t>
            </a:r>
            <a:r>
              <a:rPr lang="en-US" altLang="ko-KR" dirty="0" smtClean="0">
                <a:ea typeface="굴림" pitchFamily="50" charset="-127"/>
              </a:rPr>
              <a:t>Projects</a:t>
            </a:r>
            <a:endParaRPr lang="en-US" altLang="ko-KR" dirty="0">
              <a:ea typeface="굴림" pitchFamily="50" charset="-127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7772400" cy="504056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A large proportion of personal computer’s computational power is left unused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A desktop grid takes this unused capacity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rgbClr val="FF0000"/>
                </a:solidFill>
                <a:ea typeface="굴림" charset="-127"/>
              </a:rPr>
              <a:t>Local Desktop Grid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Comprised mainly of a set of computers at one location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rgbClr val="FF0000"/>
                </a:solidFill>
                <a:ea typeface="굴림" charset="-127"/>
              </a:rPr>
              <a:t>Volunteer Desktop Grid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Resources in a volunteer desktop grid are provided by citizens all over the world</a:t>
            </a:r>
            <a:endParaRPr lang="en-US" altLang="ko-KR" b="0" dirty="0">
              <a:ea typeface="굴림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Desktop Grid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Types of Grids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44955"/>
            <a:ext cx="8229600" cy="4967758"/>
          </a:xfrm>
        </p:spPr>
        <p:txBody>
          <a:bodyPr/>
          <a:lstStyle/>
          <a:p>
            <a:pPr marL="444500" indent="-444500">
              <a:spcBef>
                <a:spcPts val="1200"/>
              </a:spcBef>
              <a:spcAft>
                <a:spcPts val="600"/>
              </a:spcAft>
            </a:pPr>
            <a:r>
              <a:rPr lang="en-US" altLang="ko-KR" dirty="0" smtClean="0"/>
              <a:t>Computational Grid</a:t>
            </a:r>
          </a:p>
          <a:p>
            <a:pPr marL="1016000" lvl="1" indent="-444500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Processing power is the main computing resource shared amongst nodes</a:t>
            </a:r>
          </a:p>
          <a:p>
            <a:pPr marL="1016000" lvl="1" indent="-444500">
              <a:spcBef>
                <a:spcPts val="18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rgbClr val="FF0000"/>
                </a:solidFill>
              </a:rPr>
              <a:t>Distributed Supercomputing</a:t>
            </a:r>
          </a:p>
          <a:p>
            <a:pPr marL="1244600" lvl="2" indent="-444500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Executes the application in parallel on multiple machines to reduce the completion time</a:t>
            </a:r>
          </a:p>
          <a:p>
            <a:pPr marL="1016000" lvl="1" indent="-444500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rgbClr val="FF0000"/>
                </a:solidFill>
              </a:rPr>
              <a:t>High throughput </a:t>
            </a:r>
          </a:p>
          <a:p>
            <a:pPr marL="1244600" lvl="2" indent="-444500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Increases the completion rate of a stream of jobs</a:t>
            </a:r>
          </a:p>
          <a:p>
            <a:pPr marL="444500" indent="-444500">
              <a:spcBef>
                <a:spcPts val="1800"/>
              </a:spcBef>
              <a:spcAft>
                <a:spcPts val="600"/>
              </a:spcAft>
            </a:pPr>
            <a:r>
              <a:rPr lang="en-US" altLang="ko-KR" dirty="0" smtClean="0"/>
              <a:t>Data Grid</a:t>
            </a:r>
          </a:p>
          <a:p>
            <a:pPr marL="1016000" lvl="1" indent="-444500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Data storage capacity as the main shared resource amongst nodes</a:t>
            </a:r>
          </a:p>
          <a:p>
            <a:pPr marL="444500" indent="-444500">
              <a:spcBef>
                <a:spcPts val="1200"/>
              </a:spcBef>
              <a:spcAft>
                <a:spcPts val="600"/>
              </a:spcAft>
            </a:pPr>
            <a:endParaRPr lang="en-US" altLang="ko-KR" dirty="0" smtClean="0"/>
          </a:p>
        </p:txBody>
      </p:sp>
    </p:spTree>
    <p:extLst>
      <p:ext uri="{BB962C8B-B14F-4D97-AF65-F5344CB8AC3E}">
        <p14:creationId xmlns="" xmlns:p14="http://schemas.microsoft.com/office/powerpoint/2010/main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00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2348880"/>
            <a:ext cx="8749480" cy="12498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b="1" dirty="0" smtClean="0">
                <a:solidFill>
                  <a:schemeClr val="bg1"/>
                </a:solidFill>
              </a:rPr>
              <a:t>Resource Management</a:t>
            </a:r>
            <a:endParaRPr lang="ko-KR" altLang="ko-KR" sz="1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504056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rgbClr val="FF0000"/>
                </a:solidFill>
              </a:rPr>
              <a:t>Manages the pool of resources </a:t>
            </a:r>
            <a:r>
              <a:rPr lang="en-US" altLang="ko-KR" b="0" dirty="0" smtClean="0">
                <a:solidFill>
                  <a:schemeClr val="tx1"/>
                </a:solidFill>
              </a:rPr>
              <a:t>available to Grid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Processors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Network bandwidth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Disk storage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The pool includes resources from different providers</a:t>
            </a:r>
            <a:endParaRPr lang="en-US" altLang="ko-KR" b="0" dirty="0" smtClean="0">
              <a:solidFill>
                <a:schemeClr val="tx1"/>
              </a:solidFill>
              <a:ea typeface="굴림" charset="-127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RMS should m</a:t>
            </a:r>
            <a:r>
              <a:rPr lang="en-US" altLang="ko-KR" b="0" dirty="0" smtClean="0"/>
              <a:t>aintain the required level of trust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Without affecting performance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RMS should adhere to different policies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굴림" charset="-127"/>
              </a:rPr>
              <a:t>RMS should meet QoS requirements</a:t>
            </a:r>
            <a:endParaRPr lang="en-US" altLang="ko-KR" b="0" dirty="0">
              <a:ea typeface="굴림" charset="-127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Core Functions of 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80728"/>
            <a:ext cx="7347347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504056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Resource Dissemination and Discovery Protocols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Used to determine the state of the resources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Resource Dissemination Protocol</a:t>
            </a:r>
          </a:p>
          <a:p>
            <a:pPr lvl="3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b="0" dirty="0" smtClean="0"/>
              <a:t>Provides information about the resources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Discovery Protocol</a:t>
            </a:r>
          </a:p>
          <a:p>
            <a:pPr lvl="3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b="0" dirty="0" smtClean="0"/>
              <a:t>Provides a mechanism by which resource information can be found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Resource resolution and co-allocation protocols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sz="1800" b="0" dirty="0" smtClean="0"/>
              <a:t>To schedule the job at the remote resource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sz="1800" b="0" dirty="0" smtClean="0"/>
              <a:t>Simultaneously acquire multiple resources</a:t>
            </a:r>
            <a:endParaRPr lang="en-US" altLang="ko-KR" sz="1800" b="0" dirty="0"/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Core Functions of 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47056" y="1124744"/>
            <a:ext cx="8496944" cy="108012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Machine Organization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Organization of the machines in the Grid </a:t>
            </a:r>
            <a:r>
              <a:rPr lang="en-US" altLang="ko-KR" b="0" dirty="0" smtClean="0">
                <a:solidFill>
                  <a:srgbClr val="FF0000"/>
                </a:solidFill>
              </a:rPr>
              <a:t>affects the communication patterns</a:t>
            </a:r>
            <a:r>
              <a:rPr lang="en-US" altLang="ko-KR" b="0" dirty="0" smtClean="0"/>
              <a:t> and thus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determines the scalability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3429000"/>
            <a:ext cx="55816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5040560"/>
          </a:xfrm>
        </p:spPr>
        <p:txBody>
          <a:bodyPr/>
          <a:lstStyle/>
          <a:p>
            <a:pPr lvl="1">
              <a:spcBef>
                <a:spcPts val="1800"/>
              </a:spcBef>
              <a:spcAft>
                <a:spcPts val="600"/>
              </a:spcAft>
            </a:pPr>
            <a:r>
              <a:rPr lang="en-US" altLang="ko-KR" b="0" dirty="0" smtClean="0"/>
              <a:t>Centralized Organization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a single controller or designated set of controllers performs the scheduling for all machines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suffer from scalability issues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Decentralized Organization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Roles are distributed among machines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Sender initiated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Receiver initiated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782885"/>
            <a:ext cx="8496944" cy="5040560"/>
          </a:xfrm>
        </p:spPr>
        <p:txBody>
          <a:bodyPr/>
          <a:lstStyle/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Flat Organization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All machines can directly communicate with each other without going through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Hierarchical Organization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Machines in the same level can directly communicate with the machines directly above them or below them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Cell or Group Organization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sz="1700" b="0" dirty="0" smtClean="0"/>
              <a:t>Machines within the cell communicate between themselves using flat organization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sz="1700" b="0" dirty="0" smtClean="0"/>
              <a:t>Designated machines within the cell function acts as boundary elements that are responsible for all communication outside the cell</a:t>
            </a:r>
          </a:p>
          <a:p>
            <a:pPr lvl="3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400" b="1" dirty="0" smtClean="0"/>
              <a:t>Flat cell </a:t>
            </a:r>
            <a:r>
              <a:rPr lang="en-US" altLang="ko-KR" sz="1400" dirty="0" smtClean="0"/>
              <a:t>structure has only one level of cells</a:t>
            </a:r>
          </a:p>
          <a:p>
            <a:pPr lvl="3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ko-KR" sz="1400" b="1" dirty="0" smtClean="0"/>
              <a:t>Hierarchical cell</a:t>
            </a:r>
            <a:r>
              <a:rPr lang="en-US" altLang="ko-KR" sz="1400" dirty="0" smtClean="0"/>
              <a:t> structure can have cells that contain other cells</a:t>
            </a:r>
            <a:endParaRPr lang="en-US" altLang="ko-KR" sz="1400" b="0" dirty="0" smtClean="0"/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47056" y="1124744"/>
            <a:ext cx="8496944" cy="424847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QoS Support</a:t>
            </a:r>
          </a:p>
          <a:p>
            <a:pPr lvl="1"/>
            <a:r>
              <a:rPr lang="en-US" altLang="ko-KR" b="0" dirty="0" smtClean="0"/>
              <a:t>QoS is not limited to network bandwidth but extends to the processing and storage capabilities of the nodes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Resource reservation is one of the ways of providing guaranteed QoS</a:t>
            </a:r>
          </a:p>
          <a:p>
            <a:pPr lvl="1"/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Key components of QoS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sz="1500" dirty="0" smtClean="0"/>
              <a:t>Admission control</a:t>
            </a:r>
            <a:r>
              <a:rPr lang="en-US" altLang="ko-KR" sz="1500" b="0" dirty="0" smtClean="0"/>
              <a:t> determines if requested level of service can be given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sz="1500" dirty="0" smtClean="0"/>
              <a:t>Policing</a:t>
            </a:r>
            <a:r>
              <a:rPr lang="en-US" altLang="ko-KR" sz="1500" b="0" dirty="0" smtClean="0"/>
              <a:t> ensures that job does not violate agreed upon level of service</a:t>
            </a:r>
          </a:p>
          <a:p>
            <a:pPr lvl="2"/>
            <a:endParaRPr lang="en-US" altLang="ko-KR" sz="1200" b="0" dirty="0" smtClean="0"/>
          </a:p>
          <a:p>
            <a:pPr lvl="1"/>
            <a:endParaRPr lang="en-US" altLang="ko-KR" b="0" dirty="0" smtClean="0"/>
          </a:p>
          <a:p>
            <a:pPr lvl="1"/>
            <a:endParaRPr lang="en-US" altLang="ko-KR" b="0" dirty="0" smtClean="0">
              <a:solidFill>
                <a:schemeClr val="tx1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201622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Resource Discovery and Dissemination</a:t>
            </a:r>
          </a:p>
          <a:p>
            <a:pPr lvl="1"/>
            <a:r>
              <a:rPr lang="en-US" altLang="ko-KR" sz="1800" b="0" dirty="0" smtClean="0"/>
              <a:t>Discovery is initiated by applications to find suitable resources</a:t>
            </a:r>
          </a:p>
          <a:p>
            <a:pPr lvl="1"/>
            <a:r>
              <a:rPr lang="en-US" altLang="ko-KR" sz="1800" b="0" dirty="0" smtClean="0"/>
              <a:t>Dissemination is initiated by resources to find suitable application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780928"/>
            <a:ext cx="58102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841608"/>
            <a:ext cx="8496944" cy="5472608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Scheduling</a:t>
            </a:r>
          </a:p>
          <a:p>
            <a:pPr lvl="1"/>
            <a:r>
              <a:rPr lang="en-US" altLang="ko-KR" b="0" dirty="0" smtClean="0"/>
              <a:t>Determining when and where the jobs are executed and how many resources are allocated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>
                <a:solidFill>
                  <a:srgbClr val="FF0000"/>
                </a:solidFill>
              </a:rPr>
              <a:t>Time-shared</a:t>
            </a:r>
            <a:r>
              <a:rPr lang="en-US" altLang="ko-KR" b="0" dirty="0" smtClean="0"/>
              <a:t> job-scheduling approaches </a:t>
            </a:r>
          </a:p>
          <a:p>
            <a:pPr lvl="2"/>
            <a:r>
              <a:rPr lang="en-US" altLang="ko-KR" b="0" dirty="0" smtClean="0"/>
              <a:t>Multiple jobs share the same resources</a:t>
            </a:r>
          </a:p>
          <a:p>
            <a:pPr lvl="1"/>
            <a:endParaRPr lang="en-US" altLang="ko-KR" b="0" dirty="0" smtClean="0">
              <a:solidFill>
                <a:schemeClr val="tx1"/>
              </a:solidFill>
            </a:endParaRPr>
          </a:p>
          <a:p>
            <a:pPr lvl="1"/>
            <a:r>
              <a:rPr lang="en-US" altLang="ko-KR" b="0" dirty="0" smtClean="0">
                <a:solidFill>
                  <a:srgbClr val="FF0000"/>
                </a:solidFill>
              </a:rPr>
              <a:t>Space-shared</a:t>
            </a:r>
            <a:r>
              <a:rPr lang="en-US" altLang="ko-KR" b="0" dirty="0" smtClean="0"/>
              <a:t> job-scheduling approaches </a:t>
            </a:r>
          </a:p>
          <a:p>
            <a:pPr lvl="2"/>
            <a:r>
              <a:rPr lang="en-US" altLang="ko-KR" b="0" dirty="0" smtClean="0"/>
              <a:t>Multiple jobs can run at any point of time by the available nodes</a:t>
            </a:r>
          </a:p>
          <a:p>
            <a:pPr lvl="2"/>
            <a:endParaRPr lang="en-US" altLang="ko-KR" b="0" dirty="0" smtClean="0"/>
          </a:p>
          <a:p>
            <a:pPr lvl="1"/>
            <a:r>
              <a:rPr lang="en-US" altLang="ko-KR" b="0" dirty="0" smtClean="0"/>
              <a:t>Gang or Synchronous Scheduling</a:t>
            </a:r>
          </a:p>
          <a:p>
            <a:pPr lvl="2"/>
            <a:r>
              <a:rPr lang="en-US" altLang="ko-KR" b="0" dirty="0" smtClean="0">
                <a:solidFill>
                  <a:schemeClr val="tx1"/>
                </a:solidFill>
              </a:rPr>
              <a:t>Scheduling all tasks of application at the same time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Loosely coordinated co-scheduling </a:t>
            </a:r>
          </a:p>
          <a:p>
            <a:pPr lvl="2"/>
            <a:r>
              <a:rPr lang="en-US" altLang="ko-KR" b="0" dirty="0" smtClean="0"/>
              <a:t>Schedule communicating tasks of application at the same time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3744416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/>
              <a:t>Scheduling Objectives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Minimize response time and 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Maximize system utilization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/>
              <a:t>Trade-off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Maximizing system utilization may increase response time 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72008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Job Requirements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Independent jobs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Dependent jobs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Precedence dependency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Parallel Dependency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>
              <a:solidFill>
                <a:schemeClr val="tx1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615220"/>
            <a:ext cx="770485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93610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Scheduling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2132856"/>
            <a:ext cx="403244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201622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State Estimation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>
                <a:solidFill>
                  <a:srgbClr val="FF0000"/>
                </a:solidFill>
              </a:rPr>
              <a:t>Predictive state estimation </a:t>
            </a:r>
            <a:r>
              <a:rPr lang="en-US" altLang="ko-KR" b="0" dirty="0" smtClean="0"/>
              <a:t>uses current and historical  job and resource status information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ko-KR" b="0" dirty="0" smtClean="0">
                <a:solidFill>
                  <a:srgbClr val="FF0000"/>
                </a:solidFill>
              </a:rPr>
              <a:t>Non-predictive state estimation </a:t>
            </a:r>
            <a:r>
              <a:rPr lang="en-US" altLang="ko-KR" b="0" dirty="0" smtClean="0"/>
              <a:t>uses only the current job and resource status information</a:t>
            </a:r>
            <a:endParaRPr lang="en-US" altLang="ko-KR" b="0" dirty="0" smtClean="0">
              <a:solidFill>
                <a:schemeClr val="tx1"/>
              </a:solidFill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946895"/>
            <a:ext cx="34671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838200"/>
            <a:ext cx="7772400" cy="609600"/>
          </a:xfrm>
        </p:spPr>
        <p:txBody>
          <a:bodyPr/>
          <a:lstStyle/>
          <a:p>
            <a:r>
              <a:rPr lang="en-US" altLang="ko-KR" sz="3200">
                <a:ea typeface="굴림" charset="-127"/>
              </a:rPr>
              <a:t>Overview: Clusters x Grids</a:t>
            </a:r>
          </a:p>
        </p:txBody>
      </p:sp>
      <p:sp>
        <p:nvSpPr>
          <p:cNvPr id="129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908720"/>
            <a:ext cx="8496944" cy="201622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solidFill>
                  <a:schemeClr val="tx1"/>
                </a:solidFill>
              </a:rPr>
              <a:t>Rescheduling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/>
              <a:t>To improve utilization, balance load, etc</a:t>
            </a:r>
            <a:endParaRPr lang="en-US" altLang="ko-KR" b="0" dirty="0" smtClean="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/>
            <a:r>
              <a:rPr lang="en-US" altLang="ko-KR" b="0" dirty="0" smtClean="0">
                <a:solidFill>
                  <a:srgbClr val="FF0000"/>
                </a:solidFill>
              </a:rPr>
              <a:t>Periodic or batch rescheduling </a:t>
            </a:r>
            <a:r>
              <a:rPr lang="en-US" altLang="ko-KR" b="0" dirty="0" smtClean="0"/>
              <a:t>approaches group resource requests and system events which are then processed at intervals </a:t>
            </a:r>
          </a:p>
          <a:p>
            <a:pPr lvl="1">
              <a:spcBef>
                <a:spcPts val="1200"/>
              </a:spcBef>
            </a:pPr>
            <a:r>
              <a:rPr lang="en-US" altLang="ko-KR" b="0" dirty="0" smtClean="0">
                <a:solidFill>
                  <a:srgbClr val="FF0000"/>
                </a:solidFill>
              </a:rPr>
              <a:t>Event driven online rescheduling </a:t>
            </a:r>
            <a:r>
              <a:rPr lang="en-US" altLang="ko-KR" b="0" dirty="0" smtClean="0"/>
              <a:t>performs rescheduling as soon the RMS receives the resource request or system event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Resource Management System</a:t>
            </a:r>
            <a:endParaRPr kumimoji="1" lang="ko-KR" altLang="ko-KR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j-cs"/>
            </a:endParaRP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276872"/>
            <a:ext cx="42005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풍선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solidFill>
          <a:schemeClr val="bg1"/>
        </a:solidFill>
      </a:spPr>
      <a:bodyPr wrap="square" rtlCol="0">
        <a:spAutoFit/>
      </a:bodyPr>
      <a:lstStyle>
        <a:defPPr>
          <a:defRPr u="none" dirty="0" smtClean="0"/>
        </a:defPPr>
      </a:lstStyle>
    </a:txDef>
  </a:objectDefaults>
  <a:extraClrSchemeLst>
    <a:extraClrScheme>
      <a:clrScheme name="풍선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풍선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풍선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32729</TotalTime>
  <Words>2017</Words>
  <Application>Microsoft Office PowerPoint</Application>
  <PresentationFormat>On-screen Show (4:3)</PresentationFormat>
  <Paragraphs>555</Paragraphs>
  <Slides>40</Slides>
  <Notes>7</Notes>
  <HiddenSlides>4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풍선</vt:lpstr>
      <vt:lpstr>Bitmap Image</vt:lpstr>
      <vt:lpstr>Photo Editor Photo</vt:lpstr>
      <vt:lpstr>Image</vt:lpstr>
      <vt:lpstr>Cluster and Grid Computing  2013.10.6  Sayed Chhattan Shah, PhD Senior Researcher Electronics and Telecommunications Research Institute, Korea  </vt:lpstr>
      <vt:lpstr>Outline</vt:lpstr>
      <vt:lpstr>Cluster Computing </vt:lpstr>
      <vt:lpstr>Cluster </vt:lpstr>
      <vt:lpstr>Cluster Computer Architecture</vt:lpstr>
      <vt:lpstr>Prominent Components of Cluster Computers</vt:lpstr>
      <vt:lpstr>Prominent Components of Cluster Computers</vt:lpstr>
      <vt:lpstr>Prominent Components of Cluster Computers</vt:lpstr>
      <vt:lpstr>Prominent Components of Cluster Computers</vt:lpstr>
      <vt:lpstr>Prominent Components of Cluster Computers</vt:lpstr>
      <vt:lpstr>Grid Computing </vt:lpstr>
      <vt:lpstr>Overview: Clusters x Grids</vt:lpstr>
      <vt:lpstr>Basic Idea</vt:lpstr>
      <vt:lpstr>Grid and Cluster</vt:lpstr>
      <vt:lpstr>Slide 15</vt:lpstr>
      <vt:lpstr>Grid Computing</vt:lpstr>
      <vt:lpstr>CERNs Large Hadron Collider</vt:lpstr>
      <vt:lpstr>Data Grids for High Energy Physics</vt:lpstr>
      <vt:lpstr>Grid Components</vt:lpstr>
      <vt:lpstr>Challenging Technical Requirements</vt:lpstr>
      <vt:lpstr>Selected Major Grid Projects</vt:lpstr>
      <vt:lpstr>Selected Major Grid Projects</vt:lpstr>
      <vt:lpstr>Selected Major Grid Projects</vt:lpstr>
      <vt:lpstr>Overview: Clusters x Grids</vt:lpstr>
      <vt:lpstr>Types of Grids </vt:lpstr>
      <vt:lpstr>Resource Management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  <vt:lpstr>Overview: Clusters x Grids</vt:lpstr>
    </vt:vector>
  </TitlesOfParts>
  <Company>GPSLAB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GPS 신호를 이용한 자세율 결정법 연구</dc:title>
  <dc:creator>정흥교</dc:creator>
  <cp:lastModifiedBy>User</cp:lastModifiedBy>
  <cp:revision>580</cp:revision>
  <cp:lastPrinted>2011-04-14T14:27:04Z</cp:lastPrinted>
  <dcterms:created xsi:type="dcterms:W3CDTF">2004-03-30T06:44:40Z</dcterms:created>
  <dcterms:modified xsi:type="dcterms:W3CDTF">2013-08-23T07:53:54Z</dcterms:modified>
</cp:coreProperties>
</file>