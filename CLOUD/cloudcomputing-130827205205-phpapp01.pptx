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3" r:id="rId1"/>
  </p:sldMasterIdLst>
  <p:notesMasterIdLst>
    <p:notesMasterId r:id="rId22"/>
  </p:notesMasterIdLst>
  <p:handoutMasterIdLst>
    <p:handoutMasterId r:id="rId23"/>
  </p:handoutMasterIdLst>
  <p:sldIdLst>
    <p:sldId id="647" r:id="rId2"/>
    <p:sldId id="631" r:id="rId3"/>
    <p:sldId id="849" r:id="rId4"/>
    <p:sldId id="850" r:id="rId5"/>
    <p:sldId id="848" r:id="rId6"/>
    <p:sldId id="846" r:id="rId7"/>
    <p:sldId id="847" r:id="rId8"/>
    <p:sldId id="821" r:id="rId9"/>
    <p:sldId id="839" r:id="rId10"/>
    <p:sldId id="820" r:id="rId11"/>
    <p:sldId id="834" r:id="rId12"/>
    <p:sldId id="835" r:id="rId13"/>
    <p:sldId id="836" r:id="rId14"/>
    <p:sldId id="837" r:id="rId15"/>
    <p:sldId id="840" r:id="rId16"/>
    <p:sldId id="841" r:id="rId17"/>
    <p:sldId id="842" r:id="rId18"/>
    <p:sldId id="843" r:id="rId19"/>
    <p:sldId id="844" r:id="rId20"/>
    <p:sldId id="845" r:id="rId21"/>
  </p:sldIdLst>
  <p:sldSz cx="9144000" cy="6858000" type="screen4x3"/>
  <p:notesSz cx="6797675" cy="9874250"/>
  <p:defaultTextStyle>
    <a:defPPr>
      <a:defRPr lang="ko-KR"/>
    </a:defPPr>
    <a:lvl1pPr algn="ctr" rtl="0" fontAlgn="base" latinLnBrk="1">
      <a:spcBef>
        <a:spcPct val="0"/>
      </a:spcBef>
      <a:spcAft>
        <a:spcPct val="0"/>
      </a:spcAft>
      <a:defRPr kumimoji="1" b="1" u="sng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1pPr>
    <a:lvl2pPr marL="457200" algn="ctr" rtl="0" fontAlgn="base" latinLnBrk="1">
      <a:spcBef>
        <a:spcPct val="0"/>
      </a:spcBef>
      <a:spcAft>
        <a:spcPct val="0"/>
      </a:spcAft>
      <a:defRPr kumimoji="1" b="1" u="sng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2pPr>
    <a:lvl3pPr marL="914400" algn="ctr" rtl="0" fontAlgn="base" latinLnBrk="1">
      <a:spcBef>
        <a:spcPct val="0"/>
      </a:spcBef>
      <a:spcAft>
        <a:spcPct val="0"/>
      </a:spcAft>
      <a:defRPr kumimoji="1" b="1" u="sng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3pPr>
    <a:lvl4pPr marL="1371600" algn="ctr" rtl="0" fontAlgn="base" latinLnBrk="1">
      <a:spcBef>
        <a:spcPct val="0"/>
      </a:spcBef>
      <a:spcAft>
        <a:spcPct val="0"/>
      </a:spcAft>
      <a:defRPr kumimoji="1" b="1" u="sng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4pPr>
    <a:lvl5pPr marL="1828800" algn="ctr" rtl="0" fontAlgn="base" latinLnBrk="1">
      <a:spcBef>
        <a:spcPct val="0"/>
      </a:spcBef>
      <a:spcAft>
        <a:spcPct val="0"/>
      </a:spcAft>
      <a:defRPr kumimoji="1" b="1" u="sng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5pPr>
    <a:lvl6pPr marL="2286000" algn="l" defTabSz="914400" rtl="0" eaLnBrk="1" latinLnBrk="1" hangingPunct="1">
      <a:defRPr kumimoji="1" b="1" u="sng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6pPr>
    <a:lvl7pPr marL="2743200" algn="l" defTabSz="914400" rtl="0" eaLnBrk="1" latinLnBrk="1" hangingPunct="1">
      <a:defRPr kumimoji="1" b="1" u="sng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7pPr>
    <a:lvl8pPr marL="3200400" algn="l" defTabSz="914400" rtl="0" eaLnBrk="1" latinLnBrk="1" hangingPunct="1">
      <a:defRPr kumimoji="1" b="1" u="sng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8pPr>
    <a:lvl9pPr marL="3657600" algn="l" defTabSz="914400" rtl="0" eaLnBrk="1" latinLnBrk="1" hangingPunct="1">
      <a:defRPr kumimoji="1" b="1" u="sng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0025"/>
    <a:srgbClr val="4C0019"/>
    <a:srgbClr val="8E2200"/>
    <a:srgbClr val="FFFF66"/>
    <a:srgbClr val="A50021"/>
    <a:srgbClr val="FFCCFF"/>
    <a:srgbClr val="FFFFFF"/>
    <a:srgbClr val="66FF33"/>
    <a:srgbClr val="000000"/>
    <a:srgbClr val="00E4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99" autoAdjust="0"/>
    <p:restoredTop sz="94703" autoAdjust="0"/>
  </p:normalViewPr>
  <p:slideViewPr>
    <p:cSldViewPr>
      <p:cViewPr varScale="1">
        <p:scale>
          <a:sx n="114" d="100"/>
          <a:sy n="114" d="100"/>
        </p:scale>
        <p:origin x="-1470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91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-2436" y="-120"/>
      </p:cViewPr>
      <p:guideLst>
        <p:guide orient="horz" pos="3110"/>
        <p:guide pos="2141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46401" cy="4942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66" tIns="45583" rIns="91166" bIns="45583" numCol="1" anchor="t" anchorCtr="0" compatLnSpc="1">
            <a:prstTxWarp prst="textNoShape">
              <a:avLst/>
            </a:prstTxWarp>
          </a:bodyPr>
          <a:lstStyle>
            <a:lvl1pPr algn="l">
              <a:defRPr sz="1200" b="0" u="none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89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9" y="0"/>
            <a:ext cx="2946401" cy="4942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66" tIns="45583" rIns="91166" bIns="45583" numCol="1" anchor="t" anchorCtr="0" compatLnSpc="1">
            <a:prstTxWarp prst="textNoShape">
              <a:avLst/>
            </a:prstTxWarp>
          </a:bodyPr>
          <a:lstStyle>
            <a:lvl1pPr algn="r">
              <a:defRPr sz="1200" b="0" u="none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89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378407"/>
            <a:ext cx="2946401" cy="494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66" tIns="45583" rIns="91166" bIns="45583" numCol="1" anchor="b" anchorCtr="0" compatLnSpc="1">
            <a:prstTxWarp prst="textNoShape">
              <a:avLst/>
            </a:prstTxWarp>
          </a:bodyPr>
          <a:lstStyle>
            <a:lvl1pPr algn="l">
              <a:defRPr sz="1200" b="0" u="none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89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9" y="9378407"/>
            <a:ext cx="2946401" cy="494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66" tIns="45583" rIns="91166" bIns="45583" numCol="1" anchor="b" anchorCtr="0" compatLnSpc="1">
            <a:prstTxWarp prst="textNoShape">
              <a:avLst/>
            </a:prstTxWarp>
          </a:bodyPr>
          <a:lstStyle>
            <a:lvl1pPr algn="r">
              <a:defRPr sz="1200" b="0" u="none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5036C655-4B28-4B3C-85EF-90BF176A599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xmlns="" val="10391081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46401" cy="4942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66" tIns="45583" rIns="91166" bIns="45583" numCol="1" anchor="t" anchorCtr="0" compatLnSpc="1">
            <a:prstTxWarp prst="textNoShape">
              <a:avLst/>
            </a:prstTxWarp>
          </a:bodyPr>
          <a:lstStyle>
            <a:lvl1pPr algn="l">
              <a:defRPr sz="1200" b="0" u="none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92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9" y="0"/>
            <a:ext cx="2946401" cy="4942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66" tIns="45583" rIns="91166" bIns="45583" numCol="1" anchor="t" anchorCtr="0" compatLnSpc="1">
            <a:prstTxWarp prst="textNoShape">
              <a:avLst/>
            </a:prstTxWarp>
          </a:bodyPr>
          <a:lstStyle>
            <a:lvl1pPr algn="r">
              <a:defRPr sz="1200" b="0" u="none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56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0275" y="741363"/>
            <a:ext cx="4937125" cy="37020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2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1" y="4689993"/>
            <a:ext cx="5438776" cy="4443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66" tIns="45583" rIns="91166" bIns="4558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392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378407"/>
            <a:ext cx="2946401" cy="494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66" tIns="45583" rIns="91166" bIns="45583" numCol="1" anchor="b" anchorCtr="0" compatLnSpc="1">
            <a:prstTxWarp prst="textNoShape">
              <a:avLst/>
            </a:prstTxWarp>
          </a:bodyPr>
          <a:lstStyle>
            <a:lvl1pPr algn="l">
              <a:defRPr sz="1200" b="0" u="none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92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9" y="9378407"/>
            <a:ext cx="2946401" cy="494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166" tIns="45583" rIns="91166" bIns="45583" numCol="1" anchor="b" anchorCtr="0" compatLnSpc="1">
            <a:prstTxWarp prst="textNoShape">
              <a:avLst/>
            </a:prstTxWarp>
          </a:bodyPr>
          <a:lstStyle>
            <a:lvl1pPr algn="r">
              <a:defRPr sz="1200" b="0" u="none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BA7381E3-B1C2-423A-A184-4AE6EEBD5CC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xmlns="" val="108478024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A7381E3-B1C2-423A-A184-4AE6EEBD5CC3}" type="slidenum">
              <a:rPr lang="en-US" altLang="ko-KR" smtClean="0"/>
              <a:pPr>
                <a:defRPr/>
              </a:pPr>
              <a:t>1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A7381E3-B1C2-423A-A184-4AE6EEBD5CC3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A7381E3-B1C2-423A-A184-4AE6EEBD5CC3}" type="slidenum">
              <a:rPr lang="en-US" altLang="ko-KR" smtClean="0"/>
              <a:pPr>
                <a:defRPr/>
              </a:pPr>
              <a:t>4</a:t>
            </a:fld>
            <a:endParaRPr lang="en-US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9" Type="http://schemas.openxmlformats.org/officeDocument/2006/relationships/image" Target="../media/image9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eg"/><Relationship Id="rId7" Type="http://schemas.openxmlformats.org/officeDocument/2006/relationships/image" Target="../media/image8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23" name="Picture 11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51938" cy="6865938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</p:pic>
      <p:sp>
        <p:nvSpPr>
          <p:cNvPr id="23" name="직사각형 22"/>
          <p:cNvSpPr/>
          <p:nvPr userDrawn="1"/>
        </p:nvSpPr>
        <p:spPr bwMode="auto">
          <a:xfrm>
            <a:off x="0" y="6093296"/>
            <a:ext cx="3995936" cy="76470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800" b="1" i="0" u="sng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58415" name="Rectangle 47"/>
          <p:cNvSpPr>
            <a:spLocks noGrp="1" noChangeArrowheads="1"/>
          </p:cNvSpPr>
          <p:nvPr>
            <p:ph type="ctrTitle"/>
          </p:nvPr>
        </p:nvSpPr>
        <p:spPr>
          <a:xfrm>
            <a:off x="0" y="2000240"/>
            <a:ext cx="9144000" cy="1164524"/>
          </a:xfrm>
        </p:spPr>
        <p:txBody>
          <a:bodyPr/>
          <a:lstStyle>
            <a:lvl1pPr algn="ctr">
              <a:defRPr sz="4000" b="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38914" name="Picture 2" descr="D:\연구실\2010\WAD과제\회의자료\서울대 로고.jp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0" y="6134068"/>
            <a:ext cx="648072" cy="669026"/>
          </a:xfrm>
          <a:prstGeom prst="rect">
            <a:avLst/>
          </a:prstGeom>
          <a:noFill/>
        </p:spPr>
      </p:pic>
      <p:pic>
        <p:nvPicPr>
          <p:cNvPr id="38916" name="Picture 4" descr="D:\연구실\2010\WAD과제\회의자료\ETRI 로고.jp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57616" y="6284867"/>
            <a:ext cx="970568" cy="396204"/>
          </a:xfrm>
          <a:prstGeom prst="rect">
            <a:avLst/>
          </a:prstGeom>
          <a:noFill/>
        </p:spPr>
      </p:pic>
      <p:pic>
        <p:nvPicPr>
          <p:cNvPr id="38917" name="Picture 5" descr="D:\연구실\2010\WAD과제\회의자료\인하대 로고.jpg"/>
          <p:cNvPicPr>
            <a:picLocks noChangeAspect="1" noChangeArrowheads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247460" y="6164123"/>
            <a:ext cx="650873" cy="620688"/>
          </a:xfrm>
          <a:prstGeom prst="rect">
            <a:avLst/>
          </a:prstGeom>
          <a:noFill/>
        </p:spPr>
      </p:pic>
      <p:pic>
        <p:nvPicPr>
          <p:cNvPr id="38918" name="Picture 6" descr="D:\연구실\2010\WAD과제\회의자료\중앙대 로고.jpg"/>
          <p:cNvPicPr>
            <a:picLocks noChangeAspect="1" noChangeArrowheads="1"/>
          </p:cNvPicPr>
          <p:nvPr userDrawn="1"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902370" y="6130929"/>
            <a:ext cx="759623" cy="692696"/>
          </a:xfrm>
          <a:prstGeom prst="rect">
            <a:avLst/>
          </a:prstGeom>
          <a:noFill/>
        </p:spPr>
      </p:pic>
      <p:pic>
        <p:nvPicPr>
          <p:cNvPr id="38920" name="Picture 8"/>
          <p:cNvPicPr>
            <a:picLocks noChangeAspect="1" noChangeArrowheads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648738" y="6093296"/>
            <a:ext cx="723900" cy="714375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</p:pic>
      <p:pic>
        <p:nvPicPr>
          <p:cNvPr id="38921" name="Picture 9" descr="D:\연구실\2010\WAD과제\회의자료\항공대 로고.jpg"/>
          <p:cNvPicPr>
            <a:picLocks noChangeAspect="1" noChangeArrowheads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8414538" y="6126405"/>
            <a:ext cx="624731" cy="624731"/>
          </a:xfrm>
          <a:prstGeom prst="rect">
            <a:avLst/>
          </a:prstGeom>
          <a:noFill/>
        </p:spPr>
      </p:pic>
      <p:cxnSp>
        <p:nvCxnSpPr>
          <p:cNvPr id="18" name="직선 연결선 17"/>
          <p:cNvCxnSpPr/>
          <p:nvPr userDrawn="1"/>
        </p:nvCxnSpPr>
        <p:spPr bwMode="auto">
          <a:xfrm>
            <a:off x="611560" y="6021288"/>
            <a:ext cx="8280920" cy="0"/>
          </a:xfrm>
          <a:prstGeom prst="line">
            <a:avLst/>
          </a:prstGeom>
          <a:noFill/>
          <a:ln w="34925" cap="flat" cmpd="sng" algn="ctr">
            <a:solidFill>
              <a:schemeClr val="accent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38922" name="Picture 10"/>
          <p:cNvPicPr>
            <a:picLocks noChangeAspect="1" noChangeArrowheads="1"/>
          </p:cNvPicPr>
          <p:nvPr userDrawn="1"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245800" y="6077342"/>
            <a:ext cx="792088" cy="792088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</p:pic>
      <p:sp>
        <p:nvSpPr>
          <p:cNvPr id="22" name="TextBox 21"/>
          <p:cNvSpPr txBox="1"/>
          <p:nvPr userDrawn="1"/>
        </p:nvSpPr>
        <p:spPr>
          <a:xfrm>
            <a:off x="971600" y="6286702"/>
            <a:ext cx="273630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 anchorCtr="0">
            <a:spAutoFit/>
          </a:bodyPr>
          <a:lstStyle/>
          <a:p>
            <a:r>
              <a:rPr lang="ko-KR" altLang="en-US" u="none" dirty="0" smtClean="0">
                <a:solidFill>
                  <a:schemeClr val="tx2">
                    <a:lumMod val="50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한국해양과학기술진흥원</a:t>
            </a:r>
            <a:endParaRPr lang="ko-KR" altLang="en-US" u="none" dirty="0">
              <a:solidFill>
                <a:schemeClr val="tx2">
                  <a:lumMod val="50000"/>
                </a:schemeClr>
              </a:solidFill>
              <a:latin typeface="HY헤드라인M" pitchFamily="18" charset="-127"/>
              <a:ea typeface="HY헤드라인M" pitchFamily="18" charset="-127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 b="1">
                <a:latin typeface="굴림" pitchFamily="50" charset="-127"/>
                <a:ea typeface="굴림" pitchFamily="50" charset="-127"/>
              </a:defRPr>
            </a:lvl1pPr>
            <a:lvl2pPr>
              <a:defRPr sz="2000">
                <a:latin typeface="굴림" pitchFamily="50" charset="-127"/>
                <a:ea typeface="굴림" pitchFamily="50" charset="-127"/>
              </a:defRPr>
            </a:lvl2pPr>
            <a:lvl3pPr>
              <a:defRPr sz="1800">
                <a:latin typeface="굴림" pitchFamily="50" charset="-127"/>
                <a:ea typeface="굴림" pitchFamily="50" charset="-127"/>
              </a:defRPr>
            </a:lvl3pPr>
            <a:lvl4pPr>
              <a:defRPr sz="1600">
                <a:latin typeface="굴림" pitchFamily="50" charset="-127"/>
                <a:ea typeface="굴림" pitchFamily="50" charset="-127"/>
              </a:defRPr>
            </a:lvl4pPr>
            <a:lvl5pPr>
              <a:defRPr sz="1400">
                <a:latin typeface="굴림" pitchFamily="50" charset="-127"/>
                <a:ea typeface="굴림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pic>
        <p:nvPicPr>
          <p:cNvPr id="13" name="Picture 2" descr="D:\연구실\2010\WAD과제\회의자료\서울대 로고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80112" y="6367359"/>
            <a:ext cx="432048" cy="446017"/>
          </a:xfrm>
          <a:prstGeom prst="rect">
            <a:avLst/>
          </a:prstGeom>
          <a:noFill/>
        </p:spPr>
      </p:pic>
      <p:pic>
        <p:nvPicPr>
          <p:cNvPr id="14" name="Picture 4" descr="D:\연구실\2010\WAD과제\회의자료\ETRI 로고.jp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84168" y="6453337"/>
            <a:ext cx="778212" cy="317680"/>
          </a:xfrm>
          <a:prstGeom prst="rect">
            <a:avLst/>
          </a:prstGeom>
          <a:noFill/>
        </p:spPr>
      </p:pic>
      <p:pic>
        <p:nvPicPr>
          <p:cNvPr id="15" name="Picture 5" descr="D:\연구실\2010\WAD과제\회의자료\인하대 로고.jp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10546" y="6400268"/>
            <a:ext cx="432048" cy="412011"/>
          </a:xfrm>
          <a:prstGeom prst="rect">
            <a:avLst/>
          </a:prstGeom>
          <a:noFill/>
        </p:spPr>
      </p:pic>
      <p:pic>
        <p:nvPicPr>
          <p:cNvPr id="16" name="Picture 6" descr="D:\연구실\2010\WAD과제\회의자료\중앙대 로고.jpg"/>
          <p:cNvPicPr>
            <a:picLocks noChangeAspect="1" noChangeArrowheads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362936" y="6382509"/>
            <a:ext cx="521432" cy="475491"/>
          </a:xfrm>
          <a:prstGeom prst="rect">
            <a:avLst/>
          </a:prstGeom>
          <a:noFill/>
        </p:spPr>
      </p:pic>
      <p:pic>
        <p:nvPicPr>
          <p:cNvPr id="17" name="Picture 8"/>
          <p:cNvPicPr>
            <a:picLocks noChangeAspect="1" noChangeArrowheads="1"/>
          </p:cNvPicPr>
          <p:nvPr userDrawn="1"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883324" y="6355040"/>
            <a:ext cx="494610" cy="488102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</p:pic>
      <p:pic>
        <p:nvPicPr>
          <p:cNvPr id="18" name="Picture 9" descr="D:\연구실\2010\WAD과제\회의자료\항공대 로고.jpg"/>
          <p:cNvPicPr>
            <a:picLocks noChangeAspect="1" noChangeArrowheads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8388424" y="6376238"/>
            <a:ext cx="432048" cy="432048"/>
          </a:xfrm>
          <a:prstGeom prst="rect">
            <a:avLst/>
          </a:prstGeom>
          <a:noFill/>
        </p:spPr>
      </p:pic>
      <p:pic>
        <p:nvPicPr>
          <p:cNvPr id="19" name="Picture 10"/>
          <p:cNvPicPr>
            <a:picLocks noChangeAspect="1" noChangeArrowheads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82980" y="6352748"/>
            <a:ext cx="509776" cy="509776"/>
          </a:xfrm>
          <a:prstGeom prst="rect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</p:pic>
      <p:sp>
        <p:nvSpPr>
          <p:cNvPr id="20" name="TextBox 19"/>
          <p:cNvSpPr txBox="1"/>
          <p:nvPr userDrawn="1"/>
        </p:nvSpPr>
        <p:spPr>
          <a:xfrm>
            <a:off x="971600" y="6441906"/>
            <a:ext cx="2160240" cy="30777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ko-KR" altLang="en-US" sz="1400" u="none" dirty="0" smtClean="0">
                <a:solidFill>
                  <a:schemeClr val="tx2">
                    <a:lumMod val="50000"/>
                  </a:schemeClr>
                </a:solidFill>
                <a:latin typeface="HY헤드라인M" pitchFamily="18" charset="-127"/>
                <a:ea typeface="HY헤드라인M" pitchFamily="18" charset="-127"/>
              </a:rPr>
              <a:t>한국해양과학기술진흥원</a:t>
            </a:r>
            <a:endParaRPr lang="ko-KR" altLang="en-US" sz="1400" u="none" dirty="0">
              <a:solidFill>
                <a:schemeClr val="tx2">
                  <a:lumMod val="50000"/>
                </a:schemeClr>
              </a:solidFill>
              <a:latin typeface="HY헤드라인M" pitchFamily="18" charset="-127"/>
              <a:ea typeface="HY헤드라인M" pitchFamily="18" charset="-127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6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0"/>
            <a:ext cx="9144000" cy="686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9" name="Rectangle 4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400" b="0" u="none">
                <a:latin typeface="+mn-lt"/>
                <a:ea typeface="+mn-ea"/>
              </a:defRPr>
            </a:lvl1pPr>
          </a:lstStyle>
          <a:p>
            <a:pPr>
              <a:defRPr/>
            </a:pPr>
            <a:fld id="{639E5468-2278-4614-A712-97FB52DF4285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6" name="직사각형 5"/>
          <p:cNvSpPr/>
          <p:nvPr userDrawn="1"/>
        </p:nvSpPr>
        <p:spPr bwMode="auto">
          <a:xfrm>
            <a:off x="7524328" y="332656"/>
            <a:ext cx="1152128" cy="360040"/>
          </a:xfrm>
          <a:prstGeom prst="rect">
            <a:avLst/>
          </a:prstGeom>
          <a:solidFill>
            <a:srgbClr val="700025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800" b="1" i="0" u="sng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1027" name="Rectangle 45"/>
          <p:cNvSpPr>
            <a:spLocks noGrp="1" noChangeArrowheads="1"/>
          </p:cNvSpPr>
          <p:nvPr>
            <p:ph type="title"/>
          </p:nvPr>
        </p:nvSpPr>
        <p:spPr bwMode="auto">
          <a:xfrm>
            <a:off x="542925" y="142875"/>
            <a:ext cx="8243888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7" name="직사각형 6"/>
          <p:cNvSpPr/>
          <p:nvPr userDrawn="1"/>
        </p:nvSpPr>
        <p:spPr bwMode="auto">
          <a:xfrm>
            <a:off x="0" y="6237312"/>
            <a:ext cx="9144000" cy="620688"/>
          </a:xfrm>
          <a:prstGeom prst="rect">
            <a:avLst/>
          </a:prstGeom>
          <a:solidFill>
            <a:schemeClr val="bg1"/>
          </a:solidFill>
          <a:ln w="9525" cap="rnd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800" b="1" i="0" u="sng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57390" name="Rectangle 4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25538"/>
            <a:ext cx="8229600" cy="4967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</a:p>
        </p:txBody>
      </p:sp>
      <p:cxnSp>
        <p:nvCxnSpPr>
          <p:cNvPr id="8" name="직선 연결선 7"/>
          <p:cNvCxnSpPr/>
          <p:nvPr userDrawn="1"/>
        </p:nvCxnSpPr>
        <p:spPr bwMode="auto">
          <a:xfrm>
            <a:off x="611560" y="6309320"/>
            <a:ext cx="8280920" cy="0"/>
          </a:xfrm>
          <a:prstGeom prst="line">
            <a:avLst/>
          </a:prstGeom>
          <a:noFill/>
          <a:ln w="34925" cap="flat" cmpd="sng" algn="ctr">
            <a:solidFill>
              <a:schemeClr val="accent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0" r:id="rId1"/>
    <p:sldLayoutId id="2147483871" r:id="rId2"/>
  </p:sldLayoutIdLst>
  <p:hf sldNum="0" hdr="0" ftr="0" dt="0"/>
  <p:txStyles>
    <p:titleStyle>
      <a:lvl1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latin typeface="HY견고딕" pitchFamily="18" charset="-127"/>
          <a:ea typeface="HY견고딕" pitchFamily="18" charset="-127"/>
          <a:cs typeface="+mj-cs"/>
        </a:defRPr>
      </a:lvl1pPr>
      <a:lvl2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effectLst>
            <a:outerShdw blurRad="38100" dist="38100" dir="2700000" algn="tl">
              <a:srgbClr val="C0C0C0"/>
            </a:outerShdw>
          </a:effectLst>
          <a:latin typeface="HY견고딕" pitchFamily="18" charset="-127"/>
          <a:ea typeface="HY견고딕" pitchFamily="18" charset="-127"/>
        </a:defRPr>
      </a:lvl5pPr>
      <a:lvl6pPr marL="457200" algn="ctr" rtl="0" fontAlgn="base" latinLnBrk="1">
        <a:lnSpc>
          <a:spcPct val="90000"/>
        </a:lnSpc>
        <a:spcBef>
          <a:spcPct val="0"/>
        </a:spcBef>
        <a:spcAft>
          <a:spcPct val="0"/>
        </a:spcAft>
        <a:defRPr kumimoji="1" sz="36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굴림" pitchFamily="50" charset="-127"/>
          <a:ea typeface="굴림" pitchFamily="50" charset="-127"/>
        </a:defRPr>
      </a:lvl6pPr>
      <a:lvl7pPr marL="914400" algn="ctr" rtl="0" fontAlgn="base" latinLnBrk="1">
        <a:lnSpc>
          <a:spcPct val="90000"/>
        </a:lnSpc>
        <a:spcBef>
          <a:spcPct val="0"/>
        </a:spcBef>
        <a:spcAft>
          <a:spcPct val="0"/>
        </a:spcAft>
        <a:defRPr kumimoji="1" sz="36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굴림" pitchFamily="50" charset="-127"/>
          <a:ea typeface="굴림" pitchFamily="50" charset="-127"/>
        </a:defRPr>
      </a:lvl7pPr>
      <a:lvl8pPr marL="1371600" algn="ctr" rtl="0" fontAlgn="base" latinLnBrk="1">
        <a:lnSpc>
          <a:spcPct val="90000"/>
        </a:lnSpc>
        <a:spcBef>
          <a:spcPct val="0"/>
        </a:spcBef>
        <a:spcAft>
          <a:spcPct val="0"/>
        </a:spcAft>
        <a:defRPr kumimoji="1" sz="36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굴림" pitchFamily="50" charset="-127"/>
          <a:ea typeface="굴림" pitchFamily="50" charset="-127"/>
        </a:defRPr>
      </a:lvl8pPr>
      <a:lvl9pPr marL="1828800" algn="ctr" rtl="0" fontAlgn="base" latinLnBrk="1">
        <a:lnSpc>
          <a:spcPct val="90000"/>
        </a:lnSpc>
        <a:spcBef>
          <a:spcPct val="0"/>
        </a:spcBef>
        <a:spcAft>
          <a:spcPct val="0"/>
        </a:spcAft>
        <a:defRPr kumimoji="1" sz="3600">
          <a:solidFill>
            <a:srgbClr val="000000"/>
          </a:solidFill>
          <a:effectLst>
            <a:outerShdw blurRad="38100" dist="38100" dir="2700000" algn="tl">
              <a:srgbClr val="C0C0C0"/>
            </a:outerShdw>
          </a:effectLst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Wingdings" pitchFamily="2" charset="2"/>
        <a:buChar char="u"/>
        <a:defRPr kumimoji="1" sz="2800" b="1">
          <a:solidFill>
            <a:srgbClr val="000000"/>
          </a:solidFill>
          <a:latin typeface="+mn-lt"/>
          <a:ea typeface="+mn-ea"/>
          <a:cs typeface="+mn-cs"/>
        </a:defRPr>
      </a:lvl1pPr>
      <a:lvl2pPr marL="914400" indent="-457200" algn="l" rtl="0" eaLnBrk="0" fontAlgn="base" latinLnBrk="1" hangingPunct="0">
        <a:spcBef>
          <a:spcPct val="20000"/>
        </a:spcBef>
        <a:spcAft>
          <a:spcPct val="0"/>
        </a:spcAft>
        <a:buClrTx/>
        <a:buFont typeface="Wingdings" pitchFamily="2" charset="2"/>
        <a:buChar char="§"/>
        <a:defRPr kumimoji="1" sz="2400" b="1">
          <a:solidFill>
            <a:schemeClr val="tx1"/>
          </a:solidFill>
          <a:effectLst/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Tx/>
        <a:buFont typeface="Arial" pitchFamily="34" charset="0"/>
        <a:buChar char="•"/>
        <a:defRPr kumimoji="1" sz="2000" b="1">
          <a:solidFill>
            <a:schemeClr val="tx1"/>
          </a:solidFill>
          <a:effectLst/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00"/>
        </a:buClr>
        <a:buFont typeface="Wingdings" pitchFamily="2" charset="2"/>
        <a:buChar char="Ø"/>
        <a:defRPr kumimoji="1">
          <a:solidFill>
            <a:schemeClr val="tx1"/>
          </a:solidFill>
          <a:effectLst/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ites.google.com/site/chhattanshah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lideshare.net/chhattanshah/cluster-and-grid-computing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lideshare.net/chhattanshah/cluster-and-grid-computing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://en.wikipedia.org/wiki/Virtual_machine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://en.wikipedia.org/wiki/Casengo" TargetMode="External"/><Relationship Id="rId3" Type="http://schemas.openxmlformats.org/officeDocument/2006/relationships/hyperlink" Target="http://en.wikipedia.org/wiki/Microsoft_Office_365" TargetMode="External"/><Relationship Id="rId7" Type="http://schemas.openxmlformats.org/officeDocument/2006/relationships/hyperlink" Target="http://en.wikipedia.org/wiki/Marketo" TargetMode="External"/><Relationship Id="rId12" Type="http://schemas.openxmlformats.org/officeDocument/2006/relationships/hyperlink" Target="http://en.wikipedia.org/wiki/ExactTarget" TargetMode="External"/><Relationship Id="rId2" Type="http://schemas.openxmlformats.org/officeDocument/2006/relationships/hyperlink" Target="http://en.wikipedia.org/wiki/Google_App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en.wikipedia.org/wiki/GT_Nexus" TargetMode="External"/><Relationship Id="rId11" Type="http://schemas.openxmlformats.org/officeDocument/2006/relationships/hyperlink" Target="http://en.wikipedia.org/wiki/Salesforce" TargetMode="External"/><Relationship Id="rId5" Type="http://schemas.openxmlformats.org/officeDocument/2006/relationships/hyperlink" Target="http://en.wikipedia.org/wiki/Onlive" TargetMode="External"/><Relationship Id="rId10" Type="http://schemas.openxmlformats.org/officeDocument/2006/relationships/hyperlink" Target="http://en.wikipedia.org/wiki/Rally_Software" TargetMode="External"/><Relationship Id="rId4" Type="http://schemas.openxmlformats.org/officeDocument/2006/relationships/hyperlink" Target="http://en.wikipedia.org/wiki/Petrosoft" TargetMode="External"/><Relationship Id="rId9" Type="http://schemas.openxmlformats.org/officeDocument/2006/relationships/hyperlink" Target="http://en.wikipedia.org/wiki/TradeCard" TargetMode="Externa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://en.wikipedia.org/wiki/OpenShift" TargetMode="External"/><Relationship Id="rId13" Type="http://schemas.openxmlformats.org/officeDocument/2006/relationships/hyperlink" Target="http://en.wikipedia.org/wiki/Jelastic" TargetMode="External"/><Relationship Id="rId3" Type="http://schemas.openxmlformats.org/officeDocument/2006/relationships/hyperlink" Target="http://en.wikipedia.org/wiki/Cloud_Foundry" TargetMode="External"/><Relationship Id="rId7" Type="http://schemas.openxmlformats.org/officeDocument/2006/relationships/hyperlink" Target="http://en.wikipedia.org/wiki/Mendix" TargetMode="External"/><Relationship Id="rId12" Type="http://schemas.openxmlformats.org/officeDocument/2006/relationships/hyperlink" Target="http://en.wikipedia.org/wiki/OrangeScape" TargetMode="External"/><Relationship Id="rId2" Type="http://schemas.openxmlformats.org/officeDocument/2006/relationships/hyperlink" Target="http://en.wikipedia.org/wiki/AWS_Elastic_Beanstalk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en.wikipedia.org/wiki/Engine_Yard" TargetMode="External"/><Relationship Id="rId11" Type="http://schemas.openxmlformats.org/officeDocument/2006/relationships/hyperlink" Target="http://en.wikipedia.org/wiki/Azure_Services_Platform" TargetMode="External"/><Relationship Id="rId5" Type="http://schemas.openxmlformats.org/officeDocument/2006/relationships/hyperlink" Target="http://en.wikipedia.org/wiki/Force.com" TargetMode="External"/><Relationship Id="rId10" Type="http://schemas.openxmlformats.org/officeDocument/2006/relationships/hyperlink" Target="http://en.wikipedia.org/wiki/AppScale" TargetMode="External"/><Relationship Id="rId4" Type="http://schemas.openxmlformats.org/officeDocument/2006/relationships/hyperlink" Target="http://en.wikipedia.org/wiki/Heroku" TargetMode="External"/><Relationship Id="rId9" Type="http://schemas.openxmlformats.org/officeDocument/2006/relationships/hyperlink" Target="http://en.wikipedia.org/wiki/Google_App_Engine" TargetMode="Externa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://en.wikipedia.org/wiki/Rackspace" TargetMode="External"/><Relationship Id="rId3" Type="http://schemas.openxmlformats.org/officeDocument/2006/relationships/hyperlink" Target="http://en.wikipedia.org/wiki/Google_Compute_Engine" TargetMode="External"/><Relationship Id="rId7" Type="http://schemas.openxmlformats.org/officeDocument/2006/relationships/hyperlink" Target="http://en.wikipedia.org/wiki/NaviSite" TargetMode="External"/><Relationship Id="rId2" Type="http://schemas.openxmlformats.org/officeDocument/2006/relationships/hyperlink" Target="http://en.wikipedia.org/wiki/Amazon_EC2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en.wikipedia.org/wiki/Linode" TargetMode="External"/><Relationship Id="rId11" Type="http://schemas.openxmlformats.org/officeDocument/2006/relationships/hyperlink" Target="http://en.wikipedia.org/wiki/Internap" TargetMode="External"/><Relationship Id="rId5" Type="http://schemas.openxmlformats.org/officeDocument/2006/relationships/hyperlink" Target="http://en.wikipedia.org/wiki/Joyent" TargetMode="External"/><Relationship Id="rId10" Type="http://schemas.openxmlformats.org/officeDocument/2006/relationships/hyperlink" Target="http://en.wikipedia.org/wiki/ReadySpace_Cloud_Services" TargetMode="External"/><Relationship Id="rId4" Type="http://schemas.openxmlformats.org/officeDocument/2006/relationships/hyperlink" Target="http://en.wikipedia.org/wiki/HP_Cloud_Services" TargetMode="External"/><Relationship Id="rId9" Type="http://schemas.openxmlformats.org/officeDocument/2006/relationships/hyperlink" Target="http://en.wikipedia.org/wiki/Windows_Azure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79512" y="1522520"/>
            <a:ext cx="8749480" cy="409242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sz="3600" b="1" dirty="0" smtClean="0"/>
              <a:t>Introduction to Cloud Computing</a:t>
            </a:r>
            <a:br>
              <a:rPr lang="en-US" altLang="ko-KR" sz="3600" b="1" dirty="0" smtClean="0"/>
            </a:br>
            <a:r>
              <a:rPr lang="en-US" altLang="ko-KR" sz="2400" u="sng" dirty="0" smtClean="0"/>
              <a:t/>
            </a:r>
            <a:br>
              <a:rPr lang="en-US" altLang="ko-KR" sz="2400" u="sng" dirty="0" smtClean="0"/>
            </a:br>
            <a:r>
              <a:rPr lang="en-US" altLang="ko-KR" sz="2400" dirty="0" smtClean="0"/>
              <a:t>2013.10.6</a:t>
            </a:r>
            <a:br>
              <a:rPr lang="en-US" altLang="ko-KR" sz="2400" dirty="0" smtClean="0"/>
            </a:br>
            <a:r>
              <a:rPr lang="en-US" altLang="ko-KR" sz="1400" u="sng" dirty="0" smtClean="0"/>
              <a:t/>
            </a:r>
            <a:br>
              <a:rPr lang="en-US" altLang="ko-KR" sz="1400" u="sng" dirty="0" smtClean="0"/>
            </a:br>
            <a:r>
              <a:rPr lang="en-US" altLang="ko-KR" sz="1400" u="sng" dirty="0" smtClean="0"/>
              <a:t>Sayed Chhattan Shah, PhD</a:t>
            </a:r>
            <a:br>
              <a:rPr lang="en-US" altLang="ko-KR" sz="1400" u="sng" dirty="0" smtClean="0"/>
            </a:br>
            <a:r>
              <a:rPr lang="en-US" altLang="ko-KR" sz="1400" dirty="0" smtClean="0"/>
              <a:t>Senior Researcher</a:t>
            </a:r>
            <a:r>
              <a:rPr lang="ko-KR" altLang="ko-KR" sz="1400" dirty="0" smtClean="0"/>
              <a:t/>
            </a:r>
            <a:br>
              <a:rPr lang="ko-KR" altLang="ko-KR" sz="1400" dirty="0" smtClean="0"/>
            </a:br>
            <a:r>
              <a:rPr lang="en-US" altLang="ko-KR" sz="1400" dirty="0" smtClean="0"/>
              <a:t>Electronics and Telecommunications Research Institute, Korea</a:t>
            </a:r>
            <a:br>
              <a:rPr lang="en-US" altLang="ko-KR" sz="1400" dirty="0" smtClean="0"/>
            </a:br>
            <a:r>
              <a:rPr lang="en-US" altLang="ko-KR" sz="1200" dirty="0" smtClean="0">
                <a:hlinkClick r:id="rId3"/>
              </a:rPr>
              <a:t> https://sites.google.com/site/chhattanshah/ </a:t>
            </a:r>
            <a:r>
              <a:rPr lang="ko-KR" altLang="ko-KR" sz="1400" dirty="0" smtClean="0"/>
              <a:t/>
            </a:r>
            <a:br>
              <a:rPr lang="ko-KR" altLang="ko-KR" sz="1400" dirty="0" smtClean="0"/>
            </a:br>
            <a:r>
              <a:rPr lang="en-US" altLang="ko-KR" sz="1400" i="1" dirty="0" smtClean="0"/>
              <a:t/>
            </a:r>
            <a:br>
              <a:rPr lang="en-US" altLang="ko-KR" sz="1400" i="1" dirty="0" smtClean="0"/>
            </a:br>
            <a:endParaRPr lang="ko-KR" altLang="ko-KR" sz="1400" dirty="0" smtClean="0"/>
          </a:p>
        </p:txBody>
      </p:sp>
    </p:spTree>
    <p:extLst>
      <p:ext uri="{BB962C8B-B14F-4D97-AF65-F5344CB8AC3E}">
        <p14:creationId xmlns:p14="http://schemas.microsoft.com/office/powerpoint/2010/main" xmlns="" val="1262858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Outline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768109"/>
            <a:ext cx="8229600" cy="4967758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ko-KR" sz="2000" dirty="0" smtClean="0"/>
              <a:t>Introduction 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ko-KR" sz="2000" dirty="0" smtClean="0"/>
              <a:t>Characteristics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ko-KR" sz="2000" dirty="0" smtClean="0"/>
              <a:t>Service Models</a:t>
            </a:r>
          </a:p>
          <a:p>
            <a:pPr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ko-KR" sz="1600" b="0" dirty="0" smtClean="0"/>
              <a:t>Software as Service</a:t>
            </a:r>
          </a:p>
          <a:p>
            <a:pPr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ko-KR" sz="1600" b="0" dirty="0" smtClean="0"/>
              <a:t>Platform as Service</a:t>
            </a:r>
          </a:p>
          <a:p>
            <a:pPr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ko-KR" sz="1600" b="0" dirty="0" smtClean="0"/>
              <a:t>Infrastructure as Service</a:t>
            </a:r>
          </a:p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ko-KR" sz="2000" dirty="0" smtClean="0"/>
              <a:t>Deployment Models</a:t>
            </a:r>
          </a:p>
          <a:p>
            <a:pPr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ko-KR" sz="1600" b="0" dirty="0" smtClean="0"/>
              <a:t>Private Clouds</a:t>
            </a:r>
          </a:p>
          <a:p>
            <a:pPr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ko-KR" sz="1600" b="0" dirty="0" smtClean="0"/>
              <a:t>Public Clouds</a:t>
            </a:r>
          </a:p>
          <a:p>
            <a:pPr lvl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altLang="ko-KR" sz="1600" b="0" dirty="0" smtClean="0"/>
              <a:t>Hybrid Clouds</a:t>
            </a:r>
          </a:p>
        </p:txBody>
      </p:sp>
    </p:spTree>
    <p:extLst>
      <p:ext uri="{BB962C8B-B14F-4D97-AF65-F5344CB8AC3E}">
        <p14:creationId xmlns:p14="http://schemas.microsoft.com/office/powerpoint/2010/main" xmlns="" val="3377081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7000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7567" y="2530632"/>
            <a:ext cx="8749480" cy="204193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sz="2600" b="1" dirty="0" smtClean="0">
                <a:solidFill>
                  <a:schemeClr val="bg1"/>
                </a:solidFill>
              </a:rPr>
              <a:t>Introduction to Cluster Computing</a:t>
            </a:r>
            <a:br>
              <a:rPr lang="en-US" altLang="ko-KR" sz="2600" b="1" dirty="0" smtClean="0">
                <a:solidFill>
                  <a:schemeClr val="bg1"/>
                </a:solidFill>
              </a:rPr>
            </a:br>
            <a:r>
              <a:rPr lang="en-US" altLang="ko-KR" sz="1200" dirty="0" smtClean="0">
                <a:hlinkClick r:id="rId3"/>
              </a:rPr>
              <a:t>http://www.slideshare.net/chhattanshah/cluster-and-grid-computing </a:t>
            </a:r>
            <a:r>
              <a:rPr lang="en-US" altLang="ko-KR" sz="2600" b="1" dirty="0" smtClean="0">
                <a:solidFill>
                  <a:schemeClr val="bg1"/>
                </a:solidFill>
              </a:rPr>
              <a:t/>
            </a:r>
            <a:br>
              <a:rPr lang="en-US" altLang="ko-KR" sz="2600" b="1" dirty="0" smtClean="0">
                <a:solidFill>
                  <a:schemeClr val="bg1"/>
                </a:solidFill>
              </a:rPr>
            </a:br>
            <a:r>
              <a:rPr lang="en-US" altLang="ko-KR" sz="2600" u="sng" dirty="0" smtClean="0">
                <a:solidFill>
                  <a:schemeClr val="bg1"/>
                </a:solidFill>
              </a:rPr>
              <a:t/>
            </a:r>
            <a:br>
              <a:rPr lang="en-US" altLang="ko-KR" sz="2600" u="sng" dirty="0" smtClean="0">
                <a:solidFill>
                  <a:schemeClr val="bg1"/>
                </a:solidFill>
              </a:rPr>
            </a:br>
            <a:endParaRPr lang="ko-KR" altLang="ko-KR" sz="26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62858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7000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7567" y="2530632"/>
            <a:ext cx="8749480" cy="204193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sz="2600" b="1" dirty="0" smtClean="0">
                <a:solidFill>
                  <a:schemeClr val="bg1"/>
                </a:solidFill>
              </a:rPr>
              <a:t>Introduction to Grid Computing</a:t>
            </a:r>
            <a:br>
              <a:rPr lang="en-US" altLang="ko-KR" sz="2600" b="1" dirty="0" smtClean="0">
                <a:solidFill>
                  <a:schemeClr val="bg1"/>
                </a:solidFill>
              </a:rPr>
            </a:br>
            <a:r>
              <a:rPr lang="en-US" altLang="ko-KR" sz="1200" dirty="0" smtClean="0">
                <a:hlinkClick r:id="rId3"/>
              </a:rPr>
              <a:t>http://www.slideshare.net/chhattanshah/cluster-and-grid-computing </a:t>
            </a:r>
            <a:r>
              <a:rPr lang="en-US" altLang="ko-KR" sz="2600" b="1" dirty="0" smtClean="0">
                <a:solidFill>
                  <a:schemeClr val="bg1"/>
                </a:solidFill>
              </a:rPr>
              <a:t/>
            </a:r>
            <a:br>
              <a:rPr lang="en-US" altLang="ko-KR" sz="2600" b="1" dirty="0" smtClean="0">
                <a:solidFill>
                  <a:schemeClr val="bg1"/>
                </a:solidFill>
              </a:rPr>
            </a:br>
            <a:r>
              <a:rPr lang="en-US" altLang="ko-KR" sz="2600" u="sng" dirty="0" smtClean="0">
                <a:solidFill>
                  <a:schemeClr val="bg1"/>
                </a:solidFill>
              </a:rPr>
              <a:t/>
            </a:r>
            <a:br>
              <a:rPr lang="en-US" altLang="ko-KR" sz="2600" u="sng" dirty="0" smtClean="0">
                <a:solidFill>
                  <a:schemeClr val="bg1"/>
                </a:solidFill>
              </a:rPr>
            </a:br>
            <a:endParaRPr lang="ko-KR" altLang="ko-KR" sz="26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62858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/>
            <a:r>
              <a:rPr lang="en-US" altLang="ko-KR" b="1" dirty="0" smtClean="0"/>
              <a:t>What is Cloud Computing?</a:t>
            </a:r>
            <a:r>
              <a:rPr lang="en-US" altLang="ko-KR" dirty="0" smtClean="0"/>
              <a:t> </a:t>
            </a:r>
            <a:endParaRPr lang="ko-KR" altLang="ko-KR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999703"/>
            <a:ext cx="8229600" cy="4967758"/>
          </a:xfrm>
        </p:spPr>
        <p:txBody>
          <a:bodyPr/>
          <a:lstStyle/>
          <a:p>
            <a:pPr>
              <a:buNone/>
            </a:pPr>
            <a:r>
              <a:rPr lang="en-US" altLang="ko-KR" b="0" dirty="0" smtClean="0"/>
              <a:t>  </a:t>
            </a:r>
            <a:r>
              <a:rPr lang="en-GB" altLang="ko-KR" b="0" dirty="0" smtClean="0">
                <a:solidFill>
                  <a:srgbClr val="FF0000"/>
                </a:solidFill>
                <a:ea typeface="굴림" charset="-127"/>
              </a:rPr>
              <a:t>Internet based development and services</a:t>
            </a:r>
          </a:p>
          <a:p>
            <a:pPr marL="182563" indent="-182563">
              <a:buNone/>
            </a:pPr>
            <a:r>
              <a:rPr lang="en-GB" altLang="ko-KR" dirty="0" smtClean="0">
                <a:ea typeface="굴림" charset="-127"/>
              </a:rPr>
              <a:t>  </a:t>
            </a:r>
          </a:p>
          <a:p>
            <a:pPr marL="182563" indent="-182563">
              <a:buNone/>
            </a:pPr>
            <a:r>
              <a:rPr lang="en-GB" altLang="ko-KR" b="0" dirty="0" smtClean="0">
                <a:ea typeface="굴림" charset="-127"/>
              </a:rPr>
              <a:t>  </a:t>
            </a:r>
            <a:r>
              <a:rPr lang="en-US" altLang="ko-KR" b="0" dirty="0" smtClean="0"/>
              <a:t>Everything — from computing power to computing infrastructure and applications are delivered as a service </a:t>
            </a:r>
            <a:endParaRPr lang="en-US" altLang="ko-KR" u="sng" dirty="0" smtClean="0"/>
          </a:p>
          <a:p>
            <a:pPr>
              <a:buNone/>
            </a:pPr>
            <a:endParaRPr lang="en-US" altLang="ko-KR" b="0" dirty="0" smtClean="0"/>
          </a:p>
          <a:p>
            <a:pPr>
              <a:buNone/>
            </a:pPr>
            <a:r>
              <a:rPr lang="en-US" altLang="ko-KR" dirty="0" smtClean="0"/>
              <a:t>  NIST Definition</a:t>
            </a:r>
          </a:p>
          <a:p>
            <a:pPr>
              <a:buNone/>
            </a:pPr>
            <a:r>
              <a:rPr lang="en-US" altLang="ko-KR" b="0" dirty="0" smtClean="0"/>
              <a:t>  “A model for enabling </a:t>
            </a:r>
            <a:r>
              <a:rPr lang="en-US" altLang="ko-KR" b="0" dirty="0" smtClean="0">
                <a:solidFill>
                  <a:srgbClr val="FF0000"/>
                </a:solidFill>
              </a:rPr>
              <a:t>ubiquitous, convenient, on-demand network access to a shared pool of </a:t>
            </a:r>
            <a:r>
              <a:rPr lang="en-US" altLang="ko-KR" b="0" dirty="0" smtClean="0"/>
              <a:t>configurable </a:t>
            </a:r>
            <a:r>
              <a:rPr lang="en-US" altLang="ko-KR" b="0" dirty="0" smtClean="0">
                <a:solidFill>
                  <a:srgbClr val="FF0000"/>
                </a:solidFill>
              </a:rPr>
              <a:t>computing resources </a:t>
            </a:r>
            <a:r>
              <a:rPr lang="en-US" altLang="ko-KR" b="0" dirty="0" smtClean="0"/>
              <a:t>that can be </a:t>
            </a:r>
            <a:r>
              <a:rPr lang="en-US" altLang="ko-KR" b="0" dirty="0" smtClean="0">
                <a:solidFill>
                  <a:srgbClr val="FF0000"/>
                </a:solidFill>
              </a:rPr>
              <a:t>rapidly provisioned and released</a:t>
            </a:r>
            <a:r>
              <a:rPr lang="en-US" altLang="ko-KR" b="0" dirty="0" smtClean="0"/>
              <a:t> with minimal management effort or service provider interaction”</a:t>
            </a:r>
            <a:endParaRPr lang="en-US" altLang="ko-KR" b="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20877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/>
            <a:r>
              <a:rPr lang="en-US" altLang="ko-KR" b="1" dirty="0" smtClean="0"/>
              <a:t>Key Characteristics</a:t>
            </a:r>
            <a:r>
              <a:rPr lang="en-US" altLang="ko-KR" dirty="0" smtClean="0"/>
              <a:t> </a:t>
            </a:r>
            <a:endParaRPr lang="ko-KR" altLang="ko-KR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890646"/>
            <a:ext cx="8229600" cy="4967758"/>
          </a:xfrm>
        </p:spPr>
        <p:txBody>
          <a:bodyPr/>
          <a:lstStyle/>
          <a:p>
            <a:r>
              <a:rPr lang="en-US" altLang="ko-KR" dirty="0" smtClean="0"/>
              <a:t>On-demand self-service</a:t>
            </a:r>
          </a:p>
          <a:p>
            <a:pPr lvl="1"/>
            <a:r>
              <a:rPr lang="en-US" altLang="ko-KR" b="0" dirty="0" smtClean="0"/>
              <a:t>Users can obtain, configure and deploy cloud services without requiring human interaction with each service’s provider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Broad network access</a:t>
            </a:r>
          </a:p>
          <a:p>
            <a:pPr lvl="1"/>
            <a:r>
              <a:rPr lang="en-US" altLang="ko-KR" b="0" dirty="0" smtClean="0"/>
              <a:t>Capabilities are available over the network and accessed through standard mechanisms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Resource pooling</a:t>
            </a:r>
          </a:p>
          <a:p>
            <a:pPr lvl="1"/>
            <a:r>
              <a:rPr lang="en-US" altLang="ko-KR" b="0" dirty="0" smtClean="0"/>
              <a:t>The provider’s computing resources are pooled to serve multiple consumers</a:t>
            </a:r>
          </a:p>
          <a:p>
            <a:pPr lvl="1"/>
            <a:endParaRPr lang="en-US" altLang="ko-KR" i="1" dirty="0" smtClean="0"/>
          </a:p>
        </p:txBody>
      </p:sp>
    </p:spTree>
    <p:extLst>
      <p:ext uri="{BB962C8B-B14F-4D97-AF65-F5344CB8AC3E}">
        <p14:creationId xmlns:p14="http://schemas.microsoft.com/office/powerpoint/2010/main" xmlns="" val="2820877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/>
            <a:r>
              <a:rPr lang="en-US" altLang="ko-KR" b="1" dirty="0" smtClean="0"/>
              <a:t>Key Characteristics</a:t>
            </a:r>
            <a:r>
              <a:rPr lang="en-US" altLang="ko-KR" dirty="0" smtClean="0"/>
              <a:t> </a:t>
            </a:r>
            <a:endParaRPr lang="ko-KR" altLang="ko-KR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756422"/>
            <a:ext cx="8229600" cy="5696914"/>
          </a:xfrm>
        </p:spPr>
        <p:txBody>
          <a:bodyPr/>
          <a:lstStyle/>
          <a:p>
            <a:pPr>
              <a:spcBef>
                <a:spcPts val="2400"/>
              </a:spcBef>
            </a:pPr>
            <a:r>
              <a:rPr lang="en-US" altLang="ko-KR" dirty="0" smtClean="0"/>
              <a:t>Rapid elasticity </a:t>
            </a:r>
          </a:p>
          <a:p>
            <a:pPr lvl="1">
              <a:spcBef>
                <a:spcPts val="2400"/>
              </a:spcBef>
            </a:pPr>
            <a:r>
              <a:rPr lang="en-US" altLang="ko-KR" b="0" dirty="0" smtClean="0"/>
              <a:t>Gives the illusion of infinite computing resources available on demand </a:t>
            </a:r>
          </a:p>
          <a:p>
            <a:pPr lvl="1">
              <a:spcBef>
                <a:spcPts val="2400"/>
              </a:spcBef>
            </a:pPr>
            <a:r>
              <a:rPr lang="en-US" altLang="ko-KR" b="0" dirty="0" smtClean="0"/>
              <a:t>Rapidly provide resources in any quantity at any time</a:t>
            </a:r>
            <a:endParaRPr lang="en-US" altLang="ko-KR" b="0" i="1" dirty="0" smtClean="0"/>
          </a:p>
          <a:p>
            <a:pPr>
              <a:spcBef>
                <a:spcPts val="2400"/>
              </a:spcBef>
            </a:pPr>
            <a:endParaRPr lang="en-US" altLang="ko-KR" dirty="0" smtClean="0"/>
          </a:p>
          <a:p>
            <a:pPr>
              <a:spcBef>
                <a:spcPts val="2400"/>
              </a:spcBef>
            </a:pPr>
            <a:r>
              <a:rPr lang="en-US" altLang="ko-KR" dirty="0" smtClean="0"/>
              <a:t>Measured service </a:t>
            </a:r>
          </a:p>
          <a:p>
            <a:pPr lvl="1">
              <a:spcBef>
                <a:spcPts val="2400"/>
              </a:spcBef>
            </a:pPr>
            <a:r>
              <a:rPr lang="en-US" altLang="ko-KR" b="0" dirty="0" smtClean="0"/>
              <a:t>Services must be priced on a short term basis allowing users to release resources as soon as they are not needed</a:t>
            </a:r>
          </a:p>
          <a:p>
            <a:pPr lvl="1">
              <a:spcBef>
                <a:spcPts val="2400"/>
              </a:spcBef>
            </a:pPr>
            <a:r>
              <a:rPr lang="en-US" altLang="ko-KR" b="0" dirty="0" smtClean="0"/>
              <a:t>Must implement features to allow efficient trading of service such as pricing, accounting, and billing</a:t>
            </a:r>
          </a:p>
        </p:txBody>
      </p:sp>
    </p:spTree>
    <p:extLst>
      <p:ext uri="{BB962C8B-B14F-4D97-AF65-F5344CB8AC3E}">
        <p14:creationId xmlns:p14="http://schemas.microsoft.com/office/powerpoint/2010/main" xmlns="" val="2820877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ea typeface="ＭＳ Ｐゴシック" pitchFamily="34" charset="-128"/>
              </a:rPr>
              <a:t>Why Now?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395536" y="980728"/>
            <a:ext cx="8229600" cy="5257800"/>
          </a:xfrm>
        </p:spPr>
        <p:txBody>
          <a:bodyPr/>
          <a:lstStyle/>
          <a:p>
            <a:r>
              <a:rPr lang="en-US" altLang="ko-KR" dirty="0" smtClean="0">
                <a:ea typeface="ＭＳ Ｐゴシック" pitchFamily="34" charset="-128"/>
              </a:rPr>
              <a:t>Experience with very large datacenters</a:t>
            </a:r>
            <a:endParaRPr lang="en-US" altLang="ko-KR" b="0" dirty="0" smtClean="0">
              <a:ea typeface="ＭＳ Ｐゴシック" pitchFamily="34" charset="-128"/>
            </a:endParaRPr>
          </a:p>
          <a:p>
            <a:endParaRPr lang="en-US" altLang="ko-KR" dirty="0" smtClean="0">
              <a:ea typeface="ＭＳ Ｐゴシック" pitchFamily="34" charset="-128"/>
            </a:endParaRPr>
          </a:p>
          <a:p>
            <a:r>
              <a:rPr lang="en-US" altLang="ko-KR" dirty="0" smtClean="0">
                <a:ea typeface="ＭＳ Ｐゴシック" pitchFamily="34" charset="-128"/>
              </a:rPr>
              <a:t>Other factors</a:t>
            </a:r>
          </a:p>
          <a:p>
            <a:pPr lvl="1"/>
            <a:r>
              <a:rPr lang="en-US" altLang="ko-KR" b="0" dirty="0" smtClean="0">
                <a:ea typeface="ＭＳ Ｐゴシック" pitchFamily="34" charset="-128"/>
              </a:rPr>
              <a:t>Pervasive broadband Internet</a:t>
            </a:r>
          </a:p>
          <a:p>
            <a:pPr lvl="1"/>
            <a:r>
              <a:rPr lang="en-US" altLang="ko-KR" b="0" dirty="0" smtClean="0">
                <a:ea typeface="ＭＳ Ｐゴシック" pitchFamily="34" charset="-128"/>
              </a:rPr>
              <a:t>Fast x86 virtualization</a:t>
            </a:r>
          </a:p>
          <a:p>
            <a:pPr lvl="1"/>
            <a:r>
              <a:rPr lang="en-US" altLang="ko-KR" b="0" dirty="0" smtClean="0">
                <a:ea typeface="ＭＳ Ｐゴシック" pitchFamily="34" charset="-128"/>
              </a:rPr>
              <a:t>Pay-as-you-go billing model</a:t>
            </a:r>
          </a:p>
          <a:p>
            <a:pPr lvl="1"/>
            <a:r>
              <a:rPr lang="en-US" altLang="ko-KR" b="0" dirty="0" smtClean="0">
                <a:ea typeface="ＭＳ Ｐゴシック" pitchFamily="34" charset="-128"/>
              </a:rPr>
              <a:t>Standard software stack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/>
          <a:p>
            <a:fld id="{893908DA-AA22-4073-8EE4-CCF2A27FEE93}" type="slidenum">
              <a:rPr lang="en-US" altLang="ko-KR"/>
              <a:pPr/>
              <a:t>8</a:t>
            </a:fld>
            <a:endParaRPr lang="en-US" altLang="ko-KR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29883" y="2645301"/>
            <a:ext cx="4000500" cy="3495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ea typeface="ＭＳ Ｐゴシック" pitchFamily="34" charset="-128"/>
              </a:rPr>
              <a:t>Why Now?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395536" y="783776"/>
            <a:ext cx="8424936" cy="5257800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ko-KR" b="0" dirty="0" smtClean="0">
                <a:ea typeface="ＭＳ Ｐゴシック" pitchFamily="34" charset="-128"/>
              </a:rPr>
              <a:t>Hardware Virtualization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ko-KR" sz="1800" b="0" dirty="0" smtClean="0"/>
              <a:t>Refers to the creation of a </a:t>
            </a:r>
            <a:r>
              <a:rPr lang="en-US" altLang="ko-KR" sz="1800" b="0" dirty="0" smtClean="0">
                <a:hlinkClick r:id="rId2" tooltip="Virtual machine"/>
              </a:rPr>
              <a:t>virtual machine</a:t>
            </a:r>
            <a:r>
              <a:rPr lang="en-US" altLang="ko-KR" sz="1800" b="0" dirty="0" smtClean="0"/>
              <a:t> that acts like a real computer with an operating system</a:t>
            </a:r>
            <a:endParaRPr lang="en-US" altLang="ko-KR" sz="1800" b="0" dirty="0" smtClean="0">
              <a:ea typeface="ＭＳ Ｐゴシック" pitchFamily="34" charset="-128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ko-KR" b="0" dirty="0" smtClean="0">
                <a:ea typeface="ＭＳ Ｐゴシック" pitchFamily="34" charset="-128"/>
              </a:rPr>
              <a:t>Virtual Machine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ko-KR" sz="1800" b="0" dirty="0" smtClean="0"/>
              <a:t>A software implementation of a machine that executes programs like a physical machine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ko-KR" b="0" dirty="0" smtClean="0">
                <a:ea typeface="ＭＳ Ｐゴシック" pitchFamily="34" charset="-128"/>
              </a:rPr>
              <a:t>VM Technology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GB" altLang="ko-KR" sz="1800" b="0" dirty="0" smtClean="0">
                <a:ea typeface="굴림" charset="-127"/>
              </a:rPr>
              <a:t>Allows multiple virtual machines to run on a single physical machine</a:t>
            </a:r>
            <a:endParaRPr lang="en-US" altLang="ko-KR" sz="1800" b="0" dirty="0" smtClean="0">
              <a:ea typeface="ＭＳ Ｐゴシック" pitchFamily="34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/>
          <a:p>
            <a:fld id="{893908DA-AA22-4073-8EE4-CCF2A27FEE93}" type="slidenum">
              <a:rPr lang="en-US" altLang="ko-KR"/>
              <a:pPr/>
              <a:t>9</a:t>
            </a:fld>
            <a:endParaRPr lang="en-US" altLang="ko-KR"/>
          </a:p>
        </p:txBody>
      </p:sp>
      <p:grpSp>
        <p:nvGrpSpPr>
          <p:cNvPr id="41" name="Group 40"/>
          <p:cNvGrpSpPr/>
          <p:nvPr/>
        </p:nvGrpSpPr>
        <p:grpSpPr>
          <a:xfrm>
            <a:off x="2202408" y="4349368"/>
            <a:ext cx="4597152" cy="1938536"/>
            <a:chOff x="1115616" y="3705200"/>
            <a:chExt cx="5029200" cy="2514600"/>
          </a:xfrm>
        </p:grpSpPr>
        <p:sp>
          <p:nvSpPr>
            <p:cNvPr id="6" name="Rectangle 3"/>
            <p:cNvSpPr>
              <a:spLocks noChangeArrowheads="1"/>
            </p:cNvSpPr>
            <p:nvPr/>
          </p:nvSpPr>
          <p:spPr bwMode="auto">
            <a:xfrm>
              <a:off x="1115616" y="5838800"/>
              <a:ext cx="5029200" cy="381000"/>
            </a:xfrm>
            <a:prstGeom prst="rect">
              <a:avLst/>
            </a:prstGeom>
            <a:solidFill>
              <a:srgbClr val="00CC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102000"/>
                </a:lnSpc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r>
                <a:rPr lang="en-GB" altLang="ko-KR" sz="1600">
                  <a:solidFill>
                    <a:srgbClr val="000000"/>
                  </a:solidFill>
                  <a:cs typeface="Arial" charset="0"/>
                </a:rPr>
                <a:t>Hardware</a:t>
              </a:r>
            </a:p>
          </p:txBody>
        </p:sp>
        <p:sp>
          <p:nvSpPr>
            <p:cNvPr id="7" name="Rectangle 4"/>
            <p:cNvSpPr>
              <a:spLocks noChangeArrowheads="1"/>
            </p:cNvSpPr>
            <p:nvPr/>
          </p:nvSpPr>
          <p:spPr bwMode="auto">
            <a:xfrm>
              <a:off x="1115616" y="5229200"/>
              <a:ext cx="5029200" cy="457200"/>
            </a:xfrm>
            <a:prstGeom prst="rect">
              <a:avLst/>
            </a:prstGeom>
            <a:solidFill>
              <a:srgbClr val="FFFF00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102000"/>
                </a:lnSpc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r>
                <a:rPr lang="en-GB" altLang="ko-KR" sz="1600">
                  <a:solidFill>
                    <a:srgbClr val="000000"/>
                  </a:solidFill>
                  <a:cs typeface="Arial" charset="0"/>
                </a:rPr>
                <a:t>Virtual Machine Monitor (VMM) / Hypervisor</a:t>
              </a:r>
            </a:p>
          </p:txBody>
        </p:sp>
        <p:sp>
          <p:nvSpPr>
            <p:cNvPr id="8" name="Rectangle 5"/>
            <p:cNvSpPr>
              <a:spLocks noChangeArrowheads="1"/>
            </p:cNvSpPr>
            <p:nvPr/>
          </p:nvSpPr>
          <p:spPr bwMode="auto">
            <a:xfrm>
              <a:off x="1268016" y="4162400"/>
              <a:ext cx="1295400" cy="609600"/>
            </a:xfrm>
            <a:prstGeom prst="rect">
              <a:avLst/>
            </a:prstGeom>
            <a:solidFill>
              <a:srgbClr val="00FF00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102000"/>
                </a:lnSpc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r>
                <a:rPr lang="en-GB" altLang="ko-KR" sz="1400">
                  <a:solidFill>
                    <a:srgbClr val="000000"/>
                  </a:solidFill>
                  <a:cs typeface="Arial" charset="0"/>
                </a:rPr>
                <a:t>Guest OS</a:t>
              </a:r>
            </a:p>
            <a:p>
              <a:pPr algn="ctr">
                <a:lnSpc>
                  <a:spcPct val="102000"/>
                </a:lnSpc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r>
                <a:rPr lang="en-GB" altLang="ko-KR" sz="1400">
                  <a:solidFill>
                    <a:srgbClr val="000000"/>
                  </a:solidFill>
                  <a:cs typeface="Arial" charset="0"/>
                </a:rPr>
                <a:t>(Linux)</a:t>
              </a:r>
            </a:p>
          </p:txBody>
        </p:sp>
        <p:sp>
          <p:nvSpPr>
            <p:cNvPr id="9" name="Rectangle 6"/>
            <p:cNvSpPr>
              <a:spLocks noChangeArrowheads="1"/>
            </p:cNvSpPr>
            <p:nvPr/>
          </p:nvSpPr>
          <p:spPr bwMode="auto">
            <a:xfrm>
              <a:off x="2944416" y="4162400"/>
              <a:ext cx="1295400" cy="609600"/>
            </a:xfrm>
            <a:prstGeom prst="rect">
              <a:avLst/>
            </a:prstGeom>
            <a:solidFill>
              <a:srgbClr val="FF00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102000"/>
                </a:lnSpc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r>
                <a:rPr lang="en-GB" altLang="ko-KR" sz="1400">
                  <a:solidFill>
                    <a:srgbClr val="000000"/>
                  </a:solidFill>
                  <a:cs typeface="Arial" charset="0"/>
                </a:rPr>
                <a:t>Guest OS</a:t>
              </a:r>
            </a:p>
            <a:p>
              <a:pPr algn="ctr">
                <a:lnSpc>
                  <a:spcPct val="102000"/>
                </a:lnSpc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r>
                <a:rPr lang="en-GB" altLang="ko-KR" sz="1400">
                  <a:solidFill>
                    <a:srgbClr val="000000"/>
                  </a:solidFill>
                  <a:cs typeface="Arial" charset="0"/>
                </a:rPr>
                <a:t>(NetBSD)</a:t>
              </a:r>
            </a:p>
          </p:txBody>
        </p:sp>
        <p:sp>
          <p:nvSpPr>
            <p:cNvPr id="10" name="Rectangle 7"/>
            <p:cNvSpPr>
              <a:spLocks noChangeArrowheads="1"/>
            </p:cNvSpPr>
            <p:nvPr/>
          </p:nvSpPr>
          <p:spPr bwMode="auto">
            <a:xfrm>
              <a:off x="4697016" y="4162400"/>
              <a:ext cx="1295400" cy="609600"/>
            </a:xfrm>
            <a:prstGeom prst="rect">
              <a:avLst/>
            </a:prstGeom>
            <a:solidFill>
              <a:srgbClr val="C0C0C0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102000"/>
                </a:lnSpc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r>
                <a:rPr lang="en-GB" altLang="ko-KR" sz="1400">
                  <a:solidFill>
                    <a:srgbClr val="000000"/>
                  </a:solidFill>
                  <a:cs typeface="Arial" charset="0"/>
                </a:rPr>
                <a:t>Guest OS</a:t>
              </a:r>
            </a:p>
            <a:p>
              <a:pPr algn="ctr">
                <a:lnSpc>
                  <a:spcPct val="102000"/>
                </a:lnSpc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r>
                <a:rPr lang="en-GB" altLang="ko-KR" sz="1400">
                  <a:solidFill>
                    <a:srgbClr val="000000"/>
                  </a:solidFill>
                  <a:cs typeface="Arial" charset="0"/>
                </a:rPr>
                <a:t>(Windows)</a:t>
              </a:r>
            </a:p>
          </p:txBody>
        </p:sp>
        <p:grpSp>
          <p:nvGrpSpPr>
            <p:cNvPr id="11" name="Group 8"/>
            <p:cNvGrpSpPr>
              <a:grpSpLocks/>
            </p:cNvGrpSpPr>
            <p:nvPr/>
          </p:nvGrpSpPr>
          <p:grpSpPr bwMode="auto">
            <a:xfrm>
              <a:off x="1191816" y="3781400"/>
              <a:ext cx="1446213" cy="1293812"/>
              <a:chOff x="570" y="1779"/>
              <a:chExt cx="911" cy="815"/>
            </a:xfrm>
          </p:grpSpPr>
          <p:sp>
            <p:nvSpPr>
              <p:cNvPr id="12" name="Line 9"/>
              <p:cNvSpPr>
                <a:spLocks noChangeShapeType="1"/>
              </p:cNvSpPr>
              <p:nvPr/>
            </p:nvSpPr>
            <p:spPr bwMode="auto">
              <a:xfrm>
                <a:off x="570" y="1779"/>
                <a:ext cx="1" cy="816"/>
              </a:xfrm>
              <a:prstGeom prst="line">
                <a:avLst/>
              </a:prstGeom>
              <a:noFill/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>
                  <a:latin typeface="+mn-lt"/>
                  <a:cs typeface="ＭＳ Ｐゴシック" pitchFamily="-97" charset="-128"/>
                </a:endParaRPr>
              </a:p>
            </p:txBody>
          </p:sp>
          <p:sp>
            <p:nvSpPr>
              <p:cNvPr id="13" name="Line 10"/>
              <p:cNvSpPr>
                <a:spLocks noChangeShapeType="1"/>
              </p:cNvSpPr>
              <p:nvPr/>
            </p:nvSpPr>
            <p:spPr bwMode="auto">
              <a:xfrm>
                <a:off x="1482" y="1779"/>
                <a:ext cx="1" cy="816"/>
              </a:xfrm>
              <a:prstGeom prst="line">
                <a:avLst/>
              </a:prstGeom>
              <a:noFill/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>
                  <a:latin typeface="+mn-lt"/>
                  <a:cs typeface="ＭＳ Ｐゴシック" pitchFamily="-97" charset="-128"/>
                </a:endParaRPr>
              </a:p>
            </p:txBody>
          </p:sp>
          <p:sp>
            <p:nvSpPr>
              <p:cNvPr id="14" name="Line 11"/>
              <p:cNvSpPr>
                <a:spLocks noChangeShapeType="1"/>
              </p:cNvSpPr>
              <p:nvPr/>
            </p:nvSpPr>
            <p:spPr bwMode="auto">
              <a:xfrm>
                <a:off x="570" y="2595"/>
                <a:ext cx="912" cy="1"/>
              </a:xfrm>
              <a:prstGeom prst="line">
                <a:avLst/>
              </a:prstGeom>
              <a:noFill/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>
                  <a:latin typeface="+mn-lt"/>
                  <a:cs typeface="ＭＳ Ｐゴシック" pitchFamily="-97" charset="-128"/>
                </a:endParaRPr>
              </a:p>
            </p:txBody>
          </p:sp>
          <p:sp>
            <p:nvSpPr>
              <p:cNvPr id="15" name="Rectangle 12"/>
              <p:cNvSpPr>
                <a:spLocks noChangeArrowheads="1"/>
              </p:cNvSpPr>
              <p:nvPr/>
            </p:nvSpPr>
            <p:spPr bwMode="auto">
              <a:xfrm>
                <a:off x="570" y="2451"/>
                <a:ext cx="912" cy="144"/>
              </a:xfrm>
              <a:prstGeom prst="rect">
                <a:avLst/>
              </a:prstGeom>
              <a:solidFill>
                <a:srgbClr val="00CCFF">
                  <a:alpha val="32156"/>
                </a:srgbClr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pPr algn="ctr">
                  <a:lnSpc>
                    <a:spcPct val="102000"/>
                  </a:lnSpc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GB" altLang="ko-KR" sz="1600">
                    <a:solidFill>
                      <a:srgbClr val="000000"/>
                    </a:solidFill>
                    <a:cs typeface="Arial" charset="0"/>
                  </a:rPr>
                  <a:t>VM</a:t>
                </a:r>
              </a:p>
            </p:txBody>
          </p:sp>
        </p:grpSp>
        <p:grpSp>
          <p:nvGrpSpPr>
            <p:cNvPr id="16" name="Group 13"/>
            <p:cNvGrpSpPr>
              <a:grpSpLocks/>
            </p:cNvGrpSpPr>
            <p:nvPr/>
          </p:nvGrpSpPr>
          <p:grpSpPr bwMode="auto">
            <a:xfrm>
              <a:off x="2868216" y="3781400"/>
              <a:ext cx="1446213" cy="1293812"/>
              <a:chOff x="1626" y="1779"/>
              <a:chExt cx="911" cy="815"/>
            </a:xfrm>
          </p:grpSpPr>
          <p:sp>
            <p:nvSpPr>
              <p:cNvPr id="17" name="Line 14"/>
              <p:cNvSpPr>
                <a:spLocks noChangeShapeType="1"/>
              </p:cNvSpPr>
              <p:nvPr/>
            </p:nvSpPr>
            <p:spPr bwMode="auto">
              <a:xfrm>
                <a:off x="1626" y="1779"/>
                <a:ext cx="1" cy="816"/>
              </a:xfrm>
              <a:prstGeom prst="line">
                <a:avLst/>
              </a:prstGeom>
              <a:noFill/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>
                  <a:latin typeface="+mn-lt"/>
                  <a:cs typeface="ＭＳ Ｐゴシック" pitchFamily="-97" charset="-128"/>
                </a:endParaRPr>
              </a:p>
            </p:txBody>
          </p:sp>
          <p:sp>
            <p:nvSpPr>
              <p:cNvPr id="18" name="Line 15"/>
              <p:cNvSpPr>
                <a:spLocks noChangeShapeType="1"/>
              </p:cNvSpPr>
              <p:nvPr/>
            </p:nvSpPr>
            <p:spPr bwMode="auto">
              <a:xfrm>
                <a:off x="2538" y="1779"/>
                <a:ext cx="1" cy="816"/>
              </a:xfrm>
              <a:prstGeom prst="line">
                <a:avLst/>
              </a:prstGeom>
              <a:noFill/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>
                  <a:latin typeface="+mn-lt"/>
                  <a:cs typeface="ＭＳ Ｐゴシック" pitchFamily="-97" charset="-128"/>
                </a:endParaRPr>
              </a:p>
            </p:txBody>
          </p:sp>
          <p:sp>
            <p:nvSpPr>
              <p:cNvPr id="19" name="Line 16"/>
              <p:cNvSpPr>
                <a:spLocks noChangeShapeType="1"/>
              </p:cNvSpPr>
              <p:nvPr/>
            </p:nvSpPr>
            <p:spPr bwMode="auto">
              <a:xfrm>
                <a:off x="1626" y="2595"/>
                <a:ext cx="912" cy="1"/>
              </a:xfrm>
              <a:prstGeom prst="line">
                <a:avLst/>
              </a:prstGeom>
              <a:noFill/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>
                  <a:latin typeface="+mn-lt"/>
                  <a:cs typeface="ＭＳ Ｐゴシック" pitchFamily="-97" charset="-128"/>
                </a:endParaRPr>
              </a:p>
            </p:txBody>
          </p:sp>
          <p:sp>
            <p:nvSpPr>
              <p:cNvPr id="20" name="Rectangle 17"/>
              <p:cNvSpPr>
                <a:spLocks noChangeArrowheads="1"/>
              </p:cNvSpPr>
              <p:nvPr/>
            </p:nvSpPr>
            <p:spPr bwMode="auto">
              <a:xfrm>
                <a:off x="1626" y="2451"/>
                <a:ext cx="912" cy="144"/>
              </a:xfrm>
              <a:prstGeom prst="rect">
                <a:avLst/>
              </a:prstGeom>
              <a:solidFill>
                <a:srgbClr val="00CCFF">
                  <a:alpha val="32156"/>
                </a:srgbClr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pPr algn="ctr">
                  <a:lnSpc>
                    <a:spcPct val="102000"/>
                  </a:lnSpc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GB" altLang="ko-KR" sz="1600">
                    <a:solidFill>
                      <a:srgbClr val="000000"/>
                    </a:solidFill>
                    <a:cs typeface="Arial" charset="0"/>
                  </a:rPr>
                  <a:t>VM</a:t>
                </a:r>
              </a:p>
            </p:txBody>
          </p:sp>
        </p:grpSp>
        <p:grpSp>
          <p:nvGrpSpPr>
            <p:cNvPr id="21" name="Group 18"/>
            <p:cNvGrpSpPr>
              <a:grpSpLocks/>
            </p:cNvGrpSpPr>
            <p:nvPr/>
          </p:nvGrpSpPr>
          <p:grpSpPr bwMode="auto">
            <a:xfrm>
              <a:off x="4620816" y="3781400"/>
              <a:ext cx="1446213" cy="1293812"/>
              <a:chOff x="2730" y="1779"/>
              <a:chExt cx="911" cy="815"/>
            </a:xfrm>
          </p:grpSpPr>
          <p:sp>
            <p:nvSpPr>
              <p:cNvPr id="22" name="Line 19"/>
              <p:cNvSpPr>
                <a:spLocks noChangeShapeType="1"/>
              </p:cNvSpPr>
              <p:nvPr/>
            </p:nvSpPr>
            <p:spPr bwMode="auto">
              <a:xfrm>
                <a:off x="2730" y="1779"/>
                <a:ext cx="1" cy="816"/>
              </a:xfrm>
              <a:prstGeom prst="line">
                <a:avLst/>
              </a:prstGeom>
              <a:noFill/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>
                  <a:latin typeface="+mn-lt"/>
                  <a:cs typeface="ＭＳ Ｐゴシック" pitchFamily="-97" charset="-128"/>
                </a:endParaRPr>
              </a:p>
            </p:txBody>
          </p:sp>
          <p:sp>
            <p:nvSpPr>
              <p:cNvPr id="23" name="Line 20"/>
              <p:cNvSpPr>
                <a:spLocks noChangeShapeType="1"/>
              </p:cNvSpPr>
              <p:nvPr/>
            </p:nvSpPr>
            <p:spPr bwMode="auto">
              <a:xfrm>
                <a:off x="3642" y="1779"/>
                <a:ext cx="1" cy="816"/>
              </a:xfrm>
              <a:prstGeom prst="line">
                <a:avLst/>
              </a:prstGeom>
              <a:noFill/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>
                  <a:latin typeface="+mn-lt"/>
                  <a:cs typeface="ＭＳ Ｐゴシック" pitchFamily="-97" charset="-128"/>
                </a:endParaRPr>
              </a:p>
            </p:txBody>
          </p:sp>
          <p:sp>
            <p:nvSpPr>
              <p:cNvPr id="24" name="Line 21"/>
              <p:cNvSpPr>
                <a:spLocks noChangeShapeType="1"/>
              </p:cNvSpPr>
              <p:nvPr/>
            </p:nvSpPr>
            <p:spPr bwMode="auto">
              <a:xfrm>
                <a:off x="2730" y="2595"/>
                <a:ext cx="912" cy="1"/>
              </a:xfrm>
              <a:prstGeom prst="line">
                <a:avLst/>
              </a:prstGeom>
              <a:noFill/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GB">
                  <a:latin typeface="+mn-lt"/>
                  <a:cs typeface="ＭＳ Ｐゴシック" pitchFamily="-97" charset="-128"/>
                </a:endParaRPr>
              </a:p>
            </p:txBody>
          </p:sp>
          <p:sp>
            <p:nvSpPr>
              <p:cNvPr id="25" name="Rectangle 22"/>
              <p:cNvSpPr>
                <a:spLocks noChangeArrowheads="1"/>
              </p:cNvSpPr>
              <p:nvPr/>
            </p:nvSpPr>
            <p:spPr bwMode="auto">
              <a:xfrm>
                <a:off x="2730" y="2451"/>
                <a:ext cx="912" cy="144"/>
              </a:xfrm>
              <a:prstGeom prst="rect">
                <a:avLst/>
              </a:prstGeom>
              <a:solidFill>
                <a:srgbClr val="00CCFF">
                  <a:alpha val="32156"/>
                </a:srgbClr>
              </a:solidFill>
              <a:ln w="126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lIns="90000" tIns="46800" rIns="90000" bIns="46800" anchor="ctr"/>
              <a:lstStyle/>
              <a:p>
                <a:pPr algn="ctr">
                  <a:lnSpc>
                    <a:spcPct val="102000"/>
                  </a:lnSpc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GB" altLang="ko-KR" sz="1600">
                    <a:solidFill>
                      <a:srgbClr val="000000"/>
                    </a:solidFill>
                    <a:cs typeface="Arial" charset="0"/>
                  </a:rPr>
                  <a:t>VM</a:t>
                </a:r>
              </a:p>
            </p:txBody>
          </p:sp>
        </p:grpSp>
        <p:sp>
          <p:nvSpPr>
            <p:cNvPr id="26" name="Text Box 23"/>
            <p:cNvSpPr txBox="1">
              <a:spLocks noChangeArrowheads="1"/>
            </p:cNvSpPr>
            <p:nvPr/>
          </p:nvSpPr>
          <p:spPr bwMode="auto">
            <a:xfrm>
              <a:off x="4697016" y="3705200"/>
              <a:ext cx="550863" cy="344487"/>
            </a:xfrm>
            <a:prstGeom prst="rect">
              <a:avLst/>
            </a:prstGeom>
            <a:solidFill>
              <a:srgbClr val="99CC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2000"/>
                </a:lnSpc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r>
                <a:rPr lang="en-GB" altLang="ko-KR" sz="1600">
                  <a:solidFill>
                    <a:srgbClr val="000000"/>
                  </a:solidFill>
                  <a:cs typeface="Arial" charset="0"/>
                </a:rPr>
                <a:t>App</a:t>
              </a:r>
            </a:p>
          </p:txBody>
        </p:sp>
        <p:sp>
          <p:nvSpPr>
            <p:cNvPr id="27" name="Text Box 24"/>
            <p:cNvSpPr txBox="1">
              <a:spLocks noChangeArrowheads="1"/>
            </p:cNvSpPr>
            <p:nvPr/>
          </p:nvSpPr>
          <p:spPr bwMode="auto">
            <a:xfrm>
              <a:off x="1953816" y="3705200"/>
              <a:ext cx="550863" cy="344487"/>
            </a:xfrm>
            <a:prstGeom prst="rect">
              <a:avLst/>
            </a:prstGeom>
            <a:solidFill>
              <a:srgbClr val="FFFF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2000"/>
                </a:lnSpc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r>
                <a:rPr lang="en-GB" altLang="ko-KR" sz="1600">
                  <a:solidFill>
                    <a:srgbClr val="000000"/>
                  </a:solidFill>
                  <a:cs typeface="Arial" charset="0"/>
                </a:rPr>
                <a:t>App</a:t>
              </a:r>
            </a:p>
          </p:txBody>
        </p:sp>
        <p:sp>
          <p:nvSpPr>
            <p:cNvPr id="28" name="Text Box 25"/>
            <p:cNvSpPr txBox="1">
              <a:spLocks noChangeArrowheads="1"/>
            </p:cNvSpPr>
            <p:nvPr/>
          </p:nvSpPr>
          <p:spPr bwMode="auto">
            <a:xfrm>
              <a:off x="5382816" y="3705200"/>
              <a:ext cx="550863" cy="344487"/>
            </a:xfrm>
            <a:prstGeom prst="rect">
              <a:avLst/>
            </a:prstGeom>
            <a:solidFill>
              <a:srgbClr val="FF99CC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2000"/>
                </a:lnSpc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r>
                <a:rPr lang="en-GB" altLang="ko-KR" sz="1600" dirty="0">
                  <a:solidFill>
                    <a:srgbClr val="000000"/>
                  </a:solidFill>
                  <a:cs typeface="Arial" charset="0"/>
                </a:rPr>
                <a:t>App</a:t>
              </a:r>
            </a:p>
          </p:txBody>
        </p:sp>
        <p:sp>
          <p:nvSpPr>
            <p:cNvPr id="29" name="Text Box 26"/>
            <p:cNvSpPr txBox="1">
              <a:spLocks noChangeArrowheads="1"/>
            </p:cNvSpPr>
            <p:nvPr/>
          </p:nvSpPr>
          <p:spPr bwMode="auto">
            <a:xfrm>
              <a:off x="2944416" y="3705200"/>
              <a:ext cx="550863" cy="344487"/>
            </a:xfrm>
            <a:prstGeom prst="rect">
              <a:avLst/>
            </a:prstGeom>
            <a:solidFill>
              <a:srgbClr val="CC99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2000"/>
                </a:lnSpc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r>
                <a:rPr lang="en-GB" altLang="ko-KR" sz="1600">
                  <a:solidFill>
                    <a:srgbClr val="000000"/>
                  </a:solidFill>
                  <a:cs typeface="Arial" charset="0"/>
                </a:rPr>
                <a:t>App</a:t>
              </a:r>
            </a:p>
          </p:txBody>
        </p:sp>
        <p:sp>
          <p:nvSpPr>
            <p:cNvPr id="30" name="Text Box 27"/>
            <p:cNvSpPr txBox="1">
              <a:spLocks noChangeArrowheads="1"/>
            </p:cNvSpPr>
            <p:nvPr/>
          </p:nvSpPr>
          <p:spPr bwMode="auto">
            <a:xfrm>
              <a:off x="1268016" y="3705200"/>
              <a:ext cx="550863" cy="344487"/>
            </a:xfrm>
            <a:prstGeom prst="rect">
              <a:avLst/>
            </a:prstGeom>
            <a:solidFill>
              <a:srgbClr val="CCFFCC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02000"/>
                </a:lnSpc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r>
                <a:rPr lang="en-GB" altLang="ko-KR" sz="1600">
                  <a:solidFill>
                    <a:srgbClr val="000000"/>
                  </a:solidFill>
                  <a:cs typeface="Arial" charset="0"/>
                </a:rPr>
                <a:t>App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/>
            <a:r>
              <a:rPr lang="en-US" altLang="ko-KR" b="1" dirty="0" smtClean="0"/>
              <a:t>Service Models</a:t>
            </a:r>
            <a:r>
              <a:rPr lang="en-US" altLang="ko-KR" dirty="0" smtClean="0"/>
              <a:t> </a:t>
            </a:r>
            <a:endParaRPr lang="ko-KR" altLang="ko-KR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756422"/>
            <a:ext cx="8229600" cy="1304426"/>
          </a:xfrm>
        </p:spPr>
        <p:txBody>
          <a:bodyPr/>
          <a:lstStyle/>
          <a:p>
            <a:pPr>
              <a:spcBef>
                <a:spcPts val="2400"/>
              </a:spcBef>
            </a:pPr>
            <a:r>
              <a:rPr lang="en-US" altLang="ko-KR" b="0" dirty="0" smtClean="0"/>
              <a:t>Cloud computing providers offer their services according to several fundamental models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1680" y="1844824"/>
            <a:ext cx="5218708" cy="38526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2820877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/>
            <a:r>
              <a:rPr lang="en-US" altLang="ko-KR" b="1" dirty="0" smtClean="0"/>
              <a:t>Service Models</a:t>
            </a:r>
            <a:r>
              <a:rPr lang="en-US" altLang="ko-KR" dirty="0" smtClean="0"/>
              <a:t> </a:t>
            </a:r>
            <a:endParaRPr lang="ko-KR" altLang="ko-KR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865479"/>
            <a:ext cx="8229600" cy="5515849"/>
          </a:xfrm>
        </p:spPr>
        <p:txBody>
          <a:bodyPr/>
          <a:lstStyle/>
          <a:p>
            <a:pPr>
              <a:spcBef>
                <a:spcPts val="2400"/>
              </a:spcBef>
            </a:pPr>
            <a:r>
              <a:rPr lang="en-US" altLang="ko-KR" dirty="0" smtClean="0"/>
              <a:t>Cloud Software as a Service</a:t>
            </a:r>
          </a:p>
          <a:p>
            <a:pPr lvl="1">
              <a:spcBef>
                <a:spcPts val="2400"/>
              </a:spcBef>
            </a:pPr>
            <a:r>
              <a:rPr lang="en-US" altLang="ko-KR" b="0" dirty="0" smtClean="0"/>
              <a:t>Use the provider’s applications running on a cloud infrastructure </a:t>
            </a:r>
          </a:p>
          <a:p>
            <a:pPr lvl="1"/>
            <a:endParaRPr lang="en-US" altLang="ko-KR" b="0" dirty="0" smtClean="0"/>
          </a:p>
          <a:p>
            <a:pPr lvl="1"/>
            <a:r>
              <a:rPr lang="en-US" altLang="ko-KR" b="0" dirty="0" smtClean="0"/>
              <a:t>Accessible from various client devices through  thin client interface such as a web browser </a:t>
            </a:r>
          </a:p>
          <a:p>
            <a:pPr lvl="1"/>
            <a:endParaRPr lang="en-US" altLang="ko-KR" b="0" dirty="0" smtClean="0"/>
          </a:p>
          <a:p>
            <a:pPr lvl="1"/>
            <a:r>
              <a:rPr lang="en-US" altLang="ko-KR" b="0" dirty="0" smtClean="0"/>
              <a:t>Consumer does not manage or control the underlying cloud infrastructure including network, servers, operating systems, storage</a:t>
            </a:r>
          </a:p>
          <a:p>
            <a:pPr lvl="1"/>
            <a:endParaRPr lang="en-US" altLang="ko-KR" b="0" dirty="0" smtClean="0"/>
          </a:p>
          <a:p>
            <a:pPr lvl="1"/>
            <a:r>
              <a:rPr lang="en-US" altLang="ko-KR" b="0" dirty="0" smtClean="0">
                <a:hlinkClick r:id="rId2" tooltip="Google Apps"/>
              </a:rPr>
              <a:t>Google Apps</a:t>
            </a:r>
            <a:r>
              <a:rPr lang="en-US" altLang="ko-KR" b="0" dirty="0" smtClean="0"/>
              <a:t>, </a:t>
            </a:r>
            <a:r>
              <a:rPr lang="en-US" altLang="ko-KR" b="0" dirty="0" smtClean="0">
                <a:hlinkClick r:id="rId3" tooltip="Microsoft Office 365"/>
              </a:rPr>
              <a:t>Microsoft Office 365</a:t>
            </a:r>
            <a:r>
              <a:rPr lang="en-US" altLang="ko-KR" b="0" dirty="0" smtClean="0"/>
              <a:t>, </a:t>
            </a:r>
            <a:r>
              <a:rPr lang="en-US" altLang="ko-KR" b="0" dirty="0" smtClean="0">
                <a:hlinkClick r:id="rId4" tooltip="Petrosoft"/>
              </a:rPr>
              <a:t>Petrosoft</a:t>
            </a:r>
            <a:r>
              <a:rPr lang="en-US" altLang="ko-KR" b="0" dirty="0" smtClean="0"/>
              <a:t>, </a:t>
            </a:r>
            <a:r>
              <a:rPr lang="en-US" altLang="ko-KR" b="0" dirty="0" smtClean="0">
                <a:hlinkClick r:id="rId5" tooltip="Onlive"/>
              </a:rPr>
              <a:t>Onlive</a:t>
            </a:r>
            <a:r>
              <a:rPr lang="en-US" altLang="ko-KR" b="0" dirty="0" smtClean="0"/>
              <a:t>, </a:t>
            </a:r>
            <a:r>
              <a:rPr lang="en-US" altLang="ko-KR" b="0" dirty="0" smtClean="0">
                <a:hlinkClick r:id="rId6" tooltip="GT Nexus"/>
              </a:rPr>
              <a:t>GT Nexus</a:t>
            </a:r>
            <a:r>
              <a:rPr lang="en-US" altLang="ko-KR" b="0" dirty="0" smtClean="0"/>
              <a:t>, </a:t>
            </a:r>
            <a:r>
              <a:rPr lang="en-US" altLang="ko-KR" b="0" dirty="0" smtClean="0">
                <a:hlinkClick r:id="rId7" tooltip="Marketo"/>
              </a:rPr>
              <a:t>Marketo</a:t>
            </a:r>
            <a:r>
              <a:rPr lang="en-US" altLang="ko-KR" b="0" dirty="0" smtClean="0"/>
              <a:t>, </a:t>
            </a:r>
            <a:r>
              <a:rPr lang="en-US" altLang="ko-KR" b="0" dirty="0" smtClean="0">
                <a:hlinkClick r:id="rId8" tooltip="Casengo"/>
              </a:rPr>
              <a:t>Casengo</a:t>
            </a:r>
            <a:r>
              <a:rPr lang="en-US" altLang="ko-KR" b="0" dirty="0" smtClean="0"/>
              <a:t>, </a:t>
            </a:r>
            <a:r>
              <a:rPr lang="en-US" altLang="ko-KR" b="0" dirty="0" smtClean="0">
                <a:hlinkClick r:id="rId9" tooltip="TradeCard"/>
              </a:rPr>
              <a:t>TradeCard</a:t>
            </a:r>
            <a:r>
              <a:rPr lang="en-US" altLang="ko-KR" b="0" dirty="0" smtClean="0"/>
              <a:t>, </a:t>
            </a:r>
            <a:r>
              <a:rPr lang="en-US" altLang="ko-KR" b="0" dirty="0" smtClean="0">
                <a:hlinkClick r:id="rId10" tooltip="Rally Software"/>
              </a:rPr>
              <a:t>Rally Software</a:t>
            </a:r>
            <a:r>
              <a:rPr lang="en-US" altLang="ko-KR" b="0" dirty="0" smtClean="0"/>
              <a:t>, </a:t>
            </a:r>
            <a:r>
              <a:rPr lang="en-US" altLang="ko-KR" b="0" dirty="0" smtClean="0">
                <a:hlinkClick r:id="rId11" tooltip="Salesforce"/>
              </a:rPr>
              <a:t>Salesforce</a:t>
            </a:r>
            <a:r>
              <a:rPr lang="en-US" altLang="ko-KR" b="0" dirty="0" smtClean="0"/>
              <a:t>, </a:t>
            </a:r>
            <a:r>
              <a:rPr lang="en-US" altLang="ko-KR" b="0" dirty="0" smtClean="0">
                <a:hlinkClick r:id="rId12" tooltip="ExactTarget"/>
              </a:rPr>
              <a:t>ExactTarget</a:t>
            </a:r>
            <a:r>
              <a:rPr lang="en-US" altLang="ko-KR" b="0" dirty="0" smtClean="0"/>
              <a:t> and </a:t>
            </a:r>
            <a:r>
              <a:rPr lang="en-US" altLang="ko-KR" b="0" dirty="0" smtClean="0">
                <a:hlinkClick r:id="rId5" tooltip="Onlive"/>
              </a:rPr>
              <a:t>CallidusCloud</a:t>
            </a:r>
          </a:p>
        </p:txBody>
      </p:sp>
    </p:spTree>
    <p:extLst>
      <p:ext uri="{BB962C8B-B14F-4D97-AF65-F5344CB8AC3E}">
        <p14:creationId xmlns:p14="http://schemas.microsoft.com/office/powerpoint/2010/main" xmlns="" val="2820877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/>
            <a:r>
              <a:rPr lang="en-US" altLang="ko-KR" b="1" dirty="0" smtClean="0"/>
              <a:t>Service Models</a:t>
            </a:r>
            <a:r>
              <a:rPr lang="en-US" altLang="ko-KR" dirty="0" smtClean="0"/>
              <a:t> </a:t>
            </a:r>
            <a:endParaRPr lang="ko-KR" altLang="ko-KR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789978"/>
            <a:ext cx="8435280" cy="5371833"/>
          </a:xfrm>
        </p:spPr>
        <p:txBody>
          <a:bodyPr/>
          <a:lstStyle/>
          <a:p>
            <a:pPr>
              <a:spcBef>
                <a:spcPts val="2400"/>
              </a:spcBef>
            </a:pPr>
            <a:r>
              <a:rPr lang="en-US" altLang="ko-KR" dirty="0" smtClean="0"/>
              <a:t>Cloud Platform as a Service</a:t>
            </a:r>
          </a:p>
          <a:p>
            <a:pPr lvl="1">
              <a:spcBef>
                <a:spcPts val="2400"/>
              </a:spcBef>
            </a:pPr>
            <a:r>
              <a:rPr lang="en-US" altLang="ko-KR" b="0" dirty="0" smtClean="0"/>
              <a:t>Cloud providers deliver a computing platform, typically including operating system, programming language execution environment, database, and web server</a:t>
            </a:r>
          </a:p>
          <a:p>
            <a:pPr lvl="1"/>
            <a:endParaRPr lang="en-US" altLang="ko-KR" b="0" dirty="0" smtClean="0"/>
          </a:p>
          <a:p>
            <a:pPr lvl="1"/>
            <a:r>
              <a:rPr lang="en-US" altLang="ko-KR" b="0" dirty="0" smtClean="0"/>
              <a:t>Application developers can develop and run their software solutions on a cloud platform without the cost and complexity of buying and managing the underlying hardware and software layers</a:t>
            </a:r>
          </a:p>
          <a:p>
            <a:pPr lvl="1"/>
            <a:endParaRPr lang="en-US" altLang="ko-KR" b="0" dirty="0" smtClean="0"/>
          </a:p>
          <a:p>
            <a:pPr lvl="1"/>
            <a:r>
              <a:rPr lang="en-US" altLang="ko-KR" b="0" dirty="0" smtClean="0">
                <a:hlinkClick r:id="rId2" tooltip="AWS Elastic Beanstalk"/>
              </a:rPr>
              <a:t>AWS Elastic Beanstalk</a:t>
            </a:r>
            <a:r>
              <a:rPr lang="en-US" altLang="ko-KR" b="0" dirty="0" smtClean="0"/>
              <a:t>, </a:t>
            </a:r>
            <a:r>
              <a:rPr lang="en-US" altLang="ko-KR" b="0" dirty="0" smtClean="0">
                <a:hlinkClick r:id="rId3" tooltip="Cloud Foundry"/>
              </a:rPr>
              <a:t>Cloud Foundry</a:t>
            </a:r>
            <a:r>
              <a:rPr lang="en-US" altLang="ko-KR" b="0" dirty="0" smtClean="0"/>
              <a:t>, </a:t>
            </a:r>
            <a:r>
              <a:rPr lang="en-US" altLang="ko-KR" b="0" dirty="0" smtClean="0">
                <a:hlinkClick r:id="rId4" tooltip="Heroku"/>
              </a:rPr>
              <a:t>Heroku</a:t>
            </a:r>
            <a:r>
              <a:rPr lang="en-US" altLang="ko-KR" b="0" dirty="0" smtClean="0"/>
              <a:t>, </a:t>
            </a:r>
            <a:r>
              <a:rPr lang="en-US" altLang="ko-KR" b="0" dirty="0" smtClean="0">
                <a:hlinkClick r:id="rId5" tooltip="Force.com"/>
              </a:rPr>
              <a:t>Force.com</a:t>
            </a:r>
            <a:r>
              <a:rPr lang="en-US" altLang="ko-KR" b="0" dirty="0" smtClean="0"/>
              <a:t>, </a:t>
            </a:r>
            <a:r>
              <a:rPr lang="en-US" altLang="ko-KR" b="0" dirty="0" smtClean="0">
                <a:hlinkClick r:id="rId6" tooltip="Engine Yard"/>
              </a:rPr>
              <a:t>Engine Yard</a:t>
            </a:r>
            <a:r>
              <a:rPr lang="en-US" altLang="ko-KR" b="0" dirty="0" smtClean="0"/>
              <a:t>, </a:t>
            </a:r>
            <a:r>
              <a:rPr lang="en-US" altLang="ko-KR" b="0" dirty="0" smtClean="0">
                <a:hlinkClick r:id="rId7" tooltip="Mendix"/>
              </a:rPr>
              <a:t>Mendix</a:t>
            </a:r>
            <a:r>
              <a:rPr lang="en-US" altLang="ko-KR" b="0" dirty="0" smtClean="0"/>
              <a:t>, </a:t>
            </a:r>
            <a:r>
              <a:rPr lang="en-US" altLang="ko-KR" b="0" dirty="0" smtClean="0">
                <a:hlinkClick r:id="rId8" tooltip="OpenShift"/>
              </a:rPr>
              <a:t>OpenShift</a:t>
            </a:r>
            <a:r>
              <a:rPr lang="en-US" altLang="ko-KR" b="0" dirty="0" smtClean="0"/>
              <a:t>, </a:t>
            </a:r>
            <a:r>
              <a:rPr lang="en-US" altLang="ko-KR" b="0" dirty="0" smtClean="0">
                <a:hlinkClick r:id="rId9" tooltip="Google App Engine"/>
              </a:rPr>
              <a:t>Google App Engine</a:t>
            </a:r>
            <a:r>
              <a:rPr lang="en-US" altLang="ko-KR" b="0" dirty="0" smtClean="0"/>
              <a:t>, </a:t>
            </a:r>
            <a:r>
              <a:rPr lang="en-US" altLang="ko-KR" b="0" dirty="0" smtClean="0">
                <a:hlinkClick r:id="rId10" tooltip="AppScale"/>
              </a:rPr>
              <a:t>AppScale</a:t>
            </a:r>
            <a:r>
              <a:rPr lang="en-US" altLang="ko-KR" b="0" dirty="0" smtClean="0"/>
              <a:t>, </a:t>
            </a:r>
            <a:r>
              <a:rPr lang="en-US" altLang="ko-KR" b="0" dirty="0" smtClean="0">
                <a:hlinkClick r:id="rId11" tooltip="Azure Services Platform"/>
              </a:rPr>
              <a:t>Windows Azure Cloud Services</a:t>
            </a:r>
            <a:r>
              <a:rPr lang="en-US" altLang="ko-KR" b="0" dirty="0" smtClean="0"/>
              <a:t>, </a:t>
            </a:r>
            <a:r>
              <a:rPr lang="en-US" altLang="ko-KR" b="0" dirty="0" smtClean="0">
                <a:hlinkClick r:id="rId12" tooltip="OrangeScape"/>
              </a:rPr>
              <a:t>OrangeScape</a:t>
            </a:r>
            <a:r>
              <a:rPr lang="en-US" altLang="ko-KR" b="0" dirty="0" smtClean="0"/>
              <a:t> and </a:t>
            </a:r>
            <a:r>
              <a:rPr lang="en-US" altLang="ko-KR" b="0" dirty="0" smtClean="0">
                <a:hlinkClick r:id="rId13" tooltip="Jelastic"/>
              </a:rPr>
              <a:t>Jelastic</a:t>
            </a:r>
            <a:r>
              <a:rPr lang="en-US" altLang="ko-KR" b="0" dirty="0" smtClean="0"/>
              <a:t>.</a:t>
            </a:r>
          </a:p>
          <a:p>
            <a:pPr lvl="1"/>
            <a:endParaRPr lang="en-US" altLang="ko-KR" b="0" dirty="0" smtClean="0"/>
          </a:p>
        </p:txBody>
      </p:sp>
    </p:spTree>
    <p:extLst>
      <p:ext uri="{BB962C8B-B14F-4D97-AF65-F5344CB8AC3E}">
        <p14:creationId xmlns:p14="http://schemas.microsoft.com/office/powerpoint/2010/main" xmlns="" val="2820877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/>
            <a:r>
              <a:rPr lang="en-US" altLang="ko-KR" b="1" dirty="0" smtClean="0"/>
              <a:t>Service Models</a:t>
            </a:r>
            <a:r>
              <a:rPr lang="en-US" altLang="ko-KR" dirty="0" smtClean="0"/>
              <a:t> </a:t>
            </a:r>
            <a:endParaRPr lang="ko-KR" altLang="ko-KR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836712"/>
            <a:ext cx="8435280" cy="5371833"/>
          </a:xfrm>
        </p:spPr>
        <p:txBody>
          <a:bodyPr/>
          <a:lstStyle/>
          <a:p>
            <a:pPr>
              <a:spcBef>
                <a:spcPts val="2400"/>
              </a:spcBef>
            </a:pPr>
            <a:r>
              <a:rPr lang="en-US" altLang="ko-KR" dirty="0" smtClean="0"/>
              <a:t>Cloud Infrastructure as a Service</a:t>
            </a:r>
          </a:p>
          <a:p>
            <a:pPr lvl="1"/>
            <a:endParaRPr lang="en-US" altLang="ko-KR" b="0" dirty="0" smtClean="0"/>
          </a:p>
          <a:p>
            <a:pPr lvl="1"/>
            <a:r>
              <a:rPr lang="en-US" altLang="ko-KR" b="0" dirty="0" smtClean="0"/>
              <a:t>Cloud provider offers processing, storage, networks, and other fundamental computing resources</a:t>
            </a:r>
          </a:p>
          <a:p>
            <a:pPr lvl="1"/>
            <a:endParaRPr lang="en-US" altLang="ko-KR" b="0" dirty="0" smtClean="0"/>
          </a:p>
          <a:p>
            <a:pPr lvl="1"/>
            <a:r>
              <a:rPr lang="en-US" altLang="ko-KR" b="0" dirty="0" smtClean="0"/>
              <a:t>Consumer is able to deploy and run arbitrary software, which can include operating systems and applications</a:t>
            </a:r>
          </a:p>
          <a:p>
            <a:pPr lvl="1"/>
            <a:endParaRPr lang="en-US" altLang="ko-KR" b="0" dirty="0" smtClean="0"/>
          </a:p>
          <a:p>
            <a:pPr lvl="1"/>
            <a:r>
              <a:rPr lang="en-US" altLang="ko-KR" b="0" dirty="0" smtClean="0">
                <a:hlinkClick r:id="rId2" tooltip="Amazon EC2"/>
              </a:rPr>
              <a:t>Amazon EC2</a:t>
            </a:r>
            <a:r>
              <a:rPr lang="en-US" altLang="ko-KR" b="0" dirty="0" smtClean="0"/>
              <a:t>, </a:t>
            </a:r>
            <a:r>
              <a:rPr lang="en-US" altLang="ko-KR" b="0" dirty="0" smtClean="0">
                <a:hlinkClick r:id="rId3" tooltip="Google Compute Engine"/>
              </a:rPr>
              <a:t>Google Compute Engine</a:t>
            </a:r>
            <a:r>
              <a:rPr lang="en-US" altLang="ko-KR" b="0" dirty="0" smtClean="0"/>
              <a:t>, </a:t>
            </a:r>
            <a:r>
              <a:rPr lang="en-US" altLang="ko-KR" b="0" dirty="0" smtClean="0">
                <a:hlinkClick r:id="rId4" tooltip="HP Cloud Services"/>
              </a:rPr>
              <a:t>HP Cloud</a:t>
            </a:r>
            <a:r>
              <a:rPr lang="en-US" altLang="ko-KR" b="0" dirty="0" smtClean="0"/>
              <a:t>, </a:t>
            </a:r>
            <a:r>
              <a:rPr lang="en-US" altLang="ko-KR" b="0" dirty="0" smtClean="0">
                <a:hlinkClick r:id="rId5" tooltip="Joyent"/>
              </a:rPr>
              <a:t>Joyent</a:t>
            </a:r>
            <a:r>
              <a:rPr lang="en-US" altLang="ko-KR" b="0" dirty="0" smtClean="0"/>
              <a:t>, </a:t>
            </a:r>
            <a:r>
              <a:rPr lang="en-US" altLang="ko-KR" b="0" dirty="0" smtClean="0">
                <a:hlinkClick r:id="rId6" tooltip="Linode"/>
              </a:rPr>
              <a:t>Linode</a:t>
            </a:r>
            <a:r>
              <a:rPr lang="en-US" altLang="ko-KR" b="0" dirty="0" smtClean="0"/>
              <a:t>, </a:t>
            </a:r>
            <a:r>
              <a:rPr lang="en-US" altLang="ko-KR" b="0" dirty="0" smtClean="0">
                <a:hlinkClick r:id="rId7" tooltip="NaviSite"/>
              </a:rPr>
              <a:t>NaviSite</a:t>
            </a:r>
            <a:r>
              <a:rPr lang="en-US" altLang="ko-KR" b="0" dirty="0" smtClean="0"/>
              <a:t>, </a:t>
            </a:r>
            <a:r>
              <a:rPr lang="en-US" altLang="ko-KR" b="0" dirty="0" smtClean="0">
                <a:hlinkClick r:id="rId8" tooltip="Rackspace"/>
              </a:rPr>
              <a:t>Rackspace</a:t>
            </a:r>
            <a:r>
              <a:rPr lang="en-US" altLang="ko-KR" b="0" dirty="0" smtClean="0"/>
              <a:t>, </a:t>
            </a:r>
            <a:r>
              <a:rPr lang="en-US" altLang="ko-KR" b="0" dirty="0" smtClean="0">
                <a:hlinkClick r:id="rId9" tooltip="Windows Azure"/>
              </a:rPr>
              <a:t>Windows Azure</a:t>
            </a:r>
            <a:r>
              <a:rPr lang="en-US" altLang="ko-KR" b="0" dirty="0" smtClean="0"/>
              <a:t>, </a:t>
            </a:r>
            <a:r>
              <a:rPr lang="en-US" altLang="ko-KR" b="0" dirty="0" smtClean="0">
                <a:hlinkClick r:id="rId10" tooltip="ReadySpace Cloud Services"/>
              </a:rPr>
              <a:t>ReadySpace Cloud Services</a:t>
            </a:r>
            <a:r>
              <a:rPr lang="en-US" altLang="ko-KR" b="0" dirty="0" smtClean="0"/>
              <a:t>, and </a:t>
            </a:r>
            <a:r>
              <a:rPr lang="en-US" altLang="ko-KR" b="0" dirty="0" err="1" smtClean="0">
                <a:hlinkClick r:id="rId11" tooltip="Internap"/>
              </a:rPr>
              <a:t>Internap</a:t>
            </a:r>
            <a:r>
              <a:rPr lang="en-US" altLang="ko-KR" b="0" dirty="0" smtClean="0">
                <a:hlinkClick r:id="rId9" tooltip="Windows Azure"/>
              </a:rPr>
              <a:t> Agile</a:t>
            </a:r>
          </a:p>
        </p:txBody>
      </p:sp>
    </p:spTree>
    <p:extLst>
      <p:ext uri="{BB962C8B-B14F-4D97-AF65-F5344CB8AC3E}">
        <p14:creationId xmlns:p14="http://schemas.microsoft.com/office/powerpoint/2010/main" xmlns="" val="2820877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/>
            <a:r>
              <a:rPr lang="en-US" altLang="ko-KR" b="1" dirty="0" smtClean="0"/>
              <a:t>Deployment Models</a:t>
            </a:r>
            <a:r>
              <a:rPr lang="en-US" altLang="ko-KR" dirty="0" smtClean="0"/>
              <a:t> </a:t>
            </a:r>
            <a:endParaRPr lang="ko-KR" altLang="ko-KR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865479"/>
            <a:ext cx="8435280" cy="5371833"/>
          </a:xfrm>
        </p:spPr>
        <p:txBody>
          <a:bodyPr/>
          <a:lstStyle/>
          <a:p>
            <a:pPr>
              <a:spcBef>
                <a:spcPts val="2400"/>
              </a:spcBef>
            </a:pPr>
            <a:r>
              <a:rPr lang="en-US" altLang="ko-KR" b="0" dirty="0" smtClean="0">
                <a:solidFill>
                  <a:srgbClr val="FF0000"/>
                </a:solidFill>
              </a:rPr>
              <a:t>Private Cloud</a:t>
            </a:r>
          </a:p>
          <a:p>
            <a:pPr lvl="1">
              <a:spcBef>
                <a:spcPts val="1200"/>
              </a:spcBef>
            </a:pPr>
            <a:r>
              <a:rPr lang="en-US" altLang="ko-KR" b="0" dirty="0" smtClean="0"/>
              <a:t>Cloud infrastructure is operated solely for an organization</a:t>
            </a:r>
          </a:p>
          <a:p>
            <a:pPr>
              <a:spcBef>
                <a:spcPts val="3000"/>
              </a:spcBef>
            </a:pPr>
            <a:r>
              <a:rPr lang="en-US" altLang="ko-KR" b="0" dirty="0" smtClean="0">
                <a:solidFill>
                  <a:srgbClr val="FF0000"/>
                </a:solidFill>
              </a:rPr>
              <a:t>Community Cloud </a:t>
            </a:r>
          </a:p>
          <a:p>
            <a:pPr lvl="1">
              <a:spcBef>
                <a:spcPts val="1200"/>
              </a:spcBef>
            </a:pPr>
            <a:r>
              <a:rPr lang="en-US" altLang="ko-KR" b="0" dirty="0" smtClean="0"/>
              <a:t>Shared by several organizations and supports a specific community that has shared concerns</a:t>
            </a:r>
          </a:p>
          <a:p>
            <a:pPr>
              <a:spcBef>
                <a:spcPts val="3000"/>
              </a:spcBef>
            </a:pPr>
            <a:r>
              <a:rPr lang="en-US" altLang="ko-KR" b="0" dirty="0" smtClean="0">
                <a:solidFill>
                  <a:srgbClr val="FF0000"/>
                </a:solidFill>
              </a:rPr>
              <a:t>Public Cloud </a:t>
            </a:r>
          </a:p>
          <a:p>
            <a:pPr lvl="1">
              <a:spcBef>
                <a:spcPts val="1200"/>
              </a:spcBef>
            </a:pPr>
            <a:r>
              <a:rPr lang="en-US" altLang="ko-KR" b="0" dirty="0" smtClean="0"/>
              <a:t>Cloud infrastructure is made available to the general public</a:t>
            </a:r>
          </a:p>
          <a:p>
            <a:pPr>
              <a:spcBef>
                <a:spcPts val="3000"/>
              </a:spcBef>
            </a:pPr>
            <a:r>
              <a:rPr lang="en-US" altLang="ko-KR" b="0" dirty="0" smtClean="0">
                <a:solidFill>
                  <a:srgbClr val="FF0000"/>
                </a:solidFill>
              </a:rPr>
              <a:t>Hybrid Cloud</a:t>
            </a:r>
          </a:p>
          <a:p>
            <a:pPr lvl="1">
              <a:spcBef>
                <a:spcPts val="1200"/>
              </a:spcBef>
            </a:pPr>
            <a:r>
              <a:rPr lang="en-US" altLang="ko-KR" b="0" dirty="0" smtClean="0"/>
              <a:t>Cloud infrastructure is a composition of two or more clouds</a:t>
            </a:r>
          </a:p>
          <a:p>
            <a:pPr lvl="1"/>
            <a:endParaRPr lang="en-US" altLang="ko-KR" b="0" dirty="0" smtClean="0"/>
          </a:p>
        </p:txBody>
      </p:sp>
    </p:spTree>
    <p:extLst>
      <p:ext uri="{BB962C8B-B14F-4D97-AF65-F5344CB8AC3E}">
        <p14:creationId xmlns:p14="http://schemas.microsoft.com/office/powerpoint/2010/main" xmlns="" val="2820877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>
          <a:xfrm>
            <a:off x="501100" y="83076"/>
            <a:ext cx="7239000" cy="526504"/>
          </a:xfrm>
        </p:spPr>
        <p:txBody>
          <a:bodyPr/>
          <a:lstStyle/>
          <a:p>
            <a:r>
              <a:rPr lang="en-US" dirty="0" smtClean="0"/>
              <a:t>Advantages of Cloud Computing</a:t>
            </a:r>
            <a:endParaRPr lang="en-GB" altLang="ko-KR" dirty="0" smtClean="0">
              <a:ea typeface="굴림" charset="-127"/>
            </a:endParaRPr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>
          <a:xfrm>
            <a:off x="467544" y="836712"/>
            <a:ext cx="8229600" cy="4830763"/>
          </a:xfrm>
        </p:spPr>
        <p:txBody>
          <a:bodyPr/>
          <a:lstStyle/>
          <a:p>
            <a:r>
              <a:rPr lang="en-US" b="0" dirty="0" smtClean="0"/>
              <a:t>Improved performance</a:t>
            </a:r>
          </a:p>
          <a:p>
            <a:pPr lvl="1"/>
            <a:r>
              <a:rPr lang="en-US" altLang="ko-KR" b="0" dirty="0" smtClean="0"/>
              <a:t>Better </a:t>
            </a:r>
            <a:r>
              <a:rPr lang="en-US" b="0" dirty="0" smtClean="0"/>
              <a:t>performance for large programs</a:t>
            </a:r>
          </a:p>
          <a:p>
            <a:pPr lvl="1"/>
            <a:endParaRPr lang="en-US" sz="2400" b="0" dirty="0" smtClean="0"/>
          </a:p>
          <a:p>
            <a:r>
              <a:rPr lang="en-US" altLang="ko-KR" b="0" dirty="0" smtClean="0"/>
              <a:t>Unlimited storage capacity and computing power</a:t>
            </a:r>
          </a:p>
          <a:p>
            <a:endParaRPr lang="en-US" b="0" dirty="0" smtClean="0"/>
          </a:p>
          <a:p>
            <a:r>
              <a:rPr lang="en-US" b="0" dirty="0" smtClean="0"/>
              <a:t>Reduced software costs </a:t>
            </a:r>
          </a:p>
          <a:p>
            <a:endParaRPr lang="en-US" altLang="ko-KR" b="0" dirty="0" smtClean="0"/>
          </a:p>
          <a:p>
            <a:r>
              <a:rPr lang="en-US" altLang="ko-KR" b="0" dirty="0" smtClean="0"/>
              <a:t>Universal document access</a:t>
            </a:r>
          </a:p>
          <a:p>
            <a:pPr lvl="1"/>
            <a:r>
              <a:rPr lang="en-US" altLang="ko-KR" b="0" dirty="0" smtClean="0"/>
              <a:t>Just computer with internet connection is required</a:t>
            </a:r>
          </a:p>
          <a:p>
            <a:endParaRPr lang="en-US" b="0" dirty="0" smtClean="0"/>
          </a:p>
          <a:p>
            <a:r>
              <a:rPr lang="en-US" altLang="ko-KR" b="0" dirty="0" smtClean="0"/>
              <a:t>Instant software updates</a:t>
            </a:r>
          </a:p>
          <a:p>
            <a:pPr lvl="2"/>
            <a:r>
              <a:rPr lang="en-US" altLang="ko-KR" sz="2000" b="0" dirty="0" smtClean="0"/>
              <a:t>No need to pay for or download an upgrade</a:t>
            </a:r>
          </a:p>
          <a:p>
            <a:pPr lvl="2"/>
            <a:endParaRPr lang="en-US" altLang="ko-KR" sz="2400" b="0" dirty="0" smtClean="0"/>
          </a:p>
        </p:txBody>
      </p:sp>
      <p:sp>
        <p:nvSpPr>
          <p:cNvPr id="33796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553200" y="6340475"/>
            <a:ext cx="2133600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7F3294BA-6BEB-4A7F-B579-837CDEAC0E9A}" type="slidenum">
              <a:rPr lang="en-GB" altLang="ko-KR"/>
              <a:pPr/>
              <a:t>15</a:t>
            </a:fld>
            <a:endParaRPr lang="en-GB" altLang="ko-K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4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48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48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48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>
          <a:xfrm>
            <a:off x="501100" y="83076"/>
            <a:ext cx="7239000" cy="526504"/>
          </a:xfrm>
        </p:spPr>
        <p:txBody>
          <a:bodyPr/>
          <a:lstStyle/>
          <a:p>
            <a:r>
              <a:rPr lang="en-US" dirty="0" smtClean="0"/>
              <a:t>Advantages of Cloud Computing</a:t>
            </a:r>
            <a:endParaRPr lang="en-GB" altLang="ko-KR" dirty="0" smtClean="0">
              <a:ea typeface="굴림" charset="-127"/>
            </a:endParaRPr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>
          <a:xfrm>
            <a:off x="467544" y="836712"/>
            <a:ext cx="8229600" cy="4830763"/>
          </a:xfrm>
        </p:spPr>
        <p:txBody>
          <a:bodyPr/>
          <a:lstStyle/>
          <a:p>
            <a:r>
              <a:rPr lang="en-US" altLang="ko-KR" b="0" dirty="0" smtClean="0"/>
              <a:t>Easier group collaboration</a:t>
            </a:r>
            <a:endParaRPr lang="en-US" b="0" dirty="0" smtClean="0"/>
          </a:p>
          <a:p>
            <a:pPr lvl="1"/>
            <a:endParaRPr lang="en-US" sz="2400" b="0" dirty="0" smtClean="0"/>
          </a:p>
          <a:p>
            <a:r>
              <a:rPr lang="en-US" altLang="ko-KR" b="0" dirty="0" smtClean="0"/>
              <a:t>Device independence</a:t>
            </a:r>
          </a:p>
          <a:p>
            <a:endParaRPr lang="en-US" b="0" dirty="0" smtClean="0"/>
          </a:p>
        </p:txBody>
      </p:sp>
      <p:sp>
        <p:nvSpPr>
          <p:cNvPr id="33796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553200" y="6340475"/>
            <a:ext cx="2133600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7F3294BA-6BEB-4A7F-B579-837CDEAC0E9A}" type="slidenum">
              <a:rPr lang="en-GB" altLang="ko-KR"/>
              <a:pPr/>
              <a:t>16</a:t>
            </a:fld>
            <a:endParaRPr lang="en-GB" altLang="ko-K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Content Placeholder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4830763"/>
          </a:xfrm>
        </p:spPr>
        <p:txBody>
          <a:bodyPr/>
          <a:lstStyle/>
          <a:p>
            <a:r>
              <a:rPr lang="en-US" b="0" dirty="0" smtClean="0"/>
              <a:t>Requires a constant Internet connection</a:t>
            </a:r>
          </a:p>
          <a:p>
            <a:endParaRPr lang="en-US" b="0" dirty="0" smtClean="0"/>
          </a:p>
          <a:p>
            <a:r>
              <a:rPr lang="en-US" altLang="ko-KR" b="0" dirty="0" smtClean="0"/>
              <a:t>Does not work well with low-speed connections</a:t>
            </a:r>
          </a:p>
          <a:p>
            <a:endParaRPr lang="en-US" b="0" dirty="0" smtClean="0"/>
          </a:p>
          <a:p>
            <a:pPr>
              <a:spcAft>
                <a:spcPts val="1200"/>
              </a:spcAft>
            </a:pPr>
            <a:r>
              <a:rPr lang="en-US" altLang="ko-KR" b="0" dirty="0" smtClean="0"/>
              <a:t>Can be slow</a:t>
            </a:r>
          </a:p>
          <a:p>
            <a:pPr lvl="1"/>
            <a:r>
              <a:rPr lang="en-US" altLang="ko-KR" b="0" dirty="0" smtClean="0"/>
              <a:t>Even with a fast connection, web-based applications can sometimes be slower than accessing a similar software program on your desktop PC </a:t>
            </a:r>
          </a:p>
          <a:p>
            <a:pPr lvl="1"/>
            <a:endParaRPr lang="en-US" altLang="ko-KR" b="0" dirty="0" smtClean="0"/>
          </a:p>
          <a:p>
            <a:pPr lvl="1"/>
            <a:r>
              <a:rPr lang="en-US" altLang="ko-KR" b="0" dirty="0" smtClean="0"/>
              <a:t>Everything about the program, from the interface to the current document, has to be sent back and forth from your computer to the computers in the cloud </a:t>
            </a:r>
          </a:p>
          <a:p>
            <a:endParaRPr lang="en-US" sz="2000" b="0" dirty="0" smtClean="0"/>
          </a:p>
        </p:txBody>
      </p:sp>
      <p:sp>
        <p:nvSpPr>
          <p:cNvPr id="38916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553200" y="6340475"/>
            <a:ext cx="2133600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9C08FD6F-DE70-493E-9BAC-AB6D4B5325D5}" type="slidenum">
              <a:rPr lang="en-GB" altLang="ko-KR"/>
              <a:pPr/>
              <a:t>17</a:t>
            </a:fld>
            <a:endParaRPr lang="en-GB" altLang="ko-KR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501100" y="83076"/>
            <a:ext cx="7239000" cy="526504"/>
          </a:xfrm>
        </p:spPr>
        <p:txBody>
          <a:bodyPr/>
          <a:lstStyle/>
          <a:p>
            <a:r>
              <a:rPr lang="en-US" dirty="0" smtClean="0"/>
              <a:t>Disadvantages of Cloud Computing</a:t>
            </a:r>
            <a:endParaRPr lang="en-GB" altLang="ko-KR" dirty="0" smtClean="0">
              <a:ea typeface="굴림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Content Placeholder 2"/>
          <p:cNvSpPr>
            <a:spLocks noGrp="1"/>
          </p:cNvSpPr>
          <p:nvPr>
            <p:ph idx="1"/>
          </p:nvPr>
        </p:nvSpPr>
        <p:spPr>
          <a:xfrm>
            <a:off x="395536" y="836712"/>
            <a:ext cx="8640960" cy="4830763"/>
          </a:xfrm>
        </p:spPr>
        <p:txBody>
          <a:bodyPr/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b="0" dirty="0" smtClean="0"/>
              <a:t>HPC Systems</a:t>
            </a:r>
          </a:p>
          <a:p>
            <a:pPr lvl="1">
              <a:spcBef>
                <a:spcPts val="1200"/>
              </a:spcBef>
              <a:spcAft>
                <a:spcPts val="600"/>
              </a:spcAft>
            </a:pPr>
            <a:r>
              <a:rPr lang="en-US" b="0" dirty="0" smtClean="0"/>
              <a:t>Not clear that you can run compute-intensive HPC </a:t>
            </a:r>
          </a:p>
          <a:p>
            <a:pPr lvl="1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b="0" dirty="0" smtClean="0"/>
              <a:t>     applications that use MPI or OpenMP</a:t>
            </a:r>
          </a:p>
          <a:p>
            <a:pPr lvl="1">
              <a:spcBef>
                <a:spcPts val="1200"/>
              </a:spcBef>
              <a:spcAft>
                <a:spcPts val="600"/>
              </a:spcAft>
            </a:pPr>
            <a:r>
              <a:rPr lang="en-US" b="0" dirty="0" smtClean="0"/>
              <a:t>Scheduling by user?</a:t>
            </a:r>
          </a:p>
          <a:p>
            <a:pPr lvl="2">
              <a:spcBef>
                <a:spcPts val="1200"/>
              </a:spcBef>
              <a:spcAft>
                <a:spcPts val="600"/>
              </a:spcAft>
            </a:pPr>
            <a:endParaRPr lang="en-US" sz="2200" b="0" dirty="0" smtClean="0"/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b="0" dirty="0" smtClean="0"/>
              <a:t>General Concerns</a:t>
            </a:r>
          </a:p>
          <a:p>
            <a:pPr lvl="1">
              <a:spcBef>
                <a:spcPts val="1200"/>
              </a:spcBef>
              <a:spcAft>
                <a:spcPts val="600"/>
              </a:spcAft>
            </a:pPr>
            <a:r>
              <a:rPr lang="en-US" b="0" dirty="0" smtClean="0"/>
              <a:t>Each cloud system uses different protocols and different APIs</a:t>
            </a:r>
          </a:p>
          <a:p>
            <a:pPr lvl="2">
              <a:spcBef>
                <a:spcPts val="1200"/>
              </a:spcBef>
              <a:spcAft>
                <a:spcPts val="600"/>
              </a:spcAft>
            </a:pPr>
            <a:r>
              <a:rPr lang="en-US" sz="1700" b="0" dirty="0" smtClean="0"/>
              <a:t>may not be possible to run applications between cloud based systems</a:t>
            </a:r>
          </a:p>
          <a:p>
            <a:pPr lvl="1">
              <a:spcBef>
                <a:spcPts val="1200"/>
              </a:spcBef>
              <a:spcAft>
                <a:spcPts val="600"/>
              </a:spcAft>
            </a:pPr>
            <a:r>
              <a:rPr lang="en-US" b="0" dirty="0" smtClean="0"/>
              <a:t>Amazon has created its own DB system and workflow system  so your normal applications will have to be adapted to execute on these platforms</a:t>
            </a:r>
          </a:p>
          <a:p>
            <a:pPr lvl="1">
              <a:spcBef>
                <a:spcPts val="1200"/>
              </a:spcBef>
              <a:spcAft>
                <a:spcPts val="600"/>
              </a:spcAft>
            </a:pPr>
            <a:endParaRPr lang="en-US" b="0" dirty="0" smtClean="0"/>
          </a:p>
        </p:txBody>
      </p:sp>
      <p:sp>
        <p:nvSpPr>
          <p:cNvPr id="43012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553200" y="6340475"/>
            <a:ext cx="2133600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9A70B204-325E-4DDB-A378-AB499C821B8C}" type="slidenum">
              <a:rPr lang="en-GB" altLang="ko-KR"/>
              <a:pPr/>
              <a:t>18</a:t>
            </a:fld>
            <a:endParaRPr lang="en-GB" altLang="ko-KR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501100" y="83076"/>
            <a:ext cx="7239000" cy="526504"/>
          </a:xfrm>
        </p:spPr>
        <p:txBody>
          <a:bodyPr/>
          <a:lstStyle/>
          <a:p>
            <a:r>
              <a:rPr lang="en-US" dirty="0" smtClean="0"/>
              <a:t>Disadvantages of Cloud Computing</a:t>
            </a:r>
            <a:endParaRPr lang="en-GB" altLang="ko-KR" dirty="0" smtClean="0">
              <a:ea typeface="굴림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5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50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Content Placeholder 2"/>
          <p:cNvSpPr>
            <a:spLocks noGrp="1"/>
          </p:cNvSpPr>
          <p:nvPr>
            <p:ph idx="1"/>
          </p:nvPr>
        </p:nvSpPr>
        <p:spPr>
          <a:xfrm>
            <a:off x="395536" y="836712"/>
            <a:ext cx="8640960" cy="4830763"/>
          </a:xfrm>
        </p:spPr>
        <p:txBody>
          <a:bodyPr/>
          <a:lstStyle/>
          <a:p>
            <a:pPr lvl="1">
              <a:spcBef>
                <a:spcPts val="1200"/>
              </a:spcBef>
              <a:spcAft>
                <a:spcPts val="600"/>
              </a:spcAft>
            </a:pPr>
            <a:r>
              <a:rPr lang="en-US" b="0" dirty="0" smtClean="0"/>
              <a:t>Privacy</a:t>
            </a:r>
          </a:p>
          <a:p>
            <a:pPr lvl="2">
              <a:spcBef>
                <a:spcPts val="1200"/>
              </a:spcBef>
              <a:spcAft>
                <a:spcPts val="600"/>
              </a:spcAft>
            </a:pPr>
            <a:r>
              <a:rPr lang="en-US" altLang="ko-KR" b="0" dirty="0" smtClean="0"/>
              <a:t>Given greater powers to telecommunication companies to monitor user activity</a:t>
            </a:r>
          </a:p>
          <a:p>
            <a:pPr lvl="2">
              <a:spcBef>
                <a:spcPts val="1200"/>
              </a:spcBef>
              <a:spcAft>
                <a:spcPts val="600"/>
              </a:spcAft>
            </a:pPr>
            <a:r>
              <a:rPr lang="en-US" b="0" dirty="0" smtClean="0"/>
              <a:t>NSA </a:t>
            </a:r>
            <a:r>
              <a:rPr lang="en-US" altLang="ko-KR" b="0" dirty="0" smtClean="0"/>
              <a:t> recorded over 10 million telephone calls between American citizens</a:t>
            </a:r>
            <a:endParaRPr lang="en-US" b="0" dirty="0" smtClean="0"/>
          </a:p>
          <a:p>
            <a:pPr lvl="2">
              <a:spcBef>
                <a:spcPts val="1200"/>
              </a:spcBef>
              <a:spcAft>
                <a:spcPts val="600"/>
              </a:spcAft>
            </a:pPr>
            <a:r>
              <a:rPr lang="en-US" altLang="ko-KR" b="0" dirty="0" smtClean="0"/>
              <a:t>Legal concerns over jurisdiction</a:t>
            </a:r>
            <a:endParaRPr lang="en-US" b="0" dirty="0" smtClean="0"/>
          </a:p>
          <a:p>
            <a:pPr lvl="1">
              <a:spcBef>
                <a:spcPts val="1200"/>
              </a:spcBef>
              <a:spcAft>
                <a:spcPts val="600"/>
              </a:spcAft>
            </a:pPr>
            <a:endParaRPr lang="en-US" altLang="ko-KR" b="0" dirty="0" smtClean="0"/>
          </a:p>
          <a:p>
            <a:pPr lvl="1">
              <a:spcBef>
                <a:spcPts val="1200"/>
              </a:spcBef>
              <a:spcAft>
                <a:spcPts val="600"/>
              </a:spcAft>
            </a:pPr>
            <a:r>
              <a:rPr lang="en-US" altLang="ko-KR" b="0" dirty="0" smtClean="0"/>
              <a:t>Interoperability and portability</a:t>
            </a:r>
          </a:p>
          <a:p>
            <a:pPr lvl="2">
              <a:spcBef>
                <a:spcPts val="1200"/>
              </a:spcBef>
              <a:spcAft>
                <a:spcPts val="600"/>
              </a:spcAft>
            </a:pPr>
            <a:r>
              <a:rPr lang="en-US" altLang="ko-KR" b="0" dirty="0" smtClean="0"/>
              <a:t>Lack of standards between cloud providers</a:t>
            </a:r>
            <a:endParaRPr lang="en-US" b="0" dirty="0" smtClean="0"/>
          </a:p>
        </p:txBody>
      </p:sp>
      <p:sp>
        <p:nvSpPr>
          <p:cNvPr id="43012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553200" y="6340475"/>
            <a:ext cx="2133600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9A70B204-325E-4DDB-A378-AB499C821B8C}" type="slidenum">
              <a:rPr lang="en-GB" altLang="ko-KR"/>
              <a:pPr/>
              <a:t>19</a:t>
            </a:fld>
            <a:endParaRPr lang="en-GB" altLang="ko-KR"/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501100" y="83076"/>
            <a:ext cx="7239000" cy="526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2400" b="0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Y견고딕" pitchFamily="18" charset="-127"/>
                <a:ea typeface="HY견고딕" pitchFamily="18" charset="-127"/>
                <a:cs typeface="+mj-cs"/>
              </a:rPr>
              <a:t>Disadvantages of Cloud Computing</a:t>
            </a:r>
            <a:endParaRPr kumimoji="1" lang="en-GB" altLang="ko-KR" sz="24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Y견고딕" pitchFamily="18" charset="-127"/>
              <a:ea typeface="굴림" charset="-127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Content Placeholder 2"/>
          <p:cNvSpPr>
            <a:spLocks noGrp="1"/>
          </p:cNvSpPr>
          <p:nvPr>
            <p:ph idx="1"/>
          </p:nvPr>
        </p:nvSpPr>
        <p:spPr>
          <a:xfrm>
            <a:off x="395536" y="836713"/>
            <a:ext cx="8640960" cy="2664296"/>
          </a:xfrm>
        </p:spPr>
        <p:txBody>
          <a:bodyPr/>
          <a:lstStyle/>
          <a:p>
            <a:r>
              <a:rPr lang="en-US" altLang="ko-KR" sz="1800" b="0" dirty="0" smtClean="0">
                <a:solidFill>
                  <a:schemeClr val="tx1"/>
                </a:solidFill>
              </a:rPr>
              <a:t>Cloud-computing resources are geographically distributed over a large number of locations in a wide-area network</a:t>
            </a:r>
          </a:p>
          <a:p>
            <a:endParaRPr lang="en-US" altLang="ko-KR" sz="1800" b="0" dirty="0" smtClean="0">
              <a:solidFill>
                <a:schemeClr val="tx1"/>
              </a:solidFill>
            </a:endParaRPr>
          </a:p>
          <a:p>
            <a:r>
              <a:rPr lang="en-US" altLang="ko-KR" sz="1800" b="0" dirty="0" smtClean="0"/>
              <a:t>Distributed cloud architectures consist of a large number of small sized data centers distributed across a geographic area</a:t>
            </a:r>
          </a:p>
          <a:p>
            <a:endParaRPr lang="en-US" altLang="ko-KR" sz="1800" dirty="0" smtClean="0"/>
          </a:p>
          <a:p>
            <a:endParaRPr lang="en-US" altLang="ko-KR" sz="1800" dirty="0" smtClean="0"/>
          </a:p>
          <a:p>
            <a:endParaRPr lang="en-US" altLang="ko-KR" sz="1800" dirty="0" smtClean="0"/>
          </a:p>
          <a:p>
            <a:endParaRPr lang="en-US" altLang="ko-KR" sz="1800" b="0" dirty="0" smtClean="0">
              <a:solidFill>
                <a:schemeClr val="tx1"/>
              </a:solidFill>
            </a:endParaRPr>
          </a:p>
          <a:p>
            <a:endParaRPr lang="en-US" altLang="ko-KR" sz="1800" dirty="0" smtClean="0"/>
          </a:p>
          <a:p>
            <a:endParaRPr lang="en-US" altLang="ko-KR" sz="1800" dirty="0" smtClean="0"/>
          </a:p>
          <a:p>
            <a:endParaRPr lang="en-US" altLang="ko-KR" sz="1800" dirty="0" smtClean="0"/>
          </a:p>
          <a:p>
            <a:endParaRPr lang="en-US" altLang="ko-KR" sz="1800" dirty="0" smtClean="0"/>
          </a:p>
          <a:p>
            <a:endParaRPr lang="en-US" altLang="ko-KR" sz="1800" dirty="0" smtClean="0"/>
          </a:p>
          <a:p>
            <a:endParaRPr lang="en-US" altLang="ko-KR" sz="1800" dirty="0" smtClean="0"/>
          </a:p>
          <a:p>
            <a:r>
              <a:rPr lang="en-US" altLang="ko-KR" sz="1800" b="0" dirty="0" smtClean="0"/>
              <a:t>Customer requests can be serviced from locations closest to them</a:t>
            </a:r>
          </a:p>
          <a:p>
            <a:endParaRPr lang="en-US" altLang="ko-KR" sz="1400" b="0" dirty="0" smtClean="0">
              <a:solidFill>
                <a:schemeClr val="tx1"/>
              </a:solidFill>
            </a:endParaRPr>
          </a:p>
          <a:p>
            <a:endParaRPr lang="en-US" altLang="ko-KR" sz="1400" b="0" dirty="0" smtClean="0">
              <a:solidFill>
                <a:schemeClr val="tx1"/>
              </a:solidFill>
            </a:endParaRPr>
          </a:p>
          <a:p>
            <a:endParaRPr lang="en-US" altLang="ko-KR" sz="1400" b="0" dirty="0" smtClean="0">
              <a:solidFill>
                <a:schemeClr val="tx1"/>
              </a:solidFill>
            </a:endParaRPr>
          </a:p>
        </p:txBody>
      </p:sp>
      <p:sp>
        <p:nvSpPr>
          <p:cNvPr id="43012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553200" y="6340475"/>
            <a:ext cx="2133600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9A70B204-325E-4DDB-A378-AB499C821B8C}" type="slidenum">
              <a:rPr lang="en-GB" altLang="ko-KR"/>
              <a:pPr/>
              <a:t>20</a:t>
            </a:fld>
            <a:endParaRPr lang="en-GB" altLang="ko-KR"/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501100" y="83076"/>
            <a:ext cx="7239000" cy="526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1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Y견고딕" pitchFamily="18" charset="-127"/>
                <a:ea typeface="굴림" charset="-127"/>
                <a:cs typeface="+mj-cs"/>
              </a:rPr>
              <a:t>Distributed Cloud Systems</a:t>
            </a:r>
            <a:endParaRPr kumimoji="1" lang="en-GB" altLang="ko-KR" sz="24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Y견고딕" pitchFamily="18" charset="-127"/>
              <a:ea typeface="굴림" charset="-127"/>
              <a:cs typeface="+mj-cs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39752" y="2708920"/>
            <a:ext cx="4536504" cy="280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풍선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1" i="0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1" i="0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돋움" pitchFamily="50" charset="-127"/>
            <a:ea typeface="돋움" pitchFamily="50" charset="-127"/>
          </a:defRPr>
        </a:defPPr>
      </a:lstStyle>
    </a:lnDef>
    <a:txDef>
      <a:spPr>
        <a:solidFill>
          <a:schemeClr val="bg1"/>
        </a:solidFill>
      </a:spPr>
      <a:bodyPr wrap="square" rtlCol="0">
        <a:spAutoFit/>
      </a:bodyPr>
      <a:lstStyle>
        <a:defPPr>
          <a:defRPr u="none" dirty="0" smtClean="0"/>
        </a:defPPr>
      </a:lstStyle>
    </a:txDef>
  </a:objectDefaults>
  <a:extraClrSchemeLst>
    <a:extraClrScheme>
      <a:clrScheme name="풍선 1">
        <a:dk1>
          <a:srgbClr val="9900CC"/>
        </a:dk1>
        <a:lt1>
          <a:srgbClr val="FFFFCC"/>
        </a:lt1>
        <a:dk2>
          <a:srgbClr val="000000"/>
        </a:dk2>
        <a:lt2>
          <a:srgbClr val="FFFFFF"/>
        </a:lt2>
        <a:accent1>
          <a:srgbClr val="666699"/>
        </a:accent1>
        <a:accent2>
          <a:srgbClr val="660066"/>
        </a:accent2>
        <a:accent3>
          <a:srgbClr val="AAAAAA"/>
        </a:accent3>
        <a:accent4>
          <a:srgbClr val="DADAAE"/>
        </a:accent4>
        <a:accent5>
          <a:srgbClr val="B8B8CA"/>
        </a:accent5>
        <a:accent6>
          <a:srgbClr val="5C005C"/>
        </a:accent6>
        <a:hlink>
          <a:srgbClr val="CC0000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풍선 2">
        <a:dk1>
          <a:srgbClr val="990033"/>
        </a:dk1>
        <a:lt1>
          <a:srgbClr val="FFFFFF"/>
        </a:lt1>
        <a:dk2>
          <a:srgbClr val="000000"/>
        </a:dk2>
        <a:lt2>
          <a:srgbClr val="FFFFFF"/>
        </a:lt2>
        <a:accent1>
          <a:srgbClr val="FF3300"/>
        </a:accent1>
        <a:accent2>
          <a:srgbClr val="FF9900"/>
        </a:accent2>
        <a:accent3>
          <a:srgbClr val="AAAAAA"/>
        </a:accent3>
        <a:accent4>
          <a:srgbClr val="DADADA"/>
        </a:accent4>
        <a:accent5>
          <a:srgbClr val="FFADAA"/>
        </a:accent5>
        <a:accent6>
          <a:srgbClr val="E78A00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풍선 3">
        <a:dk1>
          <a:srgbClr val="CCCCFF"/>
        </a:dk1>
        <a:lt1>
          <a:srgbClr val="FFFFCC"/>
        </a:lt1>
        <a:dk2>
          <a:srgbClr val="000000"/>
        </a:dk2>
        <a:lt2>
          <a:srgbClr val="FFFFFF"/>
        </a:lt2>
        <a:accent1>
          <a:srgbClr val="9999FF"/>
        </a:accent1>
        <a:accent2>
          <a:srgbClr val="33CCCC"/>
        </a:accent2>
        <a:accent3>
          <a:srgbClr val="AAAAAA"/>
        </a:accent3>
        <a:accent4>
          <a:srgbClr val="DADAAE"/>
        </a:accent4>
        <a:accent5>
          <a:srgbClr val="CACAFF"/>
        </a:accent5>
        <a:accent6>
          <a:srgbClr val="2DB9B9"/>
        </a:accent6>
        <a:hlink>
          <a:srgbClr val="66FFFF"/>
        </a:hlink>
        <a:folHlink>
          <a:srgbClr val="6600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풍선 4">
        <a:dk1>
          <a:srgbClr val="000000"/>
        </a:dk1>
        <a:lt1>
          <a:srgbClr val="F8F8F8"/>
        </a:lt1>
        <a:dk2>
          <a:srgbClr val="800000"/>
        </a:dk2>
        <a:lt2>
          <a:srgbClr val="FFFFFF"/>
        </a:lt2>
        <a:accent1>
          <a:srgbClr val="FF3300"/>
        </a:accent1>
        <a:accent2>
          <a:srgbClr val="FF5050"/>
        </a:accent2>
        <a:accent3>
          <a:srgbClr val="C0AAAA"/>
        </a:accent3>
        <a:accent4>
          <a:srgbClr val="D4D4D4"/>
        </a:accent4>
        <a:accent5>
          <a:srgbClr val="FFADAA"/>
        </a:accent5>
        <a:accent6>
          <a:srgbClr val="E74848"/>
        </a:accent6>
        <a:hlink>
          <a:srgbClr val="FF9999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풍선 5">
        <a:dk1>
          <a:srgbClr val="666699"/>
        </a:dk1>
        <a:lt1>
          <a:srgbClr val="FFFFFF"/>
        </a:lt1>
        <a:dk2>
          <a:srgbClr val="000066"/>
        </a:dk2>
        <a:lt2>
          <a:srgbClr val="CCECFF"/>
        </a:lt2>
        <a:accent1>
          <a:srgbClr val="009999"/>
        </a:accent1>
        <a:accent2>
          <a:srgbClr val="0099CC"/>
        </a:accent2>
        <a:accent3>
          <a:srgbClr val="AAAAB8"/>
        </a:accent3>
        <a:accent4>
          <a:srgbClr val="DADADA"/>
        </a:accent4>
        <a:accent5>
          <a:srgbClr val="AACACA"/>
        </a:accent5>
        <a:accent6>
          <a:srgbClr val="008AB9"/>
        </a:accent6>
        <a:hlink>
          <a:srgbClr val="CC99FF"/>
        </a:hlink>
        <a:folHlink>
          <a:srgbClr val="3366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풍선 6">
        <a:dk1>
          <a:srgbClr val="99CC00"/>
        </a:dk1>
        <a:lt1>
          <a:srgbClr val="FFFFFF"/>
        </a:lt1>
        <a:dk2>
          <a:srgbClr val="009900"/>
        </a:dk2>
        <a:lt2>
          <a:srgbClr val="FFFF99"/>
        </a:lt2>
        <a:accent1>
          <a:srgbClr val="336600"/>
        </a:accent1>
        <a:accent2>
          <a:srgbClr val="008000"/>
        </a:accent2>
        <a:accent3>
          <a:srgbClr val="AACAAA"/>
        </a:accent3>
        <a:accent4>
          <a:srgbClr val="DADADA"/>
        </a:accent4>
        <a:accent5>
          <a:srgbClr val="ADB8AA"/>
        </a:accent5>
        <a:accent6>
          <a:srgbClr val="007300"/>
        </a:accent6>
        <a:hlink>
          <a:srgbClr val="CCCC00"/>
        </a:hlink>
        <a:folHlink>
          <a:srgbClr val="33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풍선 7">
        <a:dk1>
          <a:srgbClr val="000066"/>
        </a:dk1>
        <a:lt1>
          <a:srgbClr val="E1F4FF"/>
        </a:lt1>
        <a:dk2>
          <a:srgbClr val="000066"/>
        </a:dk2>
        <a:lt2>
          <a:srgbClr val="CCCCFF"/>
        </a:lt2>
        <a:accent1>
          <a:srgbClr val="9999FF"/>
        </a:accent1>
        <a:accent2>
          <a:srgbClr val="33CCCC"/>
        </a:accent2>
        <a:accent3>
          <a:srgbClr val="EEF8FF"/>
        </a:accent3>
        <a:accent4>
          <a:srgbClr val="000056"/>
        </a:accent4>
        <a:accent5>
          <a:srgbClr val="CACAFF"/>
        </a:accent5>
        <a:accent6>
          <a:srgbClr val="2DB9B9"/>
        </a:accent6>
        <a:hlink>
          <a:srgbClr val="66FFFF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풍선 8">
        <a:dk1>
          <a:srgbClr val="006699"/>
        </a:dk1>
        <a:lt1>
          <a:srgbClr val="FFFFFF"/>
        </a:lt1>
        <a:dk2>
          <a:srgbClr val="006666"/>
        </a:dk2>
        <a:lt2>
          <a:srgbClr val="FFFFCC"/>
        </a:lt2>
        <a:accent1>
          <a:srgbClr val="EDFAD2"/>
        </a:accent1>
        <a:accent2>
          <a:srgbClr val="EBF7FF"/>
        </a:accent2>
        <a:accent3>
          <a:srgbClr val="FFFFFF"/>
        </a:accent3>
        <a:accent4>
          <a:srgbClr val="005682"/>
        </a:accent4>
        <a:accent5>
          <a:srgbClr val="F4FCE5"/>
        </a:accent5>
        <a:accent6>
          <a:srgbClr val="D5E0E7"/>
        </a:accent6>
        <a:hlink>
          <a:srgbClr val="CC99FF"/>
        </a:hlink>
        <a:folHlink>
          <a:srgbClr val="F2DF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풍선 9">
        <a:dk1>
          <a:srgbClr val="000000"/>
        </a:dk1>
        <a:lt1>
          <a:srgbClr val="FFFFFF"/>
        </a:lt1>
        <a:dk2>
          <a:srgbClr val="000000"/>
        </a:dk2>
        <a:lt2>
          <a:srgbClr val="FFCC99"/>
        </a:lt2>
        <a:accent1>
          <a:srgbClr val="FF9900"/>
        </a:accent1>
        <a:accent2>
          <a:srgbClr val="FF99CC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B9"/>
        </a:accent6>
        <a:hlink>
          <a:srgbClr val="FF9999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Balloons</Template>
  <TotalTime>32626</TotalTime>
  <Words>759</Words>
  <Application>Microsoft Office PowerPoint</Application>
  <PresentationFormat>On-screen Show (4:3)</PresentationFormat>
  <Paragraphs>175</Paragraphs>
  <Slides>20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풍선</vt:lpstr>
      <vt:lpstr>Introduction to Cloud Computing  2013.10.6  Sayed Chhattan Shah, PhD Senior Researcher Electronics and Telecommunications Research Institute, Korea  https://sites.google.com/site/chhattanshah/   </vt:lpstr>
      <vt:lpstr>Outline</vt:lpstr>
      <vt:lpstr>Introduction to Cluster Computing http://www.slideshare.net/chhattanshah/cluster-and-grid-computing   </vt:lpstr>
      <vt:lpstr>Introduction to Grid Computing http://www.slideshare.net/chhattanshah/cluster-and-grid-computing   </vt:lpstr>
      <vt:lpstr>What is Cloud Computing? </vt:lpstr>
      <vt:lpstr>Key Characteristics </vt:lpstr>
      <vt:lpstr>Key Characteristics </vt:lpstr>
      <vt:lpstr>Why Now?</vt:lpstr>
      <vt:lpstr>Why Now?</vt:lpstr>
      <vt:lpstr>Service Models </vt:lpstr>
      <vt:lpstr>Service Models </vt:lpstr>
      <vt:lpstr>Service Models </vt:lpstr>
      <vt:lpstr>Service Models </vt:lpstr>
      <vt:lpstr>Deployment Models </vt:lpstr>
      <vt:lpstr>Advantages of Cloud Computing</vt:lpstr>
      <vt:lpstr>Advantages of Cloud Computing</vt:lpstr>
      <vt:lpstr>Disadvantages of Cloud Computing</vt:lpstr>
      <vt:lpstr>Disadvantages of Cloud Computing</vt:lpstr>
      <vt:lpstr>Slide 19</vt:lpstr>
      <vt:lpstr>Slide 20</vt:lpstr>
    </vt:vector>
  </TitlesOfParts>
  <Company>GPSLAB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GPS 신호를 이용한 자세율 결정법 연구</dc:title>
  <dc:creator>정흥교</dc:creator>
  <cp:lastModifiedBy>User</cp:lastModifiedBy>
  <cp:revision>573</cp:revision>
  <cp:lastPrinted>2011-04-14T14:27:04Z</cp:lastPrinted>
  <dcterms:created xsi:type="dcterms:W3CDTF">2004-03-30T06:44:40Z</dcterms:created>
  <dcterms:modified xsi:type="dcterms:W3CDTF">2013-08-28T01:51:17Z</dcterms:modified>
</cp:coreProperties>
</file>